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8270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854459"/>
            <a:ext cx="3500438" cy="3291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1A2332"/>
                </a:solidFill>
              </a:rPr>
              <a:t>User Registration Module Testing: Final Execution Summary</a:t>
            </a:r>
            <a:endParaRPr lang="en-US" sz="3294" dirty="0"/>
          </a:p>
        </p:txBody>
      </p:sp>
      <p:sp>
        <p:nvSpPr>
          <p:cNvPr id="4" name="Shape 1"/>
          <p:cNvSpPr/>
          <p:nvPr/>
        </p:nvSpPr>
        <p:spPr>
          <a:xfrm>
            <a:off x="4500563" y="1418034"/>
            <a:ext cx="4071938" cy="2307431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Text 2"/>
          <p:cNvSpPr/>
          <p:nvPr/>
        </p:nvSpPr>
        <p:spPr>
          <a:xfrm>
            <a:off x="4786313" y="1703784"/>
            <a:ext cx="350043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1A2332"/>
                </a:solidFill>
              </a:rPr>
              <a:t>Project</a:t>
            </a:r>
            <a:endParaRPr lang="en-US" sz="683" dirty="0"/>
          </a:p>
        </p:txBody>
      </p:sp>
      <p:sp>
        <p:nvSpPr>
          <p:cNvPr id="6" name="Text 3"/>
          <p:cNvSpPr/>
          <p:nvPr/>
        </p:nvSpPr>
        <p:spPr>
          <a:xfrm>
            <a:off x="4786313" y="1875234"/>
            <a:ext cx="35004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C3E50"/>
                </a:solidFill>
              </a:rPr>
              <a:t>ParaBank User Registration Module (REG)</a:t>
            </a:r>
            <a:endParaRPr lang="en-US" sz="834" dirty="0"/>
          </a:p>
        </p:txBody>
      </p:sp>
      <p:sp>
        <p:nvSpPr>
          <p:cNvPr id="7" name="Text 4"/>
          <p:cNvSpPr/>
          <p:nvPr/>
        </p:nvSpPr>
        <p:spPr>
          <a:xfrm>
            <a:off x="4786313" y="2173486"/>
            <a:ext cx="350043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1A2332"/>
                </a:solidFill>
              </a:rPr>
              <a:t>Testing Cycle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4786313" y="2344936"/>
            <a:ext cx="35004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C3E50"/>
                </a:solidFill>
              </a:rPr>
              <a:t>Manual &amp; Exploratory Testing</a:t>
            </a:r>
            <a:endParaRPr lang="en-US" sz="834" dirty="0"/>
          </a:p>
        </p:txBody>
      </p:sp>
      <p:sp>
        <p:nvSpPr>
          <p:cNvPr id="9" name="Text 6"/>
          <p:cNvSpPr/>
          <p:nvPr/>
        </p:nvSpPr>
        <p:spPr>
          <a:xfrm>
            <a:off x="4786313" y="2643188"/>
            <a:ext cx="350043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1A2332"/>
                </a:solidFill>
              </a:rPr>
              <a:t>Date</a:t>
            </a:r>
            <a:endParaRPr lang="en-US" sz="683" dirty="0"/>
          </a:p>
        </p:txBody>
      </p:sp>
      <p:sp>
        <p:nvSpPr>
          <p:cNvPr id="10" name="Text 7"/>
          <p:cNvSpPr/>
          <p:nvPr/>
        </p:nvSpPr>
        <p:spPr>
          <a:xfrm>
            <a:off x="4786313" y="2814638"/>
            <a:ext cx="35004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C3E50"/>
                </a:solidFill>
              </a:rPr>
              <a:t>November, 15, 2025</a:t>
            </a:r>
            <a:endParaRPr lang="en-US" sz="834" dirty="0"/>
          </a:p>
        </p:txBody>
      </p:sp>
      <p:sp>
        <p:nvSpPr>
          <p:cNvPr id="11" name="Text 8"/>
          <p:cNvSpPr/>
          <p:nvPr/>
        </p:nvSpPr>
        <p:spPr>
          <a:xfrm>
            <a:off x="4786313" y="3112889"/>
            <a:ext cx="350043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1A2332"/>
                </a:solidFill>
              </a:rPr>
              <a:t>Presented by</a:t>
            </a:r>
            <a:endParaRPr lang="en-US" sz="683" dirty="0"/>
          </a:p>
        </p:txBody>
      </p:sp>
      <p:sp>
        <p:nvSpPr>
          <p:cNvPr id="12" name="Text 9"/>
          <p:cNvSpPr/>
          <p:nvPr/>
        </p:nvSpPr>
        <p:spPr>
          <a:xfrm>
            <a:off x="4786313" y="3284339"/>
            <a:ext cx="35004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C3E50"/>
                </a:solidFill>
              </a:rPr>
              <a:t>Mahmoud Sameeh</a:t>
            </a:r>
            <a:endParaRPr lang="en-US" sz="83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2332"/>
                </a:solidFill>
              </a:rPr>
              <a:t>Project Context and Testing Scope</a:t>
            </a:r>
            <a:endParaRPr lang="en-US" sz="1602" dirty="0"/>
          </a:p>
        </p:txBody>
      </p:sp>
      <p:sp>
        <p:nvSpPr>
          <p:cNvPr id="4" name="Shape 1"/>
          <p:cNvSpPr/>
          <p:nvPr/>
        </p:nvSpPr>
        <p:spPr>
          <a:xfrm>
            <a:off x="428625" y="812602"/>
            <a:ext cx="1492653" cy="310753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Shape 2"/>
          <p:cNvSpPr/>
          <p:nvPr/>
        </p:nvSpPr>
        <p:spPr>
          <a:xfrm>
            <a:off x="428625" y="1116211"/>
            <a:ext cx="1492653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" name="Text 3"/>
          <p:cNvSpPr/>
          <p:nvPr/>
        </p:nvSpPr>
        <p:spPr>
          <a:xfrm>
            <a:off x="428625" y="812602"/>
            <a:ext cx="1492653" cy="31075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Category</a:t>
            </a:r>
            <a:endParaRPr lang="en-US" sz="683" dirty="0"/>
          </a:p>
        </p:txBody>
      </p:sp>
      <p:sp>
        <p:nvSpPr>
          <p:cNvPr id="7" name="Shape 4"/>
          <p:cNvSpPr/>
          <p:nvPr/>
        </p:nvSpPr>
        <p:spPr>
          <a:xfrm>
            <a:off x="1921278" y="812602"/>
            <a:ext cx="6794097" cy="310753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8" name="Shape 5"/>
          <p:cNvSpPr/>
          <p:nvPr/>
        </p:nvSpPr>
        <p:spPr>
          <a:xfrm>
            <a:off x="1921278" y="1116211"/>
            <a:ext cx="6794097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9" name="Text 6"/>
          <p:cNvSpPr/>
          <p:nvPr/>
        </p:nvSpPr>
        <p:spPr>
          <a:xfrm>
            <a:off x="1921278" y="812602"/>
            <a:ext cx="6794097" cy="31075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Detail</a:t>
            </a:r>
            <a:endParaRPr lang="en-US" sz="683" dirty="0"/>
          </a:p>
        </p:txBody>
      </p:sp>
      <p:sp>
        <p:nvSpPr>
          <p:cNvPr id="10" name="Text 7"/>
          <p:cNvSpPr/>
          <p:nvPr/>
        </p:nvSpPr>
        <p:spPr>
          <a:xfrm>
            <a:off x="542925" y="1205508"/>
            <a:ext cx="37485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2C3E50"/>
                </a:solidFill>
              </a:rPr>
              <a:t>Module</a:t>
            </a:r>
            <a:endParaRPr lang="en-US" sz="683" dirty="0"/>
          </a:p>
        </p:txBody>
      </p:sp>
      <p:sp>
        <p:nvSpPr>
          <p:cNvPr id="11" name="Text 8"/>
          <p:cNvSpPr/>
          <p:nvPr/>
        </p:nvSpPr>
        <p:spPr>
          <a:xfrm>
            <a:off x="1921278" y="1119783"/>
            <a:ext cx="6794097" cy="31075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User Registration Module (REG)</a:t>
            </a:r>
            <a:endParaRPr lang="en-US" sz="727" dirty="0"/>
          </a:p>
        </p:txBody>
      </p:sp>
      <p:sp>
        <p:nvSpPr>
          <p:cNvPr id="12" name="Text 9"/>
          <p:cNvSpPr/>
          <p:nvPr/>
        </p:nvSpPr>
        <p:spPr>
          <a:xfrm>
            <a:off x="542925" y="1519833"/>
            <a:ext cx="703297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2C3E50"/>
                </a:solidFill>
              </a:rPr>
              <a:t>Requirements</a:t>
            </a:r>
            <a:endParaRPr lang="en-US" sz="683" dirty="0"/>
          </a:p>
        </p:txBody>
      </p:sp>
      <p:sp>
        <p:nvSpPr>
          <p:cNvPr id="13" name="Text 10"/>
          <p:cNvSpPr/>
          <p:nvPr/>
        </p:nvSpPr>
        <p:spPr>
          <a:xfrm>
            <a:off x="1921278" y="1430536"/>
            <a:ext cx="6794097" cy="314325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REG-001 to REG-040 (Functional, Validation, Usability)</a:t>
            </a:r>
            <a:endParaRPr lang="en-US" sz="727" dirty="0"/>
          </a:p>
        </p:txBody>
      </p:sp>
      <p:sp>
        <p:nvSpPr>
          <p:cNvPr id="14" name="Text 11"/>
          <p:cNvSpPr/>
          <p:nvPr/>
        </p:nvSpPr>
        <p:spPr>
          <a:xfrm>
            <a:off x="542925" y="1834158"/>
            <a:ext cx="70759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2C3E50"/>
                </a:solidFill>
              </a:rPr>
              <a:t>Test Approach</a:t>
            </a:r>
            <a:endParaRPr lang="en-US" sz="683" dirty="0"/>
          </a:p>
        </p:txBody>
      </p:sp>
      <p:sp>
        <p:nvSpPr>
          <p:cNvPr id="15" name="Text 12"/>
          <p:cNvSpPr/>
          <p:nvPr/>
        </p:nvSpPr>
        <p:spPr>
          <a:xfrm>
            <a:off x="1921278" y="1744861"/>
            <a:ext cx="6794097" cy="314325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Manual Testing (Positive, Negative, Boundary Value Analysis, Equivalence Partitioning)</a:t>
            </a:r>
            <a:endParaRPr lang="en-US" sz="727" dirty="0"/>
          </a:p>
        </p:txBody>
      </p:sp>
      <p:sp>
        <p:nvSpPr>
          <p:cNvPr id="16" name="Text 13"/>
          <p:cNvSpPr/>
          <p:nvPr/>
        </p:nvSpPr>
        <p:spPr>
          <a:xfrm>
            <a:off x="542925" y="2148483"/>
            <a:ext cx="431667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2C3E50"/>
                </a:solidFill>
              </a:rPr>
              <a:t>Key Goal</a:t>
            </a:r>
            <a:endParaRPr lang="en-US" sz="683" dirty="0"/>
          </a:p>
        </p:txBody>
      </p:sp>
      <p:sp>
        <p:nvSpPr>
          <p:cNvPr id="17" name="Text 14"/>
          <p:cNvSpPr/>
          <p:nvPr/>
        </p:nvSpPr>
        <p:spPr>
          <a:xfrm>
            <a:off x="1921278" y="2059186"/>
            <a:ext cx="6794097" cy="31075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Ensure the module is stable and ready for integration</a:t>
            </a:r>
            <a:endParaRPr lang="en-US" sz="727" dirty="0"/>
          </a:p>
        </p:txBody>
      </p:sp>
      <p:sp>
        <p:nvSpPr>
          <p:cNvPr id="18" name="Text 15"/>
          <p:cNvSpPr/>
          <p:nvPr/>
        </p:nvSpPr>
        <p:spPr>
          <a:xfrm>
            <a:off x="428625" y="2727127"/>
            <a:ext cx="40005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28A745"/>
                </a:solidFill>
              </a:rPr>
              <a:t>✓ In-Scope Functionalities</a:t>
            </a:r>
            <a:endParaRPr lang="en-US" sz="784" dirty="0"/>
          </a:p>
        </p:txBody>
      </p:sp>
      <p:sp>
        <p:nvSpPr>
          <p:cNvPr id="19" name="Text 16"/>
          <p:cNvSpPr/>
          <p:nvPr/>
        </p:nvSpPr>
        <p:spPr>
          <a:xfrm>
            <a:off x="428625" y="2998589"/>
            <a:ext cx="3761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28A745"/>
                </a:solidFill>
              </a:rPr>
              <a:t>•</a:t>
            </a:r>
            <a:endParaRPr lang="en-US" sz="683" dirty="0"/>
          </a:p>
        </p:txBody>
      </p:sp>
      <p:sp>
        <p:nvSpPr>
          <p:cNvPr id="20" name="Text 17"/>
          <p:cNvSpPr/>
          <p:nvPr/>
        </p:nvSpPr>
        <p:spPr>
          <a:xfrm>
            <a:off x="551966" y="2998589"/>
            <a:ext cx="188265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Opening the registration page and form</a:t>
            </a:r>
            <a:endParaRPr lang="en-US" sz="727" dirty="0"/>
          </a:p>
        </p:txBody>
      </p:sp>
      <p:sp>
        <p:nvSpPr>
          <p:cNvPr id="21" name="Text 18"/>
          <p:cNvSpPr/>
          <p:nvPr/>
        </p:nvSpPr>
        <p:spPr>
          <a:xfrm>
            <a:off x="428625" y="3220045"/>
            <a:ext cx="3761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28A745"/>
                </a:solidFill>
              </a:rPr>
              <a:t>•</a:t>
            </a:r>
            <a:endParaRPr lang="en-US" sz="683" dirty="0"/>
          </a:p>
        </p:txBody>
      </p:sp>
      <p:sp>
        <p:nvSpPr>
          <p:cNvPr id="22" name="Text 19"/>
          <p:cNvSpPr/>
          <p:nvPr/>
        </p:nvSpPr>
        <p:spPr>
          <a:xfrm>
            <a:off x="551966" y="3220045"/>
            <a:ext cx="356216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Validation of all personal information fields (length, character limits, format)</a:t>
            </a:r>
            <a:endParaRPr lang="en-US" sz="727" dirty="0"/>
          </a:p>
        </p:txBody>
      </p:sp>
      <p:sp>
        <p:nvSpPr>
          <p:cNvPr id="23" name="Text 20"/>
          <p:cNvSpPr/>
          <p:nvPr/>
        </p:nvSpPr>
        <p:spPr>
          <a:xfrm>
            <a:off x="428625" y="3441502"/>
            <a:ext cx="3761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28A745"/>
                </a:solidFill>
              </a:rPr>
              <a:t>•</a:t>
            </a:r>
            <a:endParaRPr lang="en-US" sz="683" dirty="0"/>
          </a:p>
        </p:txBody>
      </p:sp>
      <p:sp>
        <p:nvSpPr>
          <p:cNvPr id="24" name="Text 21"/>
          <p:cNvSpPr/>
          <p:nvPr/>
        </p:nvSpPr>
        <p:spPr>
          <a:xfrm>
            <a:off x="551966" y="3441502"/>
            <a:ext cx="215208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Error message display for invalid/blank inputs</a:t>
            </a:r>
            <a:endParaRPr lang="en-US" sz="727" dirty="0"/>
          </a:p>
        </p:txBody>
      </p:sp>
      <p:sp>
        <p:nvSpPr>
          <p:cNvPr id="25" name="Text 22"/>
          <p:cNvSpPr/>
          <p:nvPr/>
        </p:nvSpPr>
        <p:spPr>
          <a:xfrm>
            <a:off x="428625" y="3662958"/>
            <a:ext cx="3761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28A745"/>
                </a:solidFill>
              </a:rPr>
              <a:t>•</a:t>
            </a:r>
            <a:endParaRPr lang="en-US" sz="683" dirty="0"/>
          </a:p>
        </p:txBody>
      </p:sp>
      <p:sp>
        <p:nvSpPr>
          <p:cNvPr id="26" name="Text 23"/>
          <p:cNvSpPr/>
          <p:nvPr/>
        </p:nvSpPr>
        <p:spPr>
          <a:xfrm>
            <a:off x="551966" y="3662958"/>
            <a:ext cx="222779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Successful end-to-end account registration flow</a:t>
            </a:r>
            <a:endParaRPr lang="en-US" sz="727" dirty="0"/>
          </a:p>
        </p:txBody>
      </p:sp>
      <p:sp>
        <p:nvSpPr>
          <p:cNvPr id="27" name="Text 24"/>
          <p:cNvSpPr/>
          <p:nvPr/>
        </p:nvSpPr>
        <p:spPr>
          <a:xfrm>
            <a:off x="4714875" y="2727127"/>
            <a:ext cx="40005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1A2332"/>
                </a:solidFill>
              </a:rPr>
              <a:t>✗ Out-of-Scope Functionalities</a:t>
            </a:r>
            <a:endParaRPr lang="en-US" sz="784" dirty="0"/>
          </a:p>
        </p:txBody>
      </p:sp>
      <p:sp>
        <p:nvSpPr>
          <p:cNvPr id="28" name="Text 25"/>
          <p:cNvSpPr/>
          <p:nvPr/>
        </p:nvSpPr>
        <p:spPr>
          <a:xfrm>
            <a:off x="4714875" y="2989659"/>
            <a:ext cx="3761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DC3545"/>
                </a:solidFill>
              </a:rPr>
              <a:t>•</a:t>
            </a:r>
            <a:endParaRPr lang="en-US" sz="683" dirty="0"/>
          </a:p>
        </p:txBody>
      </p:sp>
      <p:sp>
        <p:nvSpPr>
          <p:cNvPr id="29" name="Text 26"/>
          <p:cNvSpPr/>
          <p:nvPr/>
        </p:nvSpPr>
        <p:spPr>
          <a:xfrm>
            <a:off x="4838216" y="2989659"/>
            <a:ext cx="215459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Backend database validation, API-level testing</a:t>
            </a:r>
            <a:endParaRPr lang="en-US" sz="727" dirty="0"/>
          </a:p>
        </p:txBody>
      </p:sp>
      <p:sp>
        <p:nvSpPr>
          <p:cNvPr id="30" name="Text 27"/>
          <p:cNvSpPr/>
          <p:nvPr/>
        </p:nvSpPr>
        <p:spPr>
          <a:xfrm>
            <a:off x="4714875" y="3211116"/>
            <a:ext cx="3761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DC3545"/>
                </a:solidFill>
              </a:rPr>
              <a:t>•</a:t>
            </a:r>
            <a:endParaRPr lang="en-US" sz="683" dirty="0"/>
          </a:p>
        </p:txBody>
      </p:sp>
      <p:sp>
        <p:nvSpPr>
          <p:cNvPr id="31" name="Text 28"/>
          <p:cNvSpPr/>
          <p:nvPr/>
        </p:nvSpPr>
        <p:spPr>
          <a:xfrm>
            <a:off x="4838216" y="3211116"/>
            <a:ext cx="227880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Load/performance testing, Mobile device testing</a:t>
            </a:r>
            <a:endParaRPr lang="en-US" sz="727" dirty="0"/>
          </a:p>
        </p:txBody>
      </p:sp>
      <p:sp>
        <p:nvSpPr>
          <p:cNvPr id="32" name="Text 29"/>
          <p:cNvSpPr/>
          <p:nvPr/>
        </p:nvSpPr>
        <p:spPr>
          <a:xfrm>
            <a:off x="4714875" y="3432572"/>
            <a:ext cx="3761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DC3545"/>
                </a:solidFill>
              </a:rPr>
              <a:t>•</a:t>
            </a:r>
            <a:endParaRPr lang="en-US" sz="683" dirty="0"/>
          </a:p>
        </p:txBody>
      </p:sp>
      <p:sp>
        <p:nvSpPr>
          <p:cNvPr id="33" name="Text 30"/>
          <p:cNvSpPr/>
          <p:nvPr/>
        </p:nvSpPr>
        <p:spPr>
          <a:xfrm>
            <a:off x="4838216" y="3432572"/>
            <a:ext cx="1315092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Security/Penetration testing</a:t>
            </a:r>
            <a:endParaRPr lang="en-US" sz="727" dirty="0"/>
          </a:p>
        </p:txBody>
      </p:sp>
      <p:sp>
        <p:nvSpPr>
          <p:cNvPr id="34" name="Text 31"/>
          <p:cNvSpPr/>
          <p:nvPr/>
        </p:nvSpPr>
        <p:spPr>
          <a:xfrm>
            <a:off x="4714875" y="3654028"/>
            <a:ext cx="3761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DC3545"/>
                </a:solidFill>
              </a:rPr>
              <a:t>•</a:t>
            </a:r>
            <a:endParaRPr lang="en-US" sz="683" dirty="0"/>
          </a:p>
        </p:txBody>
      </p:sp>
      <p:sp>
        <p:nvSpPr>
          <p:cNvPr id="35" name="Text 32"/>
          <p:cNvSpPr/>
          <p:nvPr/>
        </p:nvSpPr>
        <p:spPr>
          <a:xfrm>
            <a:off x="4838216" y="3654028"/>
            <a:ext cx="265234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Multi-language support and Email verification workflows</a:t>
            </a:r>
            <a:endParaRPr lang="en-US" sz="727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2332"/>
                </a:solidFill>
              </a:rPr>
              <a:t>Test Execution Results: Low Pass Rate Indicates Instability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1734341"/>
            <a:ext cx="1964531" cy="387548"/>
          </a:xfrm>
          <a:prstGeom prst="rect">
            <a:avLst/>
          </a:prstGeom>
          <a:noFill/>
          <a:ln/>
        </p:spPr>
        <p:txBody>
          <a:bodyPr wrap="square" lIns="0" tIns="136017" rIns="0" bIns="136017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1A2332"/>
                </a:solidFill>
              </a:rPr>
              <a:t>Total Test Cases</a:t>
            </a:r>
            <a:endParaRPr lang="en-US" sz="784" dirty="0"/>
          </a:p>
        </p:txBody>
      </p:sp>
      <p:sp>
        <p:nvSpPr>
          <p:cNvPr id="5" name="Text 2"/>
          <p:cNvSpPr/>
          <p:nvPr/>
        </p:nvSpPr>
        <p:spPr>
          <a:xfrm>
            <a:off x="2393156" y="1734341"/>
            <a:ext cx="1964531" cy="387548"/>
          </a:xfrm>
          <a:prstGeom prst="rect">
            <a:avLst/>
          </a:prstGeom>
          <a:noFill/>
          <a:ln/>
        </p:spPr>
        <p:txBody>
          <a:bodyPr wrap="square" lIns="0" tIns="136017" rIns="0" bIns="136017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2C3E50"/>
                </a:solidFill>
              </a:rPr>
              <a:t>81</a:t>
            </a:r>
            <a:endParaRPr lang="en-US" sz="784" dirty="0"/>
          </a:p>
        </p:txBody>
      </p:sp>
      <p:sp>
        <p:nvSpPr>
          <p:cNvPr id="6" name="Text 3"/>
          <p:cNvSpPr/>
          <p:nvPr/>
        </p:nvSpPr>
        <p:spPr>
          <a:xfrm>
            <a:off x="428625" y="2121889"/>
            <a:ext cx="1964531" cy="391120"/>
          </a:xfrm>
          <a:prstGeom prst="rect">
            <a:avLst/>
          </a:prstGeom>
          <a:noFill/>
          <a:ln/>
        </p:spPr>
        <p:txBody>
          <a:bodyPr wrap="square" lIns="0" tIns="136017" rIns="0" bIns="136017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1A2332"/>
                </a:solidFill>
              </a:rPr>
              <a:t>Passed Test Cases</a:t>
            </a:r>
            <a:endParaRPr lang="en-US" sz="784" dirty="0"/>
          </a:p>
        </p:txBody>
      </p:sp>
      <p:sp>
        <p:nvSpPr>
          <p:cNvPr id="7" name="Text 4"/>
          <p:cNvSpPr/>
          <p:nvPr/>
        </p:nvSpPr>
        <p:spPr>
          <a:xfrm>
            <a:off x="2393156" y="2121889"/>
            <a:ext cx="1964531" cy="391120"/>
          </a:xfrm>
          <a:prstGeom prst="rect">
            <a:avLst/>
          </a:prstGeom>
          <a:noFill/>
          <a:ln/>
        </p:spPr>
        <p:txBody>
          <a:bodyPr wrap="square" lIns="0" tIns="136017" rIns="0" bIns="136017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28A745"/>
                </a:solidFill>
              </a:rPr>
              <a:t>35</a:t>
            </a:r>
            <a:endParaRPr lang="en-US" sz="784" dirty="0"/>
          </a:p>
        </p:txBody>
      </p:sp>
      <p:sp>
        <p:nvSpPr>
          <p:cNvPr id="8" name="Text 5"/>
          <p:cNvSpPr/>
          <p:nvPr/>
        </p:nvSpPr>
        <p:spPr>
          <a:xfrm>
            <a:off x="428625" y="2513009"/>
            <a:ext cx="1964531" cy="391120"/>
          </a:xfrm>
          <a:prstGeom prst="rect">
            <a:avLst/>
          </a:prstGeom>
          <a:noFill/>
          <a:ln/>
        </p:spPr>
        <p:txBody>
          <a:bodyPr wrap="square" lIns="0" tIns="136017" rIns="0" bIns="136017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1A2332"/>
                </a:solidFill>
              </a:rPr>
              <a:t>Failed Test Cases</a:t>
            </a:r>
            <a:endParaRPr lang="en-US" sz="784" dirty="0"/>
          </a:p>
        </p:txBody>
      </p:sp>
      <p:sp>
        <p:nvSpPr>
          <p:cNvPr id="9" name="Text 6"/>
          <p:cNvSpPr/>
          <p:nvPr/>
        </p:nvSpPr>
        <p:spPr>
          <a:xfrm>
            <a:off x="2393156" y="2513009"/>
            <a:ext cx="1964531" cy="391120"/>
          </a:xfrm>
          <a:prstGeom prst="rect">
            <a:avLst/>
          </a:prstGeom>
          <a:noFill/>
          <a:ln/>
        </p:spPr>
        <p:txBody>
          <a:bodyPr wrap="square" lIns="0" tIns="136017" rIns="0" bIns="136017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DC3545"/>
                </a:solidFill>
              </a:rPr>
              <a:t>46</a:t>
            </a:r>
            <a:endParaRPr lang="en-US" sz="784" dirty="0"/>
          </a:p>
        </p:txBody>
      </p:sp>
      <p:sp>
        <p:nvSpPr>
          <p:cNvPr id="10" name="Text 7"/>
          <p:cNvSpPr/>
          <p:nvPr/>
        </p:nvSpPr>
        <p:spPr>
          <a:xfrm>
            <a:off x="428625" y="2904130"/>
            <a:ext cx="1964531" cy="391120"/>
          </a:xfrm>
          <a:prstGeom prst="rect">
            <a:avLst/>
          </a:prstGeom>
          <a:noFill/>
          <a:ln/>
        </p:spPr>
        <p:txBody>
          <a:bodyPr wrap="square" lIns="0" tIns="136017" rIns="0" bIns="136017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1A2332"/>
                </a:solidFill>
              </a:rPr>
              <a:t>Pass Rate</a:t>
            </a:r>
            <a:endParaRPr lang="en-US" sz="784" dirty="0"/>
          </a:p>
        </p:txBody>
      </p:sp>
      <p:sp>
        <p:nvSpPr>
          <p:cNvPr id="11" name="Text 8"/>
          <p:cNvSpPr/>
          <p:nvPr/>
        </p:nvSpPr>
        <p:spPr>
          <a:xfrm>
            <a:off x="2393156" y="2904130"/>
            <a:ext cx="1964531" cy="391120"/>
          </a:xfrm>
          <a:prstGeom prst="rect">
            <a:avLst/>
          </a:prstGeom>
          <a:noFill/>
          <a:ln/>
        </p:spPr>
        <p:txBody>
          <a:bodyPr wrap="square" lIns="0" tIns="136017" rIns="0" bIns="136017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2C3E50"/>
                </a:solidFill>
              </a:rPr>
              <a:t>43.21%</a:t>
            </a:r>
            <a:endParaRPr lang="en-US" sz="784" dirty="0"/>
          </a:p>
        </p:txBody>
      </p:sp>
      <p:sp>
        <p:nvSpPr>
          <p:cNvPr id="12" name="Shape 9"/>
          <p:cNvSpPr/>
          <p:nvPr/>
        </p:nvSpPr>
        <p:spPr>
          <a:xfrm>
            <a:off x="428625" y="3513134"/>
            <a:ext cx="3929063" cy="708627"/>
          </a:xfrm>
          <a:prstGeom prst="rect">
            <a:avLst/>
          </a:prstGeom>
          <a:solidFill>
            <a:srgbClr val="FFF3CD"/>
          </a:solidFill>
          <a:ln/>
        </p:spPr>
      </p:sp>
      <p:sp>
        <p:nvSpPr>
          <p:cNvPr id="13" name="Shape 10"/>
          <p:cNvSpPr/>
          <p:nvPr/>
        </p:nvSpPr>
        <p:spPr>
          <a:xfrm>
            <a:off x="428625" y="3513134"/>
            <a:ext cx="28575" cy="708627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4" name="Text 11"/>
          <p:cNvSpPr/>
          <p:nvPr/>
        </p:nvSpPr>
        <p:spPr>
          <a:xfrm>
            <a:off x="428625" y="3513134"/>
            <a:ext cx="3929063" cy="708627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683" b="1" dirty="0">
                <a:solidFill>
                  <a:srgbClr val="2C3E50"/>
                </a:solidFill>
              </a:rPr>
              <a:t>Key Finding:</a:t>
            </a:r>
            <a:r>
              <a:rPr lang="en-US" sz="727" dirty="0">
                <a:solidFill>
                  <a:srgbClr val="2C3E50"/>
                </a:solidFill>
              </a:rPr>
              <a:t> The Pass Rate of </a:t>
            </a:r>
            <a:r>
              <a:rPr lang="en-US" sz="683" b="1" dirty="0">
                <a:solidFill>
                  <a:srgbClr val="2C3E50"/>
                </a:solidFill>
              </a:rPr>
              <a:t>43.21%</a:t>
            </a:r>
            <a:r>
              <a:rPr lang="en-US" sz="727" dirty="0">
                <a:solidFill>
                  <a:srgbClr val="2C3E50"/>
                </a:solidFill>
              </a:rPr>
              <a:t> is unacceptably low for a core module, confirming that the User Registration Module is </a:t>
            </a:r>
            <a:r>
              <a:rPr lang="en-US" sz="683" b="1" dirty="0">
                <a:solidFill>
                  <a:srgbClr val="2C3E50"/>
                </a:solidFill>
              </a:rPr>
              <a:t>NOT STABLE</a:t>
            </a:r>
            <a:r>
              <a:rPr lang="en-US" sz="727" dirty="0">
                <a:solidFill>
                  <a:srgbClr val="2C3E50"/>
                </a:solidFill>
              </a:rPr>
              <a:t> and requires immediate remediation before release.</a:t>
            </a:r>
            <a:endParaRPr lang="en-US" sz="683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6313" y="1549301"/>
            <a:ext cx="392906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94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625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2332"/>
                </a:solidFill>
              </a:rPr>
              <a:t>Defect Analysis by Severity: High Concentration of Critical and Major Issues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1940616"/>
            <a:ext cx="1428750" cy="350044"/>
          </a:xfrm>
          <a:prstGeom prst="rect">
            <a:avLst/>
          </a:prstGeom>
          <a:noFill/>
          <a:ln/>
        </p:spPr>
        <p:txBody>
          <a:bodyPr wrap="square" lIns="0" tIns="119126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1A2332"/>
                </a:solidFill>
              </a:rPr>
              <a:t>Critical</a:t>
            </a:r>
            <a:endParaRPr lang="en-US" sz="734" dirty="0"/>
          </a:p>
        </p:txBody>
      </p:sp>
      <p:sp>
        <p:nvSpPr>
          <p:cNvPr id="5" name="Text 2"/>
          <p:cNvSpPr/>
          <p:nvPr/>
        </p:nvSpPr>
        <p:spPr>
          <a:xfrm>
            <a:off x="1857375" y="1940616"/>
            <a:ext cx="477794" cy="350044"/>
          </a:xfrm>
          <a:prstGeom prst="rect">
            <a:avLst/>
          </a:prstGeom>
          <a:noFill/>
          <a:ln/>
        </p:spPr>
        <p:txBody>
          <a:bodyPr wrap="square" lIns="0" tIns="119126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2C3E50"/>
                </a:solidFill>
              </a:rPr>
              <a:t>1</a:t>
            </a:r>
            <a:endParaRPr lang="en-US" sz="734" dirty="0"/>
          </a:p>
        </p:txBody>
      </p:sp>
      <p:sp>
        <p:nvSpPr>
          <p:cNvPr id="6" name="Text 3"/>
          <p:cNvSpPr/>
          <p:nvPr/>
        </p:nvSpPr>
        <p:spPr>
          <a:xfrm>
            <a:off x="2335169" y="1940616"/>
            <a:ext cx="1665331" cy="350044"/>
          </a:xfrm>
          <a:prstGeom prst="rect">
            <a:avLst/>
          </a:prstGeom>
          <a:noFill/>
          <a:ln/>
        </p:spPr>
        <p:txBody>
          <a:bodyPr wrap="square" lIns="0" tIns="119126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80" dirty="0">
                <a:solidFill>
                  <a:srgbClr val="2C3E50"/>
                </a:solidFill>
              </a:rPr>
              <a:t>(2.17%)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28625" y="2290660"/>
            <a:ext cx="1428750" cy="353616"/>
          </a:xfrm>
          <a:prstGeom prst="rect">
            <a:avLst/>
          </a:prstGeom>
          <a:noFill/>
          <a:ln/>
        </p:spPr>
        <p:txBody>
          <a:bodyPr wrap="square" lIns="0" tIns="119126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1A2332"/>
                </a:solidFill>
              </a:rPr>
              <a:t>Major</a:t>
            </a:r>
            <a:endParaRPr lang="en-US" sz="734" dirty="0"/>
          </a:p>
        </p:txBody>
      </p:sp>
      <p:sp>
        <p:nvSpPr>
          <p:cNvPr id="8" name="Text 5"/>
          <p:cNvSpPr/>
          <p:nvPr/>
        </p:nvSpPr>
        <p:spPr>
          <a:xfrm>
            <a:off x="1857375" y="2290660"/>
            <a:ext cx="477794" cy="353616"/>
          </a:xfrm>
          <a:prstGeom prst="rect">
            <a:avLst/>
          </a:prstGeom>
          <a:noFill/>
          <a:ln/>
        </p:spPr>
        <p:txBody>
          <a:bodyPr wrap="square" lIns="0" tIns="119126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2C3E50"/>
                </a:solidFill>
              </a:rPr>
              <a:t>40</a:t>
            </a:r>
            <a:endParaRPr lang="en-US" sz="734" dirty="0"/>
          </a:p>
        </p:txBody>
      </p:sp>
      <p:sp>
        <p:nvSpPr>
          <p:cNvPr id="9" name="Text 6"/>
          <p:cNvSpPr/>
          <p:nvPr/>
        </p:nvSpPr>
        <p:spPr>
          <a:xfrm>
            <a:off x="2335169" y="2290660"/>
            <a:ext cx="1665331" cy="353616"/>
          </a:xfrm>
          <a:prstGeom prst="rect">
            <a:avLst/>
          </a:prstGeom>
          <a:noFill/>
          <a:ln/>
        </p:spPr>
        <p:txBody>
          <a:bodyPr wrap="square" lIns="0" tIns="119126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80" dirty="0">
                <a:solidFill>
                  <a:srgbClr val="2C3E50"/>
                </a:solidFill>
              </a:rPr>
              <a:t>(86.96%)</a:t>
            </a:r>
            <a:endParaRPr lang="en-US" sz="780" dirty="0"/>
          </a:p>
        </p:txBody>
      </p:sp>
      <p:sp>
        <p:nvSpPr>
          <p:cNvPr id="10" name="Text 7"/>
          <p:cNvSpPr/>
          <p:nvPr/>
        </p:nvSpPr>
        <p:spPr>
          <a:xfrm>
            <a:off x="428625" y="2644276"/>
            <a:ext cx="1428750" cy="357188"/>
          </a:xfrm>
          <a:prstGeom prst="rect">
            <a:avLst/>
          </a:prstGeom>
          <a:noFill/>
          <a:ln/>
        </p:spPr>
        <p:txBody>
          <a:bodyPr wrap="square" lIns="0" tIns="119126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1A2332"/>
                </a:solidFill>
              </a:rPr>
              <a:t>Minor</a:t>
            </a:r>
            <a:endParaRPr lang="en-US" sz="734" dirty="0"/>
          </a:p>
        </p:txBody>
      </p:sp>
      <p:sp>
        <p:nvSpPr>
          <p:cNvPr id="11" name="Text 8"/>
          <p:cNvSpPr/>
          <p:nvPr/>
        </p:nvSpPr>
        <p:spPr>
          <a:xfrm>
            <a:off x="1857375" y="2644276"/>
            <a:ext cx="477794" cy="357188"/>
          </a:xfrm>
          <a:prstGeom prst="rect">
            <a:avLst/>
          </a:prstGeom>
          <a:noFill/>
          <a:ln/>
        </p:spPr>
        <p:txBody>
          <a:bodyPr wrap="square" lIns="0" tIns="119126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2C3E50"/>
                </a:solidFill>
              </a:rPr>
              <a:t>5</a:t>
            </a:r>
            <a:endParaRPr lang="en-US" sz="734" dirty="0"/>
          </a:p>
        </p:txBody>
      </p:sp>
      <p:sp>
        <p:nvSpPr>
          <p:cNvPr id="12" name="Text 9"/>
          <p:cNvSpPr/>
          <p:nvPr/>
        </p:nvSpPr>
        <p:spPr>
          <a:xfrm>
            <a:off x="2335169" y="2644276"/>
            <a:ext cx="1665331" cy="357188"/>
          </a:xfrm>
          <a:prstGeom prst="rect">
            <a:avLst/>
          </a:prstGeom>
          <a:noFill/>
          <a:ln/>
        </p:spPr>
        <p:txBody>
          <a:bodyPr wrap="square" lIns="0" tIns="119126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80" dirty="0">
                <a:solidFill>
                  <a:srgbClr val="2C3E50"/>
                </a:solidFill>
              </a:rPr>
              <a:t>(10.87%)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428625" y="3001463"/>
            <a:ext cx="1428750" cy="400050"/>
          </a:xfrm>
          <a:prstGeom prst="rect">
            <a:avLst/>
          </a:prstGeom>
          <a:noFill/>
          <a:ln/>
        </p:spPr>
        <p:txBody>
          <a:bodyPr wrap="square" lIns="0" tIns="170053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1A2332"/>
                </a:solidFill>
              </a:rPr>
              <a:t>Total Defects</a:t>
            </a:r>
            <a:endParaRPr lang="en-US" sz="734" dirty="0"/>
          </a:p>
        </p:txBody>
      </p:sp>
      <p:sp>
        <p:nvSpPr>
          <p:cNvPr id="14" name="Text 11"/>
          <p:cNvSpPr/>
          <p:nvPr/>
        </p:nvSpPr>
        <p:spPr>
          <a:xfrm>
            <a:off x="1857375" y="3001463"/>
            <a:ext cx="477794" cy="400050"/>
          </a:xfrm>
          <a:prstGeom prst="rect">
            <a:avLst/>
          </a:prstGeom>
          <a:noFill/>
          <a:ln/>
        </p:spPr>
        <p:txBody>
          <a:bodyPr wrap="square" lIns="0" tIns="170053" rIns="0" bIns="119126" rtlCol="0" anchor="ctr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2C3E50"/>
                </a:solidFill>
              </a:rPr>
              <a:t>46</a:t>
            </a:r>
            <a:endParaRPr lang="en-US" sz="734" dirty="0"/>
          </a:p>
        </p:txBody>
      </p:sp>
      <p:sp>
        <p:nvSpPr>
          <p:cNvPr id="15" name="Shape 12"/>
          <p:cNvSpPr/>
          <p:nvPr/>
        </p:nvSpPr>
        <p:spPr>
          <a:xfrm>
            <a:off x="428625" y="3619398"/>
            <a:ext cx="3571875" cy="708627"/>
          </a:xfrm>
          <a:prstGeom prst="rect">
            <a:avLst/>
          </a:prstGeom>
          <a:solidFill>
            <a:srgbClr val="FFE5E5"/>
          </a:solidFill>
          <a:ln/>
        </p:spPr>
      </p:sp>
      <p:sp>
        <p:nvSpPr>
          <p:cNvPr id="16" name="Shape 13"/>
          <p:cNvSpPr/>
          <p:nvPr/>
        </p:nvSpPr>
        <p:spPr>
          <a:xfrm>
            <a:off x="428625" y="3619398"/>
            <a:ext cx="28575" cy="708627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7" name="Text 14"/>
          <p:cNvSpPr/>
          <p:nvPr/>
        </p:nvSpPr>
        <p:spPr>
          <a:xfrm>
            <a:off x="428625" y="3619398"/>
            <a:ext cx="3571875" cy="591059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683" b="1" dirty="0">
                <a:solidFill>
                  <a:srgbClr val="2C3E50"/>
                </a:solidFill>
              </a:rPr>
              <a:t>Key Finding: </a:t>
            </a:r>
            <a:r>
              <a:rPr lang="en-US" sz="683" b="1" dirty="0">
                <a:solidFill>
                  <a:srgbClr val="DC3545"/>
                </a:solidFill>
              </a:rPr>
              <a:t>91.3%</a:t>
            </a:r>
            <a:r>
              <a:rPr lang="en-US" sz="727" dirty="0">
                <a:solidFill>
                  <a:srgbClr val="2C3E50"/>
                </a:solidFill>
              </a:rPr>
              <a:t> of all defects are classified as </a:t>
            </a:r>
            <a:r>
              <a:rPr lang="en-US" sz="683" b="1" dirty="0">
                <a:solidFill>
                  <a:srgbClr val="2C3E50"/>
                </a:solidFill>
              </a:rPr>
              <a:t>Critical or Major</a:t>
            </a:r>
            <a:r>
              <a:rPr lang="en-US" sz="727" dirty="0">
                <a:solidFill>
                  <a:srgbClr val="2C3E50"/>
                </a:solidFill>
              </a:rPr>
              <a:t> (41 out of 46). This indicates fundamental flaws in the implementation of core validation logic.</a:t>
            </a:r>
            <a:endParaRPr lang="en-US" sz="683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125" y="2062758"/>
            <a:ext cx="4286250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2332"/>
                </a:solidFill>
              </a:rPr>
              <a:t>Root Cause Analysis: Validation Failures Across Key Fields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1009055"/>
            <a:ext cx="363681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1A2332"/>
                </a:solidFill>
              </a:rPr>
              <a:t>Top 3 Failing Categories</a:t>
            </a:r>
            <a:endParaRPr lang="en-US" sz="784" dirty="0"/>
          </a:p>
        </p:txBody>
      </p:sp>
      <p:sp>
        <p:nvSpPr>
          <p:cNvPr id="5" name="Shape 2"/>
          <p:cNvSpPr/>
          <p:nvPr/>
        </p:nvSpPr>
        <p:spPr>
          <a:xfrm>
            <a:off x="428625" y="1307306"/>
            <a:ext cx="3636811" cy="6304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" name="Shape 3"/>
          <p:cNvSpPr/>
          <p:nvPr/>
        </p:nvSpPr>
        <p:spPr>
          <a:xfrm>
            <a:off x="428625" y="1307306"/>
            <a:ext cx="28575" cy="63043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4"/>
          <p:cNvSpPr/>
          <p:nvPr/>
        </p:nvSpPr>
        <p:spPr>
          <a:xfrm>
            <a:off x="514350" y="1393031"/>
            <a:ext cx="346536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DC3545"/>
                </a:solidFill>
              </a:rPr>
              <a:t>1st</a:t>
            </a:r>
            <a:endParaRPr lang="en-US" sz="584" dirty="0"/>
          </a:p>
        </p:txBody>
      </p:sp>
      <p:sp>
        <p:nvSpPr>
          <p:cNvPr id="8" name="Text 5"/>
          <p:cNvSpPr/>
          <p:nvPr/>
        </p:nvSpPr>
        <p:spPr>
          <a:xfrm>
            <a:off x="514350" y="1544836"/>
            <a:ext cx="346536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Name Fields (First/Last)</a:t>
            </a:r>
            <a:endParaRPr lang="en-US" sz="683" dirty="0"/>
          </a:p>
        </p:txBody>
      </p:sp>
      <p:sp>
        <p:nvSpPr>
          <p:cNvPr id="9" name="Text 6"/>
          <p:cNvSpPr/>
          <p:nvPr/>
        </p:nvSpPr>
        <p:spPr>
          <a:xfrm>
            <a:off x="514350" y="1716286"/>
            <a:ext cx="346536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12 Failed Test Cases</a:t>
            </a:r>
            <a:endParaRPr lang="en-US" sz="727" dirty="0"/>
          </a:p>
        </p:txBody>
      </p:sp>
      <p:sp>
        <p:nvSpPr>
          <p:cNvPr id="10" name="Shape 7"/>
          <p:cNvSpPr/>
          <p:nvPr/>
        </p:nvSpPr>
        <p:spPr>
          <a:xfrm>
            <a:off x="428625" y="2044898"/>
            <a:ext cx="3636811" cy="6304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Shape 8"/>
          <p:cNvSpPr/>
          <p:nvPr/>
        </p:nvSpPr>
        <p:spPr>
          <a:xfrm>
            <a:off x="428625" y="2044898"/>
            <a:ext cx="28575" cy="63043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2" name="Text 9"/>
          <p:cNvSpPr/>
          <p:nvPr/>
        </p:nvSpPr>
        <p:spPr>
          <a:xfrm>
            <a:off x="514350" y="2130623"/>
            <a:ext cx="346536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DC3545"/>
                </a:solidFill>
              </a:rPr>
              <a:t>2nd</a:t>
            </a:r>
            <a:endParaRPr lang="en-US" sz="584" dirty="0"/>
          </a:p>
        </p:txBody>
      </p:sp>
      <p:sp>
        <p:nvSpPr>
          <p:cNvPr id="13" name="Text 10"/>
          <p:cNvSpPr/>
          <p:nvPr/>
        </p:nvSpPr>
        <p:spPr>
          <a:xfrm>
            <a:off x="514350" y="2282428"/>
            <a:ext cx="346536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Password/Confirm Field</a:t>
            </a:r>
            <a:endParaRPr lang="en-US" sz="683" dirty="0"/>
          </a:p>
        </p:txBody>
      </p:sp>
      <p:sp>
        <p:nvSpPr>
          <p:cNvPr id="14" name="Text 11"/>
          <p:cNvSpPr/>
          <p:nvPr/>
        </p:nvSpPr>
        <p:spPr>
          <a:xfrm>
            <a:off x="514350" y="2453878"/>
            <a:ext cx="346536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6 Failed Test Cases</a:t>
            </a:r>
            <a:endParaRPr lang="en-US" sz="727" dirty="0"/>
          </a:p>
        </p:txBody>
      </p:sp>
      <p:sp>
        <p:nvSpPr>
          <p:cNvPr id="15" name="Shape 12"/>
          <p:cNvSpPr/>
          <p:nvPr/>
        </p:nvSpPr>
        <p:spPr>
          <a:xfrm>
            <a:off x="428625" y="2782491"/>
            <a:ext cx="3636811" cy="6304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6" name="Shape 13"/>
          <p:cNvSpPr/>
          <p:nvPr/>
        </p:nvSpPr>
        <p:spPr>
          <a:xfrm>
            <a:off x="428625" y="2782491"/>
            <a:ext cx="28575" cy="63043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Text 14"/>
          <p:cNvSpPr/>
          <p:nvPr/>
        </p:nvSpPr>
        <p:spPr>
          <a:xfrm>
            <a:off x="514350" y="2868216"/>
            <a:ext cx="346536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DC3545"/>
                </a:solidFill>
              </a:rPr>
              <a:t>3rd (Tied)</a:t>
            </a:r>
            <a:endParaRPr lang="en-US" sz="584" dirty="0"/>
          </a:p>
        </p:txBody>
      </p:sp>
      <p:sp>
        <p:nvSpPr>
          <p:cNvPr id="18" name="Text 15"/>
          <p:cNvSpPr/>
          <p:nvPr/>
        </p:nvSpPr>
        <p:spPr>
          <a:xfrm>
            <a:off x="514350" y="3020020"/>
            <a:ext cx="346536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City, SSN, State Fields</a:t>
            </a:r>
            <a:endParaRPr lang="en-US" sz="683" dirty="0"/>
          </a:p>
        </p:txBody>
      </p:sp>
      <p:sp>
        <p:nvSpPr>
          <p:cNvPr id="19" name="Text 16"/>
          <p:cNvSpPr/>
          <p:nvPr/>
        </p:nvSpPr>
        <p:spPr>
          <a:xfrm>
            <a:off x="514350" y="3191470"/>
            <a:ext cx="346536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5 Failed Test Cases Each</a:t>
            </a:r>
            <a:endParaRPr lang="en-US" sz="727" dirty="0"/>
          </a:p>
        </p:txBody>
      </p:sp>
      <p:sp>
        <p:nvSpPr>
          <p:cNvPr id="20" name="Shape 17"/>
          <p:cNvSpPr/>
          <p:nvPr/>
        </p:nvSpPr>
        <p:spPr>
          <a:xfrm>
            <a:off x="428625" y="3627239"/>
            <a:ext cx="3636811" cy="1319808"/>
          </a:xfrm>
          <a:prstGeom prst="rect">
            <a:avLst/>
          </a:prstGeom>
          <a:solidFill>
            <a:srgbClr val="FFF3CD"/>
          </a:solidFill>
          <a:ln/>
        </p:spPr>
      </p:sp>
      <p:sp>
        <p:nvSpPr>
          <p:cNvPr id="21" name="Shape 18"/>
          <p:cNvSpPr/>
          <p:nvPr/>
        </p:nvSpPr>
        <p:spPr>
          <a:xfrm>
            <a:off x="428625" y="3627239"/>
            <a:ext cx="28575" cy="131980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2" name="Text 19"/>
          <p:cNvSpPr/>
          <p:nvPr/>
        </p:nvSpPr>
        <p:spPr>
          <a:xfrm>
            <a:off x="514350" y="3712964"/>
            <a:ext cx="346536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1A2332"/>
                </a:solidFill>
              </a:rPr>
              <a:t>Key Findings</a:t>
            </a:r>
            <a:endParaRPr lang="en-US" sz="584" dirty="0"/>
          </a:p>
        </p:txBody>
      </p:sp>
      <p:sp>
        <p:nvSpPr>
          <p:cNvPr id="23" name="Text 20"/>
          <p:cNvSpPr/>
          <p:nvPr/>
        </p:nvSpPr>
        <p:spPr>
          <a:xfrm>
            <a:off x="514350" y="3886200"/>
            <a:ext cx="3465361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34" b="1" dirty="0">
                <a:solidFill>
                  <a:srgbClr val="2C3E50"/>
                </a:solidFill>
              </a:rPr>
              <a:t>Name Fields:</a:t>
            </a:r>
            <a:r>
              <a:rPr lang="en-US" sz="674" dirty="0">
                <a:solidFill>
                  <a:srgbClr val="2C3E50"/>
                </a:solidFill>
              </a:rPr>
              <a:t> System accepts numbers, special characters, and violates length constraints. 
</a:t>
            </a:r>
            <a:r>
              <a:rPr lang="en-US" sz="634" b="1" dirty="0">
                <a:solidFill>
                  <a:srgbClr val="2C3E50"/>
                </a:solidFill>
              </a:rPr>
              <a:t>Password Field:</a:t>
            </a:r>
            <a:r>
              <a:rPr lang="en-US" sz="674" dirty="0">
                <a:solidFill>
                  <a:srgbClr val="2C3E50"/>
                </a:solidFill>
              </a:rPr>
              <a:t> Length and character type requirements not enforced. 
</a:t>
            </a:r>
            <a:r>
              <a:rPr lang="en-US" sz="634" b="1" dirty="0">
                <a:solidFill>
                  <a:srgbClr val="2C3E50"/>
                </a:solidFill>
              </a:rPr>
              <a:t>System Behavior:</a:t>
            </a:r>
            <a:r>
              <a:rPr lang="en-US" sz="674" dirty="0">
                <a:solidFill>
                  <a:srgbClr val="2C3E50"/>
                </a:solidFill>
              </a:rPr>
              <a:t> Recurring theme—system allows successful registration despite invalid input.</a:t>
            </a:r>
            <a:endParaRPr lang="en-US" sz="634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744" y="1888629"/>
            <a:ext cx="4363045" cy="21788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2332"/>
                </a:solidFill>
              </a:rPr>
              <a:t>Strategic Recommendations for Module Stabilization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812602"/>
            <a:ext cx="3929063" cy="296466"/>
          </a:xfrm>
          <a:prstGeom prst="rect">
            <a:avLst/>
          </a:prstGeom>
          <a:noFill/>
          <a:ln/>
        </p:spPr>
        <p:txBody>
          <a:bodyPr wrap="square" lIns="0" tIns="0" rIns="0" bIns="127508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2332"/>
                </a:solidFill>
              </a:rPr>
              <a:t>Immediate Action Items</a:t>
            </a:r>
            <a:endParaRPr lang="en-US" sz="885" dirty="0"/>
          </a:p>
        </p:txBody>
      </p:sp>
      <p:sp>
        <p:nvSpPr>
          <p:cNvPr id="5" name="Shape 2"/>
          <p:cNvSpPr/>
          <p:nvPr/>
        </p:nvSpPr>
        <p:spPr>
          <a:xfrm>
            <a:off x="428625" y="1251942"/>
            <a:ext cx="228600" cy="22860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6" name="Text 3"/>
          <p:cNvSpPr/>
          <p:nvPr/>
        </p:nvSpPr>
        <p:spPr>
          <a:xfrm>
            <a:off x="428625" y="12519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1</a:t>
            </a:r>
            <a:endParaRPr lang="en-US" sz="784" dirty="0"/>
          </a:p>
        </p:txBody>
      </p:sp>
      <p:sp>
        <p:nvSpPr>
          <p:cNvPr id="7" name="Text 4"/>
          <p:cNvSpPr/>
          <p:nvPr/>
        </p:nvSpPr>
        <p:spPr>
          <a:xfrm>
            <a:off x="771525" y="1251942"/>
            <a:ext cx="358616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Critical and Major Defect Fixes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771525" y="1430536"/>
            <a:ext cx="3586163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Prioritize and resolve all 41 Critical and Major defects immediately. These represent core functional failures that prevent the system from operating as designed.</a:t>
            </a:r>
            <a:endParaRPr lang="en-US" sz="727" dirty="0"/>
          </a:p>
        </p:txBody>
      </p:sp>
      <p:sp>
        <p:nvSpPr>
          <p:cNvPr id="9" name="Shape 6"/>
          <p:cNvSpPr/>
          <p:nvPr/>
        </p:nvSpPr>
        <p:spPr>
          <a:xfrm>
            <a:off x="771525" y="2010575"/>
            <a:ext cx="3586163" cy="164306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0" name="Text 7"/>
          <p:cNvSpPr/>
          <p:nvPr/>
        </p:nvSpPr>
        <p:spPr>
          <a:xfrm>
            <a:off x="771525" y="2010575"/>
            <a:ext cx="3586163" cy="16430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700"/>
              </a:lnSpc>
              <a:buNone/>
            </a:pPr>
            <a:r>
              <a:rPr lang="en-US" sz="534" b="1" dirty="0">
                <a:solidFill>
                  <a:srgbClr val="FFFFFF"/>
                </a:solidFill>
              </a:rPr>
              <a:t>CRITICAL PRIORITY</a:t>
            </a:r>
            <a:endParaRPr lang="en-US" sz="534" dirty="0"/>
          </a:p>
        </p:txBody>
      </p:sp>
      <p:sp>
        <p:nvSpPr>
          <p:cNvPr id="11" name="Shape 8"/>
          <p:cNvSpPr/>
          <p:nvPr/>
        </p:nvSpPr>
        <p:spPr>
          <a:xfrm>
            <a:off x="428625" y="2317756"/>
            <a:ext cx="228600" cy="22860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2" name="Text 9"/>
          <p:cNvSpPr/>
          <p:nvPr/>
        </p:nvSpPr>
        <p:spPr>
          <a:xfrm>
            <a:off x="428625" y="23177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2</a:t>
            </a:r>
            <a:endParaRPr lang="en-US" sz="784" dirty="0"/>
          </a:p>
        </p:txBody>
      </p:sp>
      <p:sp>
        <p:nvSpPr>
          <p:cNvPr id="13" name="Text 10"/>
          <p:cNvSpPr/>
          <p:nvPr/>
        </p:nvSpPr>
        <p:spPr>
          <a:xfrm>
            <a:off x="771525" y="2317756"/>
            <a:ext cx="358616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Validation Logic Review</a:t>
            </a:r>
            <a:endParaRPr lang="en-US" sz="683" dirty="0"/>
          </a:p>
        </p:txBody>
      </p:sp>
      <p:sp>
        <p:nvSpPr>
          <p:cNvPr id="14" name="Text 11"/>
          <p:cNvSpPr/>
          <p:nvPr/>
        </p:nvSpPr>
        <p:spPr>
          <a:xfrm>
            <a:off x="771525" y="2496350"/>
            <a:ext cx="358616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Conduct a comprehensive review and correction of all field validation logic to ensure strict adherence to requirements REG-004 through REG-036.</a:t>
            </a:r>
            <a:endParaRPr lang="en-US" sz="727" dirty="0"/>
          </a:p>
        </p:txBody>
      </p:sp>
      <p:sp>
        <p:nvSpPr>
          <p:cNvPr id="15" name="Shape 12"/>
          <p:cNvSpPr/>
          <p:nvPr/>
        </p:nvSpPr>
        <p:spPr>
          <a:xfrm>
            <a:off x="428625" y="2959243"/>
            <a:ext cx="228600" cy="22860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6" name="Text 13"/>
          <p:cNvSpPr/>
          <p:nvPr/>
        </p:nvSpPr>
        <p:spPr>
          <a:xfrm>
            <a:off x="428625" y="2959243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3</a:t>
            </a:r>
            <a:endParaRPr lang="en-US" sz="784" dirty="0"/>
          </a:p>
        </p:txBody>
      </p:sp>
      <p:sp>
        <p:nvSpPr>
          <p:cNvPr id="17" name="Text 14"/>
          <p:cNvSpPr/>
          <p:nvPr/>
        </p:nvSpPr>
        <p:spPr>
          <a:xfrm>
            <a:off x="771525" y="2959243"/>
            <a:ext cx="358616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Targeted Retesting</a:t>
            </a:r>
            <a:endParaRPr lang="en-US" sz="683" dirty="0"/>
          </a:p>
        </p:txBody>
      </p:sp>
      <p:sp>
        <p:nvSpPr>
          <p:cNvPr id="18" name="Text 15"/>
          <p:cNvSpPr/>
          <p:nvPr/>
        </p:nvSpPr>
        <p:spPr>
          <a:xfrm>
            <a:off x="771525" y="3137836"/>
            <a:ext cx="358616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Focus retesting efforts on the Name, Address, and City fields, which showed the highest failure rates (12, 4, and 5 failed TCs respectively).</a:t>
            </a:r>
            <a:endParaRPr lang="en-US" sz="727" dirty="0"/>
          </a:p>
        </p:txBody>
      </p:sp>
      <p:sp>
        <p:nvSpPr>
          <p:cNvPr id="19" name="Text 16"/>
          <p:cNvSpPr/>
          <p:nvPr/>
        </p:nvSpPr>
        <p:spPr>
          <a:xfrm>
            <a:off x="4786313" y="812602"/>
            <a:ext cx="3929063" cy="296466"/>
          </a:xfrm>
          <a:prstGeom prst="rect">
            <a:avLst/>
          </a:prstGeom>
          <a:noFill/>
          <a:ln/>
        </p:spPr>
        <p:txBody>
          <a:bodyPr wrap="square" lIns="0" tIns="0" rIns="0" bIns="127508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2332"/>
                </a:solidFill>
              </a:rPr>
              <a:t>Long-Term Strategy</a:t>
            </a:r>
            <a:endParaRPr lang="en-US" sz="885" dirty="0"/>
          </a:p>
        </p:txBody>
      </p:sp>
      <p:sp>
        <p:nvSpPr>
          <p:cNvPr id="20" name="Text 17"/>
          <p:cNvSpPr/>
          <p:nvPr/>
        </p:nvSpPr>
        <p:spPr>
          <a:xfrm>
            <a:off x="4786313" y="1251942"/>
            <a:ext cx="82655" cy="178594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28A745"/>
                </a:solidFill>
              </a:rPr>
              <a:t>✓</a:t>
            </a:r>
            <a:endParaRPr lang="en-US" sz="784" dirty="0"/>
          </a:p>
        </p:txBody>
      </p:sp>
      <p:sp>
        <p:nvSpPr>
          <p:cNvPr id="21" name="Text 18"/>
          <p:cNvSpPr/>
          <p:nvPr/>
        </p:nvSpPr>
        <p:spPr>
          <a:xfrm>
            <a:off x="4954693" y="1251942"/>
            <a:ext cx="376068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Implement Automated Testing</a:t>
            </a:r>
            <a:endParaRPr lang="en-US" sz="683" dirty="0"/>
          </a:p>
        </p:txBody>
      </p:sp>
      <p:sp>
        <p:nvSpPr>
          <p:cNvPr id="22" name="Text 19"/>
          <p:cNvSpPr/>
          <p:nvPr/>
        </p:nvSpPr>
        <p:spPr>
          <a:xfrm>
            <a:off x="4954693" y="1416248"/>
            <a:ext cx="3760682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Develop a comprehensive suite of automated regression tests to prevent recurrence of these validation issues in future builds and ensure continuous quality assurance.</a:t>
            </a:r>
            <a:endParaRPr lang="en-US" sz="727" dirty="0"/>
          </a:p>
        </p:txBody>
      </p:sp>
      <p:sp>
        <p:nvSpPr>
          <p:cNvPr id="23" name="Text 20"/>
          <p:cNvSpPr/>
          <p:nvPr/>
        </p:nvSpPr>
        <p:spPr>
          <a:xfrm>
            <a:off x="4786313" y="2124875"/>
            <a:ext cx="82655" cy="178594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28A745"/>
                </a:solidFill>
              </a:rPr>
              <a:t>✓</a:t>
            </a:r>
            <a:endParaRPr lang="en-US" sz="784" dirty="0"/>
          </a:p>
        </p:txBody>
      </p:sp>
      <p:sp>
        <p:nvSpPr>
          <p:cNvPr id="24" name="Text 21"/>
          <p:cNvSpPr/>
          <p:nvPr/>
        </p:nvSpPr>
        <p:spPr>
          <a:xfrm>
            <a:off x="4954693" y="2124875"/>
            <a:ext cx="376068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A2332"/>
                </a:solidFill>
              </a:rPr>
              <a:t>Documentation and Standards</a:t>
            </a:r>
            <a:endParaRPr lang="en-US" sz="683" dirty="0"/>
          </a:p>
        </p:txBody>
      </p:sp>
      <p:sp>
        <p:nvSpPr>
          <p:cNvPr id="25" name="Text 22"/>
          <p:cNvSpPr/>
          <p:nvPr/>
        </p:nvSpPr>
        <p:spPr>
          <a:xfrm>
            <a:off x="4954693" y="2289181"/>
            <a:ext cx="3760682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Update development standards and create comprehensive documentation for field validation patterns to ensure consistency across the application.</a:t>
            </a:r>
            <a:endParaRPr lang="en-US" sz="727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2332"/>
                </a:solidFill>
              </a:rPr>
              <a:t>Conclusion and Q&amp;A</a:t>
            </a:r>
            <a:endParaRPr lang="en-US" sz="1602" dirty="0"/>
          </a:p>
        </p:txBody>
      </p:sp>
      <p:sp>
        <p:nvSpPr>
          <p:cNvPr id="4" name="Shape 1"/>
          <p:cNvSpPr/>
          <p:nvPr/>
        </p:nvSpPr>
        <p:spPr>
          <a:xfrm>
            <a:off x="428625" y="812602"/>
            <a:ext cx="285750" cy="28575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812602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</a:rPr>
              <a:t>1</a:t>
            </a:r>
            <a:endParaRPr lang="en-US" sz="987" dirty="0"/>
          </a:p>
        </p:txBody>
      </p:sp>
      <p:sp>
        <p:nvSpPr>
          <p:cNvPr id="6" name="Text 3"/>
          <p:cNvSpPr/>
          <p:nvPr/>
        </p:nvSpPr>
        <p:spPr>
          <a:xfrm>
            <a:off x="857250" y="812602"/>
            <a:ext cx="627659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1A2332"/>
                </a:solidFill>
              </a:rPr>
              <a:t>Module is NOT READY for Release</a:t>
            </a:r>
            <a:endParaRPr lang="en-US" sz="784" dirty="0"/>
          </a:p>
        </p:txBody>
      </p:sp>
      <p:sp>
        <p:nvSpPr>
          <p:cNvPr id="7" name="Text 4"/>
          <p:cNvSpPr/>
          <p:nvPr/>
        </p:nvSpPr>
        <p:spPr>
          <a:xfrm>
            <a:off x="857250" y="1003697"/>
            <a:ext cx="6276594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The 43.21% pass rate and 91.3% critical/major defect concentration indicate fundamental instability requiring immediate remediation.</a:t>
            </a:r>
            <a:endParaRPr lang="en-US" sz="727" dirty="0"/>
          </a:p>
        </p:txBody>
      </p:sp>
      <p:sp>
        <p:nvSpPr>
          <p:cNvPr id="8" name="Shape 5"/>
          <p:cNvSpPr/>
          <p:nvPr/>
        </p:nvSpPr>
        <p:spPr>
          <a:xfrm>
            <a:off x="428625" y="1306581"/>
            <a:ext cx="285750" cy="28575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9" name="Text 6"/>
          <p:cNvSpPr/>
          <p:nvPr/>
        </p:nvSpPr>
        <p:spPr>
          <a:xfrm>
            <a:off x="428625" y="1306581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</a:rPr>
              <a:t>2</a:t>
            </a:r>
            <a:endParaRPr lang="en-US" sz="987" dirty="0"/>
          </a:p>
        </p:txBody>
      </p:sp>
      <p:sp>
        <p:nvSpPr>
          <p:cNvPr id="10" name="Text 7"/>
          <p:cNvSpPr/>
          <p:nvPr/>
        </p:nvSpPr>
        <p:spPr>
          <a:xfrm>
            <a:off x="857250" y="1306581"/>
            <a:ext cx="659253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1A2332"/>
                </a:solidFill>
              </a:rPr>
              <a:t>Core Validation Logic is Fundamentally Flawed</a:t>
            </a:r>
            <a:endParaRPr lang="en-US" sz="784" dirty="0"/>
          </a:p>
        </p:txBody>
      </p:sp>
      <p:sp>
        <p:nvSpPr>
          <p:cNvPr id="11" name="Text 8"/>
          <p:cNvSpPr/>
          <p:nvPr/>
        </p:nvSpPr>
        <p:spPr>
          <a:xfrm>
            <a:off x="857250" y="1497676"/>
            <a:ext cx="6592537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The system is accepting invalid data across multiple fields (names, addresses, passwords), posing significant security and data integrity risks.</a:t>
            </a:r>
            <a:endParaRPr lang="en-US" sz="727" dirty="0"/>
          </a:p>
        </p:txBody>
      </p:sp>
      <p:sp>
        <p:nvSpPr>
          <p:cNvPr id="12" name="Shape 9"/>
          <p:cNvSpPr/>
          <p:nvPr/>
        </p:nvSpPr>
        <p:spPr>
          <a:xfrm>
            <a:off x="428625" y="1800560"/>
            <a:ext cx="285750" cy="28575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3" name="Text 10"/>
          <p:cNvSpPr/>
          <p:nvPr/>
        </p:nvSpPr>
        <p:spPr>
          <a:xfrm>
            <a:off x="428625" y="180056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</a:rPr>
              <a:t>3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857250" y="1800560"/>
            <a:ext cx="493331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1A2332"/>
                </a:solidFill>
              </a:rPr>
              <a:t>High-Priority Defects Demand Immediate Action</a:t>
            </a:r>
            <a:endParaRPr lang="en-US" sz="784" dirty="0"/>
          </a:p>
        </p:txBody>
      </p:sp>
      <p:sp>
        <p:nvSpPr>
          <p:cNvPr id="15" name="Text 12"/>
          <p:cNvSpPr/>
          <p:nvPr/>
        </p:nvSpPr>
        <p:spPr>
          <a:xfrm>
            <a:off x="857250" y="1991655"/>
            <a:ext cx="4933317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27" dirty="0">
                <a:solidFill>
                  <a:srgbClr val="2C3E50"/>
                </a:solidFill>
              </a:rPr>
              <a:t>All 41 Critical and Major defects must be resolved before proceeding with integration or release activities.</a:t>
            </a:r>
            <a:endParaRPr lang="en-US" sz="727" dirty="0"/>
          </a:p>
        </p:txBody>
      </p:sp>
      <p:sp>
        <p:nvSpPr>
          <p:cNvPr id="16" name="Text 13"/>
          <p:cNvSpPr/>
          <p:nvPr/>
        </p:nvSpPr>
        <p:spPr>
          <a:xfrm>
            <a:off x="500063" y="4633452"/>
            <a:ext cx="257175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kern="0" spc="1" dirty="0">
                <a:solidFill>
                  <a:srgbClr val="1A2332"/>
                </a:solidFill>
              </a:rPr>
              <a:t>Presenter</a:t>
            </a:r>
            <a:endParaRPr lang="en-US" sz="584" dirty="0"/>
          </a:p>
        </p:txBody>
      </p:sp>
      <p:sp>
        <p:nvSpPr>
          <p:cNvPr id="17" name="Text 14"/>
          <p:cNvSpPr/>
          <p:nvPr/>
        </p:nvSpPr>
        <p:spPr>
          <a:xfrm>
            <a:off x="500063" y="4776520"/>
            <a:ext cx="25717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2C3E50"/>
                </a:solidFill>
              </a:rPr>
              <a:t>Mahmoud Sameeh</a:t>
            </a:r>
            <a:endParaRPr lang="en-US" sz="683" dirty="0"/>
          </a:p>
        </p:txBody>
      </p:sp>
      <p:sp>
        <p:nvSpPr>
          <p:cNvPr id="18" name="Text 15"/>
          <p:cNvSpPr/>
          <p:nvPr/>
        </p:nvSpPr>
        <p:spPr>
          <a:xfrm>
            <a:off x="5941964" y="4631315"/>
            <a:ext cx="257175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kern="0" spc="1" dirty="0">
                <a:solidFill>
                  <a:srgbClr val="1A2332"/>
                </a:solidFill>
              </a:rPr>
              <a:t>Email</a:t>
            </a:r>
            <a:endParaRPr lang="en-US" sz="584" dirty="0"/>
          </a:p>
        </p:txBody>
      </p:sp>
      <p:sp>
        <p:nvSpPr>
          <p:cNvPr id="19" name="Text 16"/>
          <p:cNvSpPr/>
          <p:nvPr/>
        </p:nvSpPr>
        <p:spPr>
          <a:xfrm>
            <a:off x="5920939" y="4776521"/>
            <a:ext cx="25717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2C3E50"/>
                </a:solidFill>
              </a:rPr>
              <a:t>mahmodesameeh11@gmail.com</a:t>
            </a:r>
            <a:endParaRPr lang="en-US" sz="683" dirty="0"/>
          </a:p>
        </p:txBody>
      </p:sp>
      <p:sp>
        <p:nvSpPr>
          <p:cNvPr id="20" name="Text 17"/>
          <p:cNvSpPr/>
          <p:nvPr/>
        </p:nvSpPr>
        <p:spPr>
          <a:xfrm>
            <a:off x="6143625" y="4652338"/>
            <a:ext cx="2571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endParaRPr lang="en-US" sz="83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623</Words>
  <Application>Microsoft Office PowerPoint</Application>
  <PresentationFormat>On-screen Show (16:9)</PresentationFormat>
  <Paragraphs>114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Baba</cp:lastModifiedBy>
  <cp:revision>4</cp:revision>
  <dcterms:created xsi:type="dcterms:W3CDTF">2025-11-27T20:36:20Z</dcterms:created>
  <dcterms:modified xsi:type="dcterms:W3CDTF">2025-11-27T20:37:27Z</dcterms:modified>
</cp:coreProperties>
</file>