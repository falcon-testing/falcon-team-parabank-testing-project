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8270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854459"/>
            <a:ext cx="3500438" cy="329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A2332"/>
                </a:solidFill>
              </a:rPr>
              <a:t>User Registration Module Testing: Final Execution Summary</a:t>
            </a:r>
            <a:endParaRPr lang="en-US" sz="3294" dirty="0"/>
          </a:p>
        </p:txBody>
      </p:sp>
      <p:sp>
        <p:nvSpPr>
          <p:cNvPr id="4" name="Shape 1"/>
          <p:cNvSpPr/>
          <p:nvPr/>
        </p:nvSpPr>
        <p:spPr>
          <a:xfrm>
            <a:off x="4500563" y="1418034"/>
            <a:ext cx="4071938" cy="2307431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2"/>
          <p:cNvSpPr/>
          <p:nvPr/>
        </p:nvSpPr>
        <p:spPr>
          <a:xfrm>
            <a:off x="4786313" y="1703784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2332"/>
                </a:solidFill>
              </a:rPr>
              <a:t>Project</a:t>
            </a:r>
            <a:endParaRPr lang="en-US" sz="683" dirty="0"/>
          </a:p>
        </p:txBody>
      </p:sp>
      <p:sp>
        <p:nvSpPr>
          <p:cNvPr id="6" name="Text 3"/>
          <p:cNvSpPr/>
          <p:nvPr/>
        </p:nvSpPr>
        <p:spPr>
          <a:xfrm>
            <a:off x="4786313" y="1875234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ParaBank User Registration Module (REG)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786313" y="2173486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2332"/>
                </a:solidFill>
              </a:rPr>
              <a:t>Testing Cycle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786313" y="2344936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Manual &amp; Exploratory Testing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786313" y="2643188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2332"/>
                </a:solidFill>
              </a:rPr>
              <a:t>Date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4786313" y="2814638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November, 15, 2025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786313" y="3112889"/>
            <a:ext cx="3500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kern="0" spc="1" dirty="0">
                <a:solidFill>
                  <a:srgbClr val="1A2332"/>
                </a:solidFill>
              </a:rPr>
              <a:t>Presented by</a:t>
            </a:r>
            <a:endParaRPr lang="en-US" sz="683" dirty="0"/>
          </a:p>
        </p:txBody>
      </p:sp>
      <p:sp>
        <p:nvSpPr>
          <p:cNvPr id="12" name="Text 9"/>
          <p:cNvSpPr/>
          <p:nvPr/>
        </p:nvSpPr>
        <p:spPr>
          <a:xfrm>
            <a:off x="4786313" y="3284339"/>
            <a:ext cx="350043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2C3E50"/>
                </a:solidFill>
              </a:rPr>
              <a:t>Mahmoud Sameeh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32"/>
                </a:solidFill>
              </a:rPr>
              <a:t>Project Context and Testing Scope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812602"/>
            <a:ext cx="1492653" cy="310753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Shape 2"/>
          <p:cNvSpPr/>
          <p:nvPr/>
        </p:nvSpPr>
        <p:spPr>
          <a:xfrm>
            <a:off x="428625" y="1116211"/>
            <a:ext cx="1492653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6" name="Text 3"/>
          <p:cNvSpPr/>
          <p:nvPr/>
        </p:nvSpPr>
        <p:spPr>
          <a:xfrm>
            <a:off x="428625" y="812602"/>
            <a:ext cx="1492653" cy="31075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Category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1921278" y="812602"/>
            <a:ext cx="6794097" cy="310753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8" name="Shape 5"/>
          <p:cNvSpPr/>
          <p:nvPr/>
        </p:nvSpPr>
        <p:spPr>
          <a:xfrm>
            <a:off x="1921278" y="1116211"/>
            <a:ext cx="6794097" cy="7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1921278" y="812602"/>
            <a:ext cx="6794097" cy="31075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2332"/>
                </a:solidFill>
              </a:rPr>
              <a:t>Detail</a:t>
            </a:r>
            <a:endParaRPr lang="en-US" sz="683" dirty="0"/>
          </a:p>
        </p:txBody>
      </p:sp>
      <p:sp>
        <p:nvSpPr>
          <p:cNvPr id="10" name="Text 7"/>
          <p:cNvSpPr/>
          <p:nvPr/>
        </p:nvSpPr>
        <p:spPr>
          <a:xfrm>
            <a:off x="542925" y="1205508"/>
            <a:ext cx="37485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Module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1921278" y="1119783"/>
            <a:ext cx="6794097" cy="31075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User Registration Module (REG)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542925" y="1519833"/>
            <a:ext cx="70329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Requirements</a:t>
            </a: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1921278" y="1430536"/>
            <a:ext cx="6794097" cy="31432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REG-001 to REG-040 (Functional, Validation, Usability)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42925" y="1834158"/>
            <a:ext cx="70759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Test Approach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1921278" y="1744861"/>
            <a:ext cx="6794097" cy="314325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Manual Testing (Positive, Negative, Boundary Value Analysis, Equivalence Partitioning)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42925" y="2148483"/>
            <a:ext cx="431667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Key Goal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1921278" y="2059186"/>
            <a:ext cx="6794097" cy="31075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ctr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Ensure the module is stable and ready for integration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428625" y="2727127"/>
            <a:ext cx="40005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8A745"/>
                </a:solidFill>
              </a:rPr>
              <a:t>✓ In-Scope Functionalities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28625" y="2998589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8A745"/>
                </a:solidFill>
              </a:rPr>
              <a:t>•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551966" y="2998589"/>
            <a:ext cx="188265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Opening the registration page and form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428625" y="3220045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8A745"/>
                </a:solidFill>
              </a:rPr>
              <a:t>•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51966" y="3220045"/>
            <a:ext cx="356216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Validation of all personal information fields (length, character limits, format)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428625" y="3441502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8A745"/>
                </a:solidFill>
              </a:rPr>
              <a:t>•</a:t>
            </a:r>
            <a:endParaRPr lang="en-US" sz="683" dirty="0"/>
          </a:p>
        </p:txBody>
      </p:sp>
      <p:sp>
        <p:nvSpPr>
          <p:cNvPr id="24" name="Text 21"/>
          <p:cNvSpPr/>
          <p:nvPr/>
        </p:nvSpPr>
        <p:spPr>
          <a:xfrm>
            <a:off x="551966" y="3441502"/>
            <a:ext cx="215208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Error message display for invalid/blank inputs</a:t>
            </a:r>
            <a:endParaRPr lang="en-US" sz="727" dirty="0"/>
          </a:p>
        </p:txBody>
      </p:sp>
      <p:sp>
        <p:nvSpPr>
          <p:cNvPr id="25" name="Text 22"/>
          <p:cNvSpPr/>
          <p:nvPr/>
        </p:nvSpPr>
        <p:spPr>
          <a:xfrm>
            <a:off x="428625" y="3662958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28A745"/>
                </a:solidFill>
              </a:rPr>
              <a:t>•</a:t>
            </a:r>
            <a:endParaRPr lang="en-US" sz="683" dirty="0"/>
          </a:p>
        </p:txBody>
      </p:sp>
      <p:sp>
        <p:nvSpPr>
          <p:cNvPr id="26" name="Text 23"/>
          <p:cNvSpPr/>
          <p:nvPr/>
        </p:nvSpPr>
        <p:spPr>
          <a:xfrm>
            <a:off x="551966" y="3662958"/>
            <a:ext cx="222779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Successful end-to-end account registration flow</a:t>
            </a:r>
            <a:endParaRPr lang="en-US" sz="727" dirty="0"/>
          </a:p>
        </p:txBody>
      </p:sp>
      <p:sp>
        <p:nvSpPr>
          <p:cNvPr id="27" name="Text 24"/>
          <p:cNvSpPr/>
          <p:nvPr/>
        </p:nvSpPr>
        <p:spPr>
          <a:xfrm>
            <a:off x="4714875" y="2727127"/>
            <a:ext cx="40005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✗ Out-of-Scope Functionalities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714875" y="2989659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3545"/>
                </a:solidFill>
              </a:rPr>
              <a:t>•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4838216" y="2989659"/>
            <a:ext cx="21545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Backend database validation, API-level testing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4714875" y="3211116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3545"/>
                </a:solidFill>
              </a:rPr>
              <a:t>•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4838216" y="3211116"/>
            <a:ext cx="22788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Load/performance testing, Mobile device testing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4714875" y="3432572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3545"/>
                </a:solidFill>
              </a:rPr>
              <a:t>•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4838216" y="3432572"/>
            <a:ext cx="131509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Security/Penetration testing</a:t>
            </a:r>
            <a:endParaRPr lang="en-US" sz="727" dirty="0"/>
          </a:p>
        </p:txBody>
      </p:sp>
      <p:sp>
        <p:nvSpPr>
          <p:cNvPr id="34" name="Text 31"/>
          <p:cNvSpPr/>
          <p:nvPr/>
        </p:nvSpPr>
        <p:spPr>
          <a:xfrm>
            <a:off x="4714875" y="3654028"/>
            <a:ext cx="3761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3545"/>
                </a:solidFill>
              </a:rPr>
              <a:t>•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4838216" y="3654028"/>
            <a:ext cx="265234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Multi-language support and Email verification workflows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32"/>
                </a:solidFill>
              </a:rPr>
              <a:t>Test Execution Results: Low Pass Rate Indicates Instability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734341"/>
            <a:ext cx="1964531" cy="38754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Total Test Cases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2393156" y="1734341"/>
            <a:ext cx="1964531" cy="387548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81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428625" y="2121889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Passed Test Cases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2393156" y="2121889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8A745"/>
                </a:solidFill>
              </a:rPr>
              <a:t>35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428625" y="2513009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Failed Test Cases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2393156" y="2513009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DC3545"/>
                </a:solidFill>
              </a:rPr>
              <a:t>46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2904130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Pass Rate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2393156" y="2904130"/>
            <a:ext cx="1964531" cy="391120"/>
          </a:xfrm>
          <a:prstGeom prst="rect">
            <a:avLst/>
          </a:prstGeom>
          <a:noFill/>
          <a:ln/>
        </p:spPr>
        <p:txBody>
          <a:bodyPr wrap="square" lIns="0" tIns="136017" rIns="0" bIns="136017" rtlCol="0" anchor="ctr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2C3E50"/>
                </a:solidFill>
              </a:rPr>
              <a:t>43.21%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28625" y="3513134"/>
            <a:ext cx="3929063" cy="708627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513134"/>
            <a:ext cx="28575" cy="708627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3513134"/>
            <a:ext cx="3929063" cy="708627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Key Finding:</a:t>
            </a:r>
            <a:r>
              <a:rPr lang="en-US" sz="727" dirty="0">
                <a:solidFill>
                  <a:srgbClr val="2C3E50"/>
                </a:solidFill>
              </a:rPr>
              <a:t> The Pass Rate of </a:t>
            </a:r>
            <a:r>
              <a:rPr lang="en-US" sz="683" b="1" dirty="0">
                <a:solidFill>
                  <a:srgbClr val="2C3E50"/>
                </a:solidFill>
              </a:rPr>
              <a:t>43.21%</a:t>
            </a:r>
            <a:r>
              <a:rPr lang="en-US" sz="727" dirty="0">
                <a:solidFill>
                  <a:srgbClr val="2C3E50"/>
                </a:solidFill>
              </a:rPr>
              <a:t> is unacceptably low for a core module, confirming that the User Registration Module is </a:t>
            </a:r>
            <a:r>
              <a:rPr lang="en-US" sz="683" b="1" dirty="0">
                <a:solidFill>
                  <a:srgbClr val="2C3E50"/>
                </a:solidFill>
              </a:rPr>
              <a:t>NOT STABLE</a:t>
            </a:r>
            <a:r>
              <a:rPr lang="en-US" sz="727" dirty="0">
                <a:solidFill>
                  <a:srgbClr val="2C3E50"/>
                </a:solidFill>
              </a:rPr>
              <a:t> and requires immediate remediation before release.</a:t>
            </a:r>
            <a:endParaRPr lang="en-US" sz="683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1549301"/>
            <a:ext cx="3929063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30461"/>
            <a:ext cx="9144000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Defect Distribution by Component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5439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Name and Password Fields are the Primary Defect Sources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044773"/>
            <a:ext cx="3636811" cy="233958"/>
          </a:xfrm>
          <a:prstGeom prst="rect">
            <a:avLst/>
          </a:prstGeom>
          <a:noFill/>
          <a:ln/>
        </p:spPr>
        <p:txBody>
          <a:bodyPr wrap="square" lIns="0" tIns="0" rIns="0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kern="0" spc="1" dirty="0">
                <a:solidFill>
                  <a:srgbClr val="1A1A1A"/>
                </a:solidFill>
              </a:rPr>
              <a:t>Top 3 Defect Areas</a:t>
            </a:r>
            <a:endParaRPr lang="en-US" sz="634" dirty="0"/>
          </a:p>
        </p:txBody>
      </p:sp>
      <p:sp>
        <p:nvSpPr>
          <p:cNvPr id="8" name="Text 5"/>
          <p:cNvSpPr/>
          <p:nvPr/>
        </p:nvSpPr>
        <p:spPr>
          <a:xfrm>
            <a:off x="428625" y="1421606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1</a:t>
            </a:r>
            <a:endParaRPr lang="en-US" sz="1397" dirty="0"/>
          </a:p>
        </p:txBody>
      </p:sp>
      <p:sp>
        <p:nvSpPr>
          <p:cNvPr id="9" name="Text 6"/>
          <p:cNvSpPr/>
          <p:nvPr/>
        </p:nvSpPr>
        <p:spPr>
          <a:xfrm>
            <a:off x="828675" y="1421606"/>
            <a:ext cx="32367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Name Fields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828675" y="1605558"/>
            <a:ext cx="3236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16</a:t>
            </a:r>
            <a:endParaRPr lang="en-US" sz="1193" dirty="0"/>
          </a:p>
        </p:txBody>
      </p:sp>
      <p:sp>
        <p:nvSpPr>
          <p:cNvPr id="11" name="Text 8"/>
          <p:cNvSpPr/>
          <p:nvPr/>
        </p:nvSpPr>
        <p:spPr>
          <a:xfrm>
            <a:off x="828675" y="1777008"/>
            <a:ext cx="32367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A4A4A"/>
                </a:solidFill>
              </a:rPr>
              <a:t>34.8% of all defects</a:t>
            </a:r>
            <a:endParaRPr lang="en-US" sz="634" dirty="0"/>
          </a:p>
        </p:txBody>
      </p:sp>
      <p:sp>
        <p:nvSpPr>
          <p:cNvPr id="12" name="Text 9"/>
          <p:cNvSpPr/>
          <p:nvPr/>
        </p:nvSpPr>
        <p:spPr>
          <a:xfrm>
            <a:off x="428625" y="2075259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2</a:t>
            </a:r>
            <a:endParaRPr lang="en-US" sz="1397" dirty="0"/>
          </a:p>
        </p:txBody>
      </p:sp>
      <p:sp>
        <p:nvSpPr>
          <p:cNvPr id="13" name="Text 10"/>
          <p:cNvSpPr/>
          <p:nvPr/>
        </p:nvSpPr>
        <p:spPr>
          <a:xfrm>
            <a:off x="828675" y="2075259"/>
            <a:ext cx="32367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Password Fields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828675" y="2259211"/>
            <a:ext cx="3236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6</a:t>
            </a:r>
            <a:endParaRPr lang="en-US" sz="1193" dirty="0"/>
          </a:p>
        </p:txBody>
      </p:sp>
      <p:sp>
        <p:nvSpPr>
          <p:cNvPr id="15" name="Text 12"/>
          <p:cNvSpPr/>
          <p:nvPr/>
        </p:nvSpPr>
        <p:spPr>
          <a:xfrm>
            <a:off x="828675" y="2430661"/>
            <a:ext cx="32367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A4A4A"/>
                </a:solidFill>
              </a:rPr>
              <a:t>13.0% of all defects</a:t>
            </a:r>
            <a:endParaRPr lang="en-US" sz="634" dirty="0"/>
          </a:p>
        </p:txBody>
      </p:sp>
      <p:sp>
        <p:nvSpPr>
          <p:cNvPr id="16" name="Text 13"/>
          <p:cNvSpPr/>
          <p:nvPr/>
        </p:nvSpPr>
        <p:spPr>
          <a:xfrm>
            <a:off x="428625" y="2728913"/>
            <a:ext cx="285750" cy="27324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E63946"/>
                </a:solidFill>
              </a:rPr>
              <a:t>3</a:t>
            </a:r>
            <a:endParaRPr lang="en-US" sz="1397" dirty="0"/>
          </a:p>
        </p:txBody>
      </p:sp>
      <p:sp>
        <p:nvSpPr>
          <p:cNvPr id="17" name="Text 14"/>
          <p:cNvSpPr/>
          <p:nvPr/>
        </p:nvSpPr>
        <p:spPr>
          <a:xfrm>
            <a:off x="828675" y="2728913"/>
            <a:ext cx="323676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SSN Field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828675" y="2912864"/>
            <a:ext cx="323676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93" b="1" dirty="0">
                <a:solidFill>
                  <a:srgbClr val="E63946"/>
                </a:solidFill>
              </a:rPr>
              <a:t>5</a:t>
            </a:r>
            <a:endParaRPr lang="en-US" sz="1193" dirty="0"/>
          </a:p>
        </p:txBody>
      </p:sp>
      <p:sp>
        <p:nvSpPr>
          <p:cNvPr id="19" name="Text 16"/>
          <p:cNvSpPr/>
          <p:nvPr/>
        </p:nvSpPr>
        <p:spPr>
          <a:xfrm>
            <a:off x="828675" y="3084314"/>
            <a:ext cx="3236761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4A4A4A"/>
                </a:solidFill>
              </a:rPr>
              <a:t>10.9% of all defects</a:t>
            </a:r>
            <a:endParaRPr lang="en-US" sz="634" dirty="0"/>
          </a:p>
        </p:txBody>
      </p:sp>
      <p:sp>
        <p:nvSpPr>
          <p:cNvPr id="20" name="Shape 17"/>
          <p:cNvSpPr/>
          <p:nvPr/>
        </p:nvSpPr>
        <p:spPr>
          <a:xfrm>
            <a:off x="428625" y="3554016"/>
            <a:ext cx="3636811" cy="54861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21" name="Shape 18"/>
          <p:cNvSpPr/>
          <p:nvPr/>
        </p:nvSpPr>
        <p:spPr>
          <a:xfrm>
            <a:off x="428625" y="3554016"/>
            <a:ext cx="28575" cy="548618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22" name="Text 19"/>
          <p:cNvSpPr/>
          <p:nvPr/>
        </p:nvSpPr>
        <p:spPr>
          <a:xfrm>
            <a:off x="428625" y="3554016"/>
            <a:ext cx="3636811" cy="548618"/>
          </a:xfrm>
          <a:prstGeom prst="rect">
            <a:avLst/>
          </a:prstGeom>
          <a:noFill/>
          <a:ln/>
        </p:spPr>
        <p:txBody>
          <a:bodyPr wrap="square" lIns="170053" tIns="136017" rIns="136017" bIns="136017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Over one-third of all defects are concentrated in the Name fields, primarily related to character validation and length constraints.</a:t>
            </a:r>
            <a:endParaRPr lang="en-US" sz="727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1186" y="1044773"/>
            <a:ext cx="4364189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30461"/>
            <a:ext cx="9144000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Defect Analysis: Priority and Severity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5439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All Defects are High or Medium Priority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28625" y="1009055"/>
            <a:ext cx="8286750" cy="180736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35769" y="1016198"/>
            <a:ext cx="1577876" cy="350044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5769" y="1016198"/>
            <a:ext cx="1577876" cy="350044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Priority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2013645" y="1016198"/>
            <a:ext cx="2289544" cy="350044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13645" y="1016198"/>
            <a:ext cx="2289544" cy="350044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Major Severity</a:t>
            </a:r>
            <a:endParaRPr lang="en-US" sz="683" dirty="0"/>
          </a:p>
        </p:txBody>
      </p:sp>
      <p:sp>
        <p:nvSpPr>
          <p:cNvPr id="12" name="Shape 9"/>
          <p:cNvSpPr/>
          <p:nvPr/>
        </p:nvSpPr>
        <p:spPr>
          <a:xfrm>
            <a:off x="4293589" y="1016198"/>
            <a:ext cx="2307906" cy="350044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93589" y="1016198"/>
            <a:ext cx="2307906" cy="350044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Minor Severity</a:t>
            </a:r>
            <a:endParaRPr lang="en-US" sz="683" dirty="0"/>
          </a:p>
        </p:txBody>
      </p:sp>
      <p:sp>
        <p:nvSpPr>
          <p:cNvPr id="14" name="Shape 11"/>
          <p:cNvSpPr/>
          <p:nvPr/>
        </p:nvSpPr>
        <p:spPr>
          <a:xfrm>
            <a:off x="6592258" y="1016198"/>
            <a:ext cx="2115973" cy="350044"/>
          </a:xfrm>
          <a:prstGeom prst="rect">
            <a:avLst/>
          </a:prstGeom>
          <a:solidFill>
            <a:srgbClr val="1A1A1A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92258" y="1016198"/>
            <a:ext cx="2115973" cy="350044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683" b="1" dirty="0">
                <a:solidFill>
                  <a:srgbClr val="FFFFFF"/>
                </a:solidFill>
              </a:rPr>
              <a:t>Total Defects</a:t>
            </a:r>
            <a:endParaRPr lang="en-US" sz="683" dirty="0"/>
          </a:p>
        </p:txBody>
      </p:sp>
      <p:sp>
        <p:nvSpPr>
          <p:cNvPr id="16" name="Shape 13"/>
          <p:cNvSpPr/>
          <p:nvPr/>
        </p:nvSpPr>
        <p:spPr>
          <a:xfrm>
            <a:off x="435769" y="1351955"/>
            <a:ext cx="1598749" cy="360759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35769" y="1351955"/>
            <a:ext cx="1598749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High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2034518" y="1351955"/>
            <a:ext cx="2283349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2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4317867" y="1351955"/>
            <a:ext cx="2296883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0</a:t>
            </a:r>
            <a:endParaRPr lang="en-US" sz="734" dirty="0"/>
          </a:p>
        </p:txBody>
      </p:sp>
      <p:sp>
        <p:nvSpPr>
          <p:cNvPr id="20" name="Text 17"/>
          <p:cNvSpPr/>
          <p:nvPr/>
        </p:nvSpPr>
        <p:spPr>
          <a:xfrm>
            <a:off x="6614750" y="1351955"/>
            <a:ext cx="2093482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2</a:t>
            </a:r>
            <a:endParaRPr lang="en-US" sz="734" dirty="0"/>
          </a:p>
        </p:txBody>
      </p:sp>
      <p:sp>
        <p:nvSpPr>
          <p:cNvPr id="21" name="Shape 18"/>
          <p:cNvSpPr/>
          <p:nvPr/>
        </p:nvSpPr>
        <p:spPr>
          <a:xfrm>
            <a:off x="435769" y="1712714"/>
            <a:ext cx="1598749" cy="360759"/>
          </a:xfrm>
          <a:prstGeom prst="rect">
            <a:avLst/>
          </a:prstGeom>
          <a:solidFill>
            <a:srgbClr val="FFE8E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5769" y="1712714"/>
            <a:ext cx="1598749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Medium</a:t>
            </a:r>
            <a:endParaRPr lang="en-US" sz="734" dirty="0"/>
          </a:p>
        </p:txBody>
      </p:sp>
      <p:sp>
        <p:nvSpPr>
          <p:cNvPr id="23" name="Shape 20"/>
          <p:cNvSpPr/>
          <p:nvPr/>
        </p:nvSpPr>
        <p:spPr>
          <a:xfrm>
            <a:off x="2019784" y="1712714"/>
            <a:ext cx="2288400" cy="360759"/>
          </a:xfrm>
          <a:prstGeom prst="rect">
            <a:avLst/>
          </a:prstGeom>
          <a:solidFill>
            <a:srgbClr val="FFF5F5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019784" y="1712714"/>
            <a:ext cx="2288400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16</a:t>
            </a:r>
            <a:endParaRPr lang="en-US" sz="734" dirty="0"/>
          </a:p>
        </p:txBody>
      </p:sp>
      <p:sp>
        <p:nvSpPr>
          <p:cNvPr id="25" name="Shape 22"/>
          <p:cNvSpPr/>
          <p:nvPr/>
        </p:nvSpPr>
        <p:spPr>
          <a:xfrm>
            <a:off x="4298417" y="1712714"/>
            <a:ext cx="2307041" cy="360759"/>
          </a:xfrm>
          <a:prstGeom prst="rect">
            <a:avLst/>
          </a:prstGeom>
          <a:solidFill>
            <a:srgbClr val="FFF5F5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98417" y="1712714"/>
            <a:ext cx="2307041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28</a:t>
            </a:r>
            <a:endParaRPr lang="en-US" sz="734" dirty="0"/>
          </a:p>
        </p:txBody>
      </p:sp>
      <p:sp>
        <p:nvSpPr>
          <p:cNvPr id="27" name="Shape 24"/>
          <p:cNvSpPr/>
          <p:nvPr/>
        </p:nvSpPr>
        <p:spPr>
          <a:xfrm>
            <a:off x="6605457" y="1712714"/>
            <a:ext cx="2102774" cy="360759"/>
          </a:xfrm>
          <a:prstGeom prst="rect">
            <a:avLst/>
          </a:prstGeom>
          <a:solidFill>
            <a:srgbClr val="FFF5F5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05457" y="1712714"/>
            <a:ext cx="2102774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E63946"/>
                </a:solidFill>
              </a:rPr>
              <a:t>44</a:t>
            </a:r>
            <a:endParaRPr lang="en-US" sz="734" dirty="0"/>
          </a:p>
        </p:txBody>
      </p:sp>
      <p:sp>
        <p:nvSpPr>
          <p:cNvPr id="29" name="Shape 26"/>
          <p:cNvSpPr/>
          <p:nvPr/>
        </p:nvSpPr>
        <p:spPr>
          <a:xfrm>
            <a:off x="435769" y="2073473"/>
            <a:ext cx="1569197" cy="360759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35769" y="2073473"/>
            <a:ext cx="1569197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Low</a:t>
            </a:r>
            <a:endParaRPr lang="en-US" sz="734" dirty="0"/>
          </a:p>
        </p:txBody>
      </p:sp>
      <p:sp>
        <p:nvSpPr>
          <p:cNvPr id="31" name="Text 28"/>
          <p:cNvSpPr/>
          <p:nvPr/>
        </p:nvSpPr>
        <p:spPr>
          <a:xfrm>
            <a:off x="2004966" y="2073473"/>
            <a:ext cx="2293451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A4A4A"/>
                </a:solidFill>
              </a:rPr>
              <a:t>0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4298417" y="2073473"/>
            <a:ext cx="2307041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A4A4A"/>
                </a:solidFill>
              </a:rPr>
              <a:t>0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6605457" y="2073473"/>
            <a:ext cx="2102774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4A4A4A"/>
                </a:solidFill>
              </a:rPr>
              <a:t>0</a:t>
            </a:r>
            <a:endParaRPr lang="en-US" sz="734" dirty="0"/>
          </a:p>
        </p:txBody>
      </p:sp>
      <p:sp>
        <p:nvSpPr>
          <p:cNvPr id="34" name="Shape 31"/>
          <p:cNvSpPr/>
          <p:nvPr/>
        </p:nvSpPr>
        <p:spPr>
          <a:xfrm>
            <a:off x="435769" y="2434233"/>
            <a:ext cx="1569197" cy="360759"/>
          </a:xfrm>
          <a:prstGeom prst="rect">
            <a:avLst/>
          </a:prstGeom>
          <a:solidFill>
            <a:srgbClr val="F8F8F8"/>
          </a:solidFill>
          <a:ln w="18288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35769" y="2434233"/>
            <a:ext cx="1569197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1A1A1A"/>
                </a:solidFill>
              </a:rPr>
              <a:t>Total</a:t>
            </a:r>
            <a:endParaRPr lang="en-US" sz="734" dirty="0"/>
          </a:p>
        </p:txBody>
      </p:sp>
      <p:sp>
        <p:nvSpPr>
          <p:cNvPr id="36" name="Text 33"/>
          <p:cNvSpPr/>
          <p:nvPr/>
        </p:nvSpPr>
        <p:spPr>
          <a:xfrm>
            <a:off x="1999190" y="2434233"/>
            <a:ext cx="2295432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18</a:t>
            </a:r>
            <a:endParaRPr lang="en-US" sz="734" dirty="0"/>
          </a:p>
        </p:txBody>
      </p:sp>
      <p:sp>
        <p:nvSpPr>
          <p:cNvPr id="37" name="Text 34"/>
          <p:cNvSpPr/>
          <p:nvPr/>
        </p:nvSpPr>
        <p:spPr>
          <a:xfrm>
            <a:off x="4294622" y="2434233"/>
            <a:ext cx="2309050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28</a:t>
            </a:r>
            <a:endParaRPr lang="en-US" sz="734" dirty="0"/>
          </a:p>
        </p:txBody>
      </p:sp>
      <p:sp>
        <p:nvSpPr>
          <p:cNvPr id="38" name="Text 35"/>
          <p:cNvSpPr/>
          <p:nvPr/>
        </p:nvSpPr>
        <p:spPr>
          <a:xfrm>
            <a:off x="6603671" y="2434233"/>
            <a:ext cx="2104560" cy="360759"/>
          </a:xfrm>
          <a:prstGeom prst="rect">
            <a:avLst/>
          </a:prstGeom>
          <a:noFill/>
          <a:ln/>
        </p:spPr>
        <p:txBody>
          <a:bodyPr wrap="square" lIns="102108" tIns="119126" rIns="102108" bIns="119126" rtlCol="0" anchor="ctr">
            <a:spAutoFit/>
          </a:bodyPr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734" b="1" dirty="0">
                <a:solidFill>
                  <a:srgbClr val="000000"/>
                </a:solidFill>
              </a:rPr>
              <a:t>46</a:t>
            </a:r>
            <a:endParaRPr lang="en-US" sz="734" dirty="0"/>
          </a:p>
        </p:txBody>
      </p:sp>
      <p:sp>
        <p:nvSpPr>
          <p:cNvPr id="39" name="Shape 36"/>
          <p:cNvSpPr/>
          <p:nvPr/>
        </p:nvSpPr>
        <p:spPr>
          <a:xfrm>
            <a:off x="428625" y="2980730"/>
            <a:ext cx="4071938" cy="1035453"/>
          </a:xfrm>
          <a:prstGeom prst="rect">
            <a:avLst/>
          </a:prstGeom>
          <a:solidFill>
            <a:srgbClr val="FFF5F5"/>
          </a:solidFill>
          <a:ln/>
        </p:spPr>
      </p:sp>
      <p:sp>
        <p:nvSpPr>
          <p:cNvPr id="40" name="Shape 37"/>
          <p:cNvSpPr/>
          <p:nvPr/>
        </p:nvSpPr>
        <p:spPr>
          <a:xfrm>
            <a:off x="428625" y="2980730"/>
            <a:ext cx="28575" cy="1035453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1" name="Text 38"/>
          <p:cNvSpPr/>
          <p:nvPr/>
        </p:nvSpPr>
        <p:spPr>
          <a:xfrm>
            <a:off x="542925" y="3095030"/>
            <a:ext cx="38433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E63946"/>
                </a:solidFill>
              </a:rPr>
              <a:t>High Priority Defects (2)</a:t>
            </a:r>
            <a:endParaRPr lang="en-US" sz="634" dirty="0"/>
          </a:p>
        </p:txBody>
      </p:sp>
      <p:sp>
        <p:nvSpPr>
          <p:cNvPr id="42" name="Text 39"/>
          <p:cNvSpPr/>
          <p:nvPr/>
        </p:nvSpPr>
        <p:spPr>
          <a:xfrm>
            <a:off x="542925" y="3293269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43" name="Text 40"/>
          <p:cNvSpPr/>
          <p:nvPr/>
        </p:nvSpPr>
        <p:spPr>
          <a:xfrm>
            <a:off x="671513" y="3303984"/>
            <a:ext cx="83512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Both classified as</a:t>
            </a:r>
            <a:endParaRPr lang="en-US" sz="727" dirty="0"/>
          </a:p>
        </p:txBody>
      </p:sp>
      <p:sp>
        <p:nvSpPr>
          <p:cNvPr id="44" name="Text 41"/>
          <p:cNvSpPr/>
          <p:nvPr/>
        </p:nvSpPr>
        <p:spPr>
          <a:xfrm>
            <a:off x="1363759" y="3310293"/>
            <a:ext cx="29255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Major</a:t>
            </a:r>
            <a:endParaRPr lang="en-US" sz="683" dirty="0"/>
          </a:p>
        </p:txBody>
      </p:sp>
      <p:sp>
        <p:nvSpPr>
          <p:cNvPr id="45" name="Text 42"/>
          <p:cNvSpPr/>
          <p:nvPr/>
        </p:nvSpPr>
        <p:spPr>
          <a:xfrm>
            <a:off x="1615213" y="3316752"/>
            <a:ext cx="3897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severity</a:t>
            </a:r>
            <a:endParaRPr lang="en-US" sz="727" dirty="0"/>
          </a:p>
        </p:txBody>
      </p:sp>
      <p:sp>
        <p:nvSpPr>
          <p:cNvPr id="46" name="Text 43"/>
          <p:cNvSpPr/>
          <p:nvPr/>
        </p:nvSpPr>
        <p:spPr>
          <a:xfrm>
            <a:off x="542925" y="3496140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47" name="Text 44"/>
          <p:cNvSpPr/>
          <p:nvPr/>
        </p:nvSpPr>
        <p:spPr>
          <a:xfrm>
            <a:off x="671513" y="3506856"/>
            <a:ext cx="207096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Blocking core functionality and critical paths</a:t>
            </a:r>
            <a:endParaRPr lang="en-US" sz="727" dirty="0"/>
          </a:p>
        </p:txBody>
      </p:sp>
      <p:sp>
        <p:nvSpPr>
          <p:cNvPr id="48" name="Text 45"/>
          <p:cNvSpPr/>
          <p:nvPr/>
        </p:nvSpPr>
        <p:spPr>
          <a:xfrm>
            <a:off x="542925" y="3699011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49" name="Text 46"/>
          <p:cNvSpPr/>
          <p:nvPr/>
        </p:nvSpPr>
        <p:spPr>
          <a:xfrm>
            <a:off x="671513" y="3709727"/>
            <a:ext cx="207246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Must be resolved before module integration</a:t>
            </a:r>
            <a:endParaRPr lang="en-US" sz="727" dirty="0"/>
          </a:p>
        </p:txBody>
      </p:sp>
      <p:sp>
        <p:nvSpPr>
          <p:cNvPr id="50" name="Shape 47"/>
          <p:cNvSpPr/>
          <p:nvPr/>
        </p:nvSpPr>
        <p:spPr>
          <a:xfrm>
            <a:off x="4643438" y="2980730"/>
            <a:ext cx="4071938" cy="1035453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51" name="Shape 48"/>
          <p:cNvSpPr/>
          <p:nvPr/>
        </p:nvSpPr>
        <p:spPr>
          <a:xfrm>
            <a:off x="4643438" y="2980730"/>
            <a:ext cx="28575" cy="1035453"/>
          </a:xfrm>
          <a:prstGeom prst="rect">
            <a:avLst/>
          </a:prstGeom>
          <a:solidFill>
            <a:srgbClr val="06A77D"/>
          </a:solidFill>
          <a:ln/>
        </p:spPr>
      </p:sp>
      <p:sp>
        <p:nvSpPr>
          <p:cNvPr id="52" name="Text 49"/>
          <p:cNvSpPr/>
          <p:nvPr/>
        </p:nvSpPr>
        <p:spPr>
          <a:xfrm>
            <a:off x="4757738" y="3095030"/>
            <a:ext cx="3843338" cy="12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34" b="1" dirty="0">
                <a:solidFill>
                  <a:srgbClr val="1A1A1A"/>
                </a:solidFill>
              </a:rPr>
              <a:t>Medium Priority Defects (44)</a:t>
            </a:r>
            <a:endParaRPr lang="en-US" sz="634" dirty="0"/>
          </a:p>
        </p:txBody>
      </p:sp>
      <p:sp>
        <p:nvSpPr>
          <p:cNvPr id="53" name="Text 50"/>
          <p:cNvSpPr/>
          <p:nvPr/>
        </p:nvSpPr>
        <p:spPr>
          <a:xfrm>
            <a:off x="4757738" y="3293269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6A77D"/>
                </a:solidFill>
              </a:rPr>
              <a:t>▸</a:t>
            </a:r>
            <a:endParaRPr lang="en-US" sz="683" dirty="0"/>
          </a:p>
        </p:txBody>
      </p:sp>
      <p:sp>
        <p:nvSpPr>
          <p:cNvPr id="54" name="Text 51"/>
          <p:cNvSpPr/>
          <p:nvPr/>
        </p:nvSpPr>
        <p:spPr>
          <a:xfrm>
            <a:off x="4886325" y="3303984"/>
            <a:ext cx="43297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16 Major</a:t>
            </a:r>
            <a:endParaRPr lang="en-US" sz="683" dirty="0"/>
          </a:p>
        </p:txBody>
      </p:sp>
      <p:sp>
        <p:nvSpPr>
          <p:cNvPr id="55" name="Text 52"/>
          <p:cNvSpPr/>
          <p:nvPr/>
        </p:nvSpPr>
        <p:spPr>
          <a:xfrm>
            <a:off x="5319303" y="3303984"/>
            <a:ext cx="756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severity defects</a:t>
            </a:r>
            <a:endParaRPr lang="en-US" sz="727" dirty="0"/>
          </a:p>
        </p:txBody>
      </p:sp>
      <p:sp>
        <p:nvSpPr>
          <p:cNvPr id="56" name="Text 53"/>
          <p:cNvSpPr/>
          <p:nvPr/>
        </p:nvSpPr>
        <p:spPr>
          <a:xfrm>
            <a:off x="4757738" y="3496140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6A77D"/>
                </a:solidFill>
              </a:rPr>
              <a:t>▸</a:t>
            </a:r>
            <a:endParaRPr lang="en-US" sz="683" dirty="0"/>
          </a:p>
        </p:txBody>
      </p:sp>
      <p:sp>
        <p:nvSpPr>
          <p:cNvPr id="57" name="Text 54"/>
          <p:cNvSpPr/>
          <p:nvPr/>
        </p:nvSpPr>
        <p:spPr>
          <a:xfrm>
            <a:off x="4886325" y="3506856"/>
            <a:ext cx="4382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28 Minor</a:t>
            </a:r>
            <a:endParaRPr lang="en-US" sz="683" dirty="0"/>
          </a:p>
        </p:txBody>
      </p:sp>
      <p:sp>
        <p:nvSpPr>
          <p:cNvPr id="58" name="Text 55"/>
          <p:cNvSpPr/>
          <p:nvPr/>
        </p:nvSpPr>
        <p:spPr>
          <a:xfrm>
            <a:off x="5324605" y="3506856"/>
            <a:ext cx="75651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severity defects</a:t>
            </a:r>
            <a:endParaRPr lang="en-US" sz="727" dirty="0"/>
          </a:p>
        </p:txBody>
      </p:sp>
      <p:sp>
        <p:nvSpPr>
          <p:cNvPr id="59" name="Text 56"/>
          <p:cNvSpPr/>
          <p:nvPr/>
        </p:nvSpPr>
        <p:spPr>
          <a:xfrm>
            <a:off x="4757738" y="3699011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06A77D"/>
                </a:solidFill>
              </a:rPr>
              <a:t>▸</a:t>
            </a:r>
            <a:endParaRPr lang="en-US" sz="683" dirty="0"/>
          </a:p>
        </p:txBody>
      </p:sp>
      <p:sp>
        <p:nvSpPr>
          <p:cNvPr id="60" name="Text 57"/>
          <p:cNvSpPr/>
          <p:nvPr/>
        </p:nvSpPr>
        <p:spPr>
          <a:xfrm>
            <a:off x="4886325" y="3709727"/>
            <a:ext cx="198917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Collectively impact overall module stability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85903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830461"/>
            <a:ext cx="9144000" cy="28575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Key Findings and Observations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28625" y="655439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63946"/>
                </a:solidFill>
              </a:rPr>
              <a:t>Systemic Failure in Input Validation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479861" y="1033741"/>
            <a:ext cx="8286750" cy="1166887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8" name="Shape 5"/>
          <p:cNvSpPr/>
          <p:nvPr/>
        </p:nvSpPr>
        <p:spPr>
          <a:xfrm>
            <a:off x="428625" y="1044773"/>
            <a:ext cx="35719" cy="1166887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9" name="Text 6"/>
          <p:cNvSpPr/>
          <p:nvPr/>
        </p:nvSpPr>
        <p:spPr>
          <a:xfrm>
            <a:off x="571500" y="1159073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1. Failure to Enforce Negative Scenarios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571500" y="1400175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714375" y="1410891"/>
            <a:ext cx="65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6235768" y="1410891"/>
            <a:ext cx="65" cy="148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683" dirty="0"/>
          </a:p>
        </p:txBody>
      </p:sp>
      <p:sp>
        <p:nvSpPr>
          <p:cNvPr id="13" name="Text 10"/>
          <p:cNvSpPr/>
          <p:nvPr/>
        </p:nvSpPr>
        <p:spPr>
          <a:xfrm>
            <a:off x="714375" y="1410891"/>
            <a:ext cx="7356639" cy="149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A significant number of failed test cases (e.g., TC_Reg_03, TC_Reg_04, TC_Reg_05) incorrectly allowed registration with invalid data (numbers in name, special characters)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571500" y="1674456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708418" y="1682066"/>
            <a:ext cx="5551200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The system displayed success message: “Your account was created successfully”. You are now logged in.' even when validation rules were violated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603116" y="1773771"/>
            <a:ext cx="68801" cy="182550"/>
          </a:xfrm>
          <a:prstGeom prst="rect">
            <a:avLst/>
          </a:prstGeom>
          <a:noFill/>
          <a:ln/>
        </p:spPr>
        <p:txBody>
          <a:bodyPr wrap="none" lIns="34036" tIns="17018" rIns="34036" bIns="17018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30766" y="1788058"/>
            <a:ext cx="65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27" dirty="0"/>
          </a:p>
        </p:txBody>
      </p:sp>
      <p:sp>
        <p:nvSpPr>
          <p:cNvPr id="19" name="Text 16"/>
          <p:cNvSpPr/>
          <p:nvPr/>
        </p:nvSpPr>
        <p:spPr>
          <a:xfrm>
            <a:off x="578072" y="1933316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708418" y="1928818"/>
            <a:ext cx="3165931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This indicates a complete bypass of validation logic or missing server-side validation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1459083" y="2005217"/>
            <a:ext cx="65" cy="148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3171099" y="2005217"/>
            <a:ext cx="65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27" dirty="0"/>
          </a:p>
        </p:txBody>
      </p:sp>
      <p:sp>
        <p:nvSpPr>
          <p:cNvPr id="23" name="Shape 20"/>
          <p:cNvSpPr/>
          <p:nvPr/>
        </p:nvSpPr>
        <p:spPr>
          <a:xfrm>
            <a:off x="428625" y="2340248"/>
            <a:ext cx="8286750" cy="100687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Shape 21"/>
          <p:cNvSpPr/>
          <p:nvPr/>
        </p:nvSpPr>
        <p:spPr>
          <a:xfrm>
            <a:off x="428625" y="2340248"/>
            <a:ext cx="35719" cy="100687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5" name="Text 22"/>
          <p:cNvSpPr/>
          <p:nvPr/>
        </p:nvSpPr>
        <p:spPr>
          <a:xfrm>
            <a:off x="571500" y="2454548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2. Critical Validation Failures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571500" y="2695649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714375" y="2706365"/>
            <a:ext cx="4490012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The SSN and Username validation logic is fundamentally flawed, leading to blocked test cases and High Priority defects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914205" y="2706365"/>
            <a:ext cx="65" cy="148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2357605" y="2706365"/>
            <a:ext cx="65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571500" y="2912808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714375" y="2923524"/>
            <a:ext cx="60365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Boundary Value Analysis (BVA) tests for minimum/maximum length constraints failed across multiple fields (Name, Address, City)</a:t>
            </a:r>
            <a:endParaRPr lang="en-US" sz="727" dirty="0"/>
          </a:p>
        </p:txBody>
      </p:sp>
      <p:sp>
        <p:nvSpPr>
          <p:cNvPr id="32" name="Text 29"/>
          <p:cNvSpPr/>
          <p:nvPr/>
        </p:nvSpPr>
        <p:spPr>
          <a:xfrm>
            <a:off x="571500" y="3129967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714375" y="3140683"/>
            <a:ext cx="437395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These failures directly impact the module's ability to enforce business rules and data integrity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428625" y="3475713"/>
            <a:ext cx="8286750" cy="100687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2"/>
          <p:cNvSpPr/>
          <p:nvPr/>
        </p:nvSpPr>
        <p:spPr>
          <a:xfrm>
            <a:off x="428625" y="3475713"/>
            <a:ext cx="35719" cy="100687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36" name="Text 33"/>
          <p:cNvSpPr/>
          <p:nvPr/>
        </p:nvSpPr>
        <p:spPr>
          <a:xfrm>
            <a:off x="571500" y="3590013"/>
            <a:ext cx="80010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1A1A"/>
                </a:solidFill>
              </a:rPr>
              <a:t>3. Inconsistent Error Handling</a:t>
            </a:r>
            <a:endParaRPr lang="en-US" sz="784" dirty="0"/>
          </a:p>
        </p:txBody>
      </p:sp>
      <p:sp>
        <p:nvSpPr>
          <p:cNvPr id="37" name="Text 34"/>
          <p:cNvSpPr/>
          <p:nvPr/>
        </p:nvSpPr>
        <p:spPr>
          <a:xfrm>
            <a:off x="571500" y="3831115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714375" y="3841831"/>
            <a:ext cx="608008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While some mandatory field checks passed (e.g., blank First Name), the system's response to other invalid inputs was inconsistent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571500" y="4048274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40" name="Text 37"/>
          <p:cNvSpPr/>
          <p:nvPr/>
        </p:nvSpPr>
        <p:spPr>
          <a:xfrm>
            <a:off x="714375" y="4058989"/>
            <a:ext cx="4912919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Some validation errors were properly caught, while others allowed invalid data to proceed to registration</a:t>
            </a:r>
            <a:endParaRPr lang="en-US" sz="727" dirty="0"/>
          </a:p>
        </p:txBody>
      </p:sp>
      <p:sp>
        <p:nvSpPr>
          <p:cNvPr id="41" name="Text 38"/>
          <p:cNvSpPr/>
          <p:nvPr/>
        </p:nvSpPr>
        <p:spPr>
          <a:xfrm>
            <a:off x="571500" y="4265433"/>
            <a:ext cx="50006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683" b="1" dirty="0">
                <a:solidFill>
                  <a:srgbClr val="E63946"/>
                </a:solidFill>
              </a:rPr>
              <a:t>▸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714375" y="4276148"/>
            <a:ext cx="4015523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4A4A4A"/>
                </a:solidFill>
              </a:rPr>
              <a:t>This inconsistency suggests partial or incomplete implementation of validation rules across different fields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2037448" y="4276148"/>
            <a:ext cx="65" cy="1481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683" dirty="0"/>
          </a:p>
        </p:txBody>
      </p:sp>
      <p:sp>
        <p:nvSpPr>
          <p:cNvPr id="44" name="Text 41"/>
          <p:cNvSpPr/>
          <p:nvPr/>
        </p:nvSpPr>
        <p:spPr>
          <a:xfrm>
            <a:off x="3879503" y="4276148"/>
            <a:ext cx="65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endParaRPr lang="en-US" sz="727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285750"/>
            <a:ext cx="828675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2332"/>
                </a:solidFill>
              </a:rPr>
              <a:t>Conclusion and Q&amp;A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428625" y="812602"/>
            <a:ext cx="285750" cy="28575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812602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857250" y="812602"/>
            <a:ext cx="627659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Module is NOT READY for Release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857250" y="1003697"/>
            <a:ext cx="6276594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The 43.21% pass rate and 91.3% critical/major defect concentration indicate fundamental instability requiring immediate remediation.</a:t>
            </a:r>
            <a:endParaRPr lang="en-US" sz="727" dirty="0"/>
          </a:p>
        </p:txBody>
      </p:sp>
      <p:sp>
        <p:nvSpPr>
          <p:cNvPr id="8" name="Shape 5"/>
          <p:cNvSpPr/>
          <p:nvPr/>
        </p:nvSpPr>
        <p:spPr>
          <a:xfrm>
            <a:off x="428625" y="1306581"/>
            <a:ext cx="285750" cy="28575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1306581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0" name="Text 7"/>
          <p:cNvSpPr/>
          <p:nvPr/>
        </p:nvSpPr>
        <p:spPr>
          <a:xfrm>
            <a:off x="857250" y="1306581"/>
            <a:ext cx="65925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Core Validation Logic is Fundamentally Flawed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857250" y="1497676"/>
            <a:ext cx="6592537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The system is accepting invalid data across multiple fields (names, addresses, passwords), posing significant security and data integrity risks.</a:t>
            </a:r>
            <a:endParaRPr lang="en-US" sz="727" dirty="0"/>
          </a:p>
        </p:txBody>
      </p:sp>
      <p:sp>
        <p:nvSpPr>
          <p:cNvPr id="12" name="Shape 9"/>
          <p:cNvSpPr/>
          <p:nvPr/>
        </p:nvSpPr>
        <p:spPr>
          <a:xfrm>
            <a:off x="428625" y="1800560"/>
            <a:ext cx="285750" cy="28575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1800560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857250" y="1800560"/>
            <a:ext cx="49333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1A2332"/>
                </a:solidFill>
              </a:rPr>
              <a:t>High-Priority Defects Demand Immediate Action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57250" y="1991655"/>
            <a:ext cx="3978653" cy="149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7" dirty="0">
                <a:solidFill>
                  <a:srgbClr val="2C3E50"/>
                </a:solidFill>
              </a:rPr>
              <a:t>All 41 Major and Minor defects must be resolved before proceeding with integration or release activities.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500063" y="4633452"/>
            <a:ext cx="2571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1A2332"/>
                </a:solidFill>
              </a:rPr>
              <a:t>Presenter</a:t>
            </a:r>
            <a:endParaRPr lang="en-US" sz="584" dirty="0"/>
          </a:p>
        </p:txBody>
      </p:sp>
      <p:sp>
        <p:nvSpPr>
          <p:cNvPr id="17" name="Text 14"/>
          <p:cNvSpPr/>
          <p:nvPr/>
        </p:nvSpPr>
        <p:spPr>
          <a:xfrm>
            <a:off x="500063" y="4776520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Mahmoud Sameeh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941964" y="4631315"/>
            <a:ext cx="2571750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4" b="1" kern="0" spc="1" dirty="0">
                <a:solidFill>
                  <a:srgbClr val="1A2332"/>
                </a:solidFill>
              </a:rPr>
              <a:t>Email</a:t>
            </a:r>
            <a:endParaRPr lang="en-US" sz="584" dirty="0"/>
          </a:p>
        </p:txBody>
      </p:sp>
      <p:sp>
        <p:nvSpPr>
          <p:cNvPr id="19" name="Text 16"/>
          <p:cNvSpPr/>
          <p:nvPr/>
        </p:nvSpPr>
        <p:spPr>
          <a:xfrm>
            <a:off x="5920939" y="4776521"/>
            <a:ext cx="257175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3" b="1" dirty="0">
                <a:solidFill>
                  <a:srgbClr val="2C3E50"/>
                </a:solidFill>
              </a:rPr>
              <a:t>mahmodesameeh11@gmail.com</a:t>
            </a:r>
            <a:endParaRPr lang="en-US" sz="683" dirty="0"/>
          </a:p>
        </p:txBody>
      </p:sp>
      <p:sp>
        <p:nvSpPr>
          <p:cNvPr id="20" name="Text 17"/>
          <p:cNvSpPr/>
          <p:nvPr/>
        </p:nvSpPr>
        <p:spPr>
          <a:xfrm>
            <a:off x="6143625" y="4652338"/>
            <a:ext cx="2571750" cy="308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endParaRPr lang="en-US" sz="83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690</Words>
  <Application>Microsoft Office PowerPoint</Application>
  <PresentationFormat>On-screen Show (16:9)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Baba</cp:lastModifiedBy>
  <cp:revision>8</cp:revision>
  <dcterms:created xsi:type="dcterms:W3CDTF">2025-11-27T20:36:20Z</dcterms:created>
  <dcterms:modified xsi:type="dcterms:W3CDTF">2025-11-28T20:42:55Z</dcterms:modified>
</cp:coreProperties>
</file>