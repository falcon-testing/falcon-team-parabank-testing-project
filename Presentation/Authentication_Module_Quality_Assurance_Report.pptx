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35"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0433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the findings from the functional testing of the Authentication Module, a core component of our platform. This analysis is critical because the module's stability directly impacts user access, data integrity, and our overall security posture. We have identified significant quality deficiencies that require immediate executive attention and resource allocation. The goal today is to move quickly through the data, highlight the most severe risks, and propose an actionable path forward. We must treat this report not as a routine update, but as an urgent security and stability briefing. The data we present will make it clear that the module is not ready for deployment. We will begin with a high-level summary of the findings and the objectives for this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finding is that the Authentication Module is currently in a state of critical quality deficit. We executed 77 test cases and observed a staggering 61.04% failure rate. This is unacceptable for a module handling user credentials. We identified 42 defects, and the severity distribution is highly concerning. Over 92% of these bugs are classified as Major, meaning they represent core functional failures. The most alarming finding is a systemic failure in input validation, where invalid data is often processed as a successful login or account creation. This bypasses security checks and creates a critical vulnerability. Our objectives are to present the data, detail the severity of these systemic defects, and provide clear, prioritized recommendations for immediate remediation. Let's look at the overall execution results to quantify this risk.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executive summary, this slide provides the hard metrics that underscore the severity of the problem. Out of 77 total test cases executed, only 30 passed, resulting in a 38.96% pass rate. This translates to a 61.04% failure rate, which is a clear indicator that the module is fundamentally unstable. We cannot move forward with a core component failing three out of every five tests. The high failure count of 47 test cases confirms that the module is not meeting its basic functional requirements. This level of instability introduces significant operational risk and potential security exposure. We need to understand where this instability is concentrated, so let's break down the performance by the two core functionalities.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failure rate is driven by poor performance in both core components, as this breakdown clearly shows. The Login Functionality, which is the gateway to the system, has the lowest pass rate at only 35.0%. This means two-thirds of our login scenarios are failing. The Forgot Login Info functionality is only marginally better, with a 40.35% pass rate. Neither component is close to a deployable state. The fact that the Login module is the most unstable component is particularly concerning, as it is the first line of defense. The low pass rates in both areas suggest a common underlying issue, likely related to how input is handled across the module. To fully grasp the impact of these failures, we must examine the severity of the defects we found.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severity distribution of the 42 identified defects is perhaps the most critical data point in this report. An overwhelming 92.86% of the bugs, or 39 out of 42, are classified as Major severity. This is not a collection of cosmetic or minor usability issues. These are critical functional failures that severely impact system integrity and user experience. Only three defects were classified as Minor. The high concentration of Major defects means that the failures we are seeing are not isolated incidents but rather systemic flaws in the module's architecture or implementation. This confirms that the module is not just unstable, but critically flawed. We need to focus our resources on fixing these Major defects immediately, starting with the most critical systemic issue we uncovered.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shift our focus to the most critical finding of this entire review: a systemic defect in input validation. This is not just a functional bug; it is a critical security and data integrity flaw that compromises the entire authentication process. The evidence is alarming: in 45 out of 57 test cases for the Forgot Login Info module, the system failed to return the expected error message for invalid data. Instead, it returned a success message, often stating, "Your account was created successfully. You are now logged in." This means that when we submit malformed data—like numbers in a name field or special characters in an address—the system bypasses all validation checks and treats the submission as a successful account creation or login event. This is a fundamental failure of security architecture. It allows unauthorized or malformed credentials to gain access or trigger incorrect system responses, posing an unacceptable risk to our user data and system integrity. We must treat this systemic failure as the highest priority for immediate resolution. Now, let's look at the specific defects found within the Login functionality.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systemic failure we just discussed, let's examine the specific defects found within the Login functionality, which currently has a pass rate of only 35.0%. We identified 10 Major bugs here, all pointing to a fundamentally broken input validation process. For example, the system fails to enforce basic boundary conditions, accepting usernames as short as one character and passwords with incorrect length boundaries. We also found that invalid characters, such as spaces and special characters, are accepted in the Username field, which can lead to unexpected success or system instability. Furthermore, the system incorrectly handles invalid usernames, returning an error that suggests the username already exists instead of correctly stating that the credentials could not be verified. This lack of robust validation means the module is highly susceptible to unauthorized access and data corruption. This poor performance is mirrored in the password recovery mechanism, which we'll review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poor performance we saw in the Login module is unfortunately mirrored, and amplified, in the Forgot Login Info functionality, which has a pass rate of only 40.35%. This module contains 32 bugs, with over 90% classified as Major severity. The core issue is the systemic success-on-failure problem we highlighted earlier. Invalid data in fields like Name, Address, and SSN consistently results in a success message instead of the required error. Specifically, we found that name fields accept numbers and special characters, and address fields fail to enforce length boundaries. Even critical fields like ZIP Code and SSN fail to enforce correct format and length validation. This means the password recovery mechanism is completely non-functional from a validation perspective. It poses a significant risk to data quality and security by treating invalid submissions as successful account creation events. We must move quickly to define the path forward to remediate these critical issues.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6452" y="841772"/>
            <a:ext cx="6751097" cy="179070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196452" y="2701528"/>
            <a:ext cx="6751097"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0893811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6966751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492920"/>
            <a:ext cx="7300134" cy="2139553"/>
          </a:xfrm>
        </p:spPr>
        <p:txBody>
          <a:bodyPr anchor="b">
            <a:normAutofit/>
          </a:bodyPr>
          <a:lstStyle>
            <a:lvl1pPr>
              <a:defRPr sz="2550"/>
            </a:lvl1pPr>
          </a:lstStyle>
          <a:p>
            <a:r>
              <a:rPr lang="en-US"/>
              <a:t>Click to edit Master title style</a:t>
            </a:r>
            <a:endParaRPr lang="en-US" dirty="0"/>
          </a:p>
        </p:txBody>
      </p:sp>
      <p:sp>
        <p:nvSpPr>
          <p:cNvPr id="3" name="Text Placeholder 2"/>
          <p:cNvSpPr>
            <a:spLocks noGrp="1"/>
          </p:cNvSpPr>
          <p:nvPr>
            <p:ph type="body" idx="1"/>
          </p:nvPr>
        </p:nvSpPr>
        <p:spPr>
          <a:xfrm>
            <a:off x="921933" y="2701529"/>
            <a:ext cx="7300134" cy="1125140"/>
          </a:xfrm>
        </p:spPr>
        <p:txBody>
          <a:bodyPr/>
          <a:lstStyle>
            <a:lvl1pPr marL="0" indent="0" algn="ctr">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296191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7765321" cy="99474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1566240"/>
            <a:ext cx="3829503" cy="2777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1566240"/>
            <a:ext cx="3820616" cy="2777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0223736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1"/>
            <a:ext cx="7765321"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6354" y="1566240"/>
            <a:ext cx="3659399" cy="617934"/>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85346" y="2184174"/>
            <a:ext cx="3830406" cy="21592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1502" y="1566240"/>
            <a:ext cx="3649166" cy="617934"/>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184174"/>
            <a:ext cx="3821518" cy="21592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915471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6016073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33406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457200"/>
            <a:ext cx="2949178" cy="1771650"/>
          </a:xfrm>
        </p:spPr>
        <p:txBody>
          <a:bodyPr anchor="b">
            <a:normAutofit/>
          </a:bodyPr>
          <a:lstStyle>
            <a:lvl1pPr>
              <a:defRPr sz="2100"/>
            </a:lvl1pPr>
          </a:lstStyle>
          <a:p>
            <a:r>
              <a:rPr lang="en-US"/>
              <a:t>Click to edit Master title style</a:t>
            </a:r>
            <a:endParaRPr lang="en-US" dirty="0"/>
          </a:p>
        </p:txBody>
      </p:sp>
      <p:sp>
        <p:nvSpPr>
          <p:cNvPr id="3" name="Content Placeholder 2"/>
          <p:cNvSpPr>
            <a:spLocks noGrp="1"/>
          </p:cNvSpPr>
          <p:nvPr>
            <p:ph idx="1"/>
          </p:nvPr>
        </p:nvSpPr>
        <p:spPr>
          <a:xfrm>
            <a:off x="3808548" y="457200"/>
            <a:ext cx="4642119" cy="38862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228850"/>
            <a:ext cx="2949178" cy="2114549"/>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438563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457200"/>
            <a:ext cx="4447330" cy="1771650"/>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3" y="569161"/>
            <a:ext cx="2441517" cy="3662279"/>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5" y="2228850"/>
            <a:ext cx="4451213" cy="2114550"/>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0148687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3217030"/>
            <a:ext cx="7775673" cy="614516"/>
          </a:xfrm>
        </p:spPr>
        <p:txBody>
          <a:bodyPr anchor="b">
            <a:normAutofit/>
          </a:bodyPr>
          <a:lstStyle>
            <a:lvl1pP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465991"/>
            <a:ext cx="7775673" cy="2534801"/>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74499" cy="511854"/>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347932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7201"/>
            <a:ext cx="7765322" cy="25686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7" y="3153615"/>
            <a:ext cx="7765321" cy="119414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913620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20109"/>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5" y="3153616"/>
            <a:ext cx="7765322" cy="1189785"/>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1" name="TextBox 10"/>
          <p:cNvSpPr txBox="1"/>
          <p:nvPr/>
        </p:nvSpPr>
        <p:spPr>
          <a:xfrm>
            <a:off x="627459" y="551431"/>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993467" y="222907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36989994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1595207"/>
            <a:ext cx="7766495"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487917"/>
            <a:ext cx="7765322"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535040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457201"/>
            <a:ext cx="7765322" cy="994172"/>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566240"/>
            <a:ext cx="2474217" cy="617479"/>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2183718"/>
            <a:ext cx="2474217"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3658" y="1566240"/>
            <a:ext cx="2473919" cy="617478"/>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3659" y="2183718"/>
            <a:ext cx="2474866"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9974" y="1566240"/>
            <a:ext cx="2468408" cy="617478"/>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82260" y="2183718"/>
            <a:ext cx="2468408"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5715637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457201"/>
            <a:ext cx="7765322" cy="99417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146924"/>
            <a:ext cx="2474216"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819015" y="1724240"/>
            <a:ext cx="2205038"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7" y="3579121"/>
            <a:ext cx="2474216" cy="76427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26" y="3146924"/>
            <a:ext cx="2474237"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1724240"/>
            <a:ext cx="2197894"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3579120"/>
            <a:ext cx="2475252" cy="76427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80067" y="3146924"/>
            <a:ext cx="2467425"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114603" y="1724240"/>
            <a:ext cx="2199085"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973" y="3579121"/>
            <a:ext cx="2470694" cy="76427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117534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5076152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57200"/>
            <a:ext cx="1906993"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457200"/>
            <a:ext cx="5744029" cy="3886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3003554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5961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2">
                <a:lumMod val="75000"/>
              </a:schemeClr>
            </a:gs>
            <a:gs pos="44000">
              <a:schemeClr val="bg2">
                <a:lumMod val="60000"/>
                <a:lumOff val="40000"/>
              </a:schemeClr>
            </a:gs>
            <a:gs pos="69000">
              <a:schemeClr val="accent3">
                <a:lumMod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457200"/>
            <a:ext cx="7765321" cy="9947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572048"/>
            <a:ext cx="7765322" cy="2771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smtClean="0"/>
              <a:pPr/>
              <a:t>11/28/2025</a:t>
            </a:fld>
            <a:endParaRPr lang="en-US" dirty="0"/>
          </a:p>
        </p:txBody>
      </p:sp>
      <p:sp>
        <p:nvSpPr>
          <p:cNvPr id="5" name="Footer Placeholder 4"/>
          <p:cNvSpPr>
            <a:spLocks noGrp="1"/>
          </p:cNvSpPr>
          <p:nvPr>
            <p:ph type="ftr" sz="quarter" idx="3"/>
          </p:nvPr>
        </p:nvSpPr>
        <p:spPr>
          <a:xfrm>
            <a:off x="685346" y="4412457"/>
            <a:ext cx="5004649" cy="273844"/>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13129978"/>
      </p:ext>
    </p:extLst>
  </p:cSld>
  <p:clrMap bg1="dk1" tx1="lt1" bg2="dk2" tx2="lt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48" r:id="rId13"/>
    <p:sldLayoutId id="2147483949" r:id="rId14"/>
    <p:sldLayoutId id="2147483950" r:id="rId15"/>
    <p:sldLayoutId id="2147483951" r:id="rId16"/>
    <p:sldLayoutId id="2147483952" r:id="rId17"/>
    <p:sldLayoutId id="2147483953" r:id="rId18"/>
  </p:sldLayoutIdLst>
  <p:hf sldNum="0" hdr="0" ftr="0" dt="0"/>
  <p:txStyles>
    <p:titleStyle>
      <a:lvl1pPr algn="ctr" defTabSz="685800" rtl="0" eaLnBrk="1" latinLnBrk="0" hangingPunct="1">
        <a:lnSpc>
          <a:spcPct val="90000"/>
        </a:lnSpc>
        <a:spcBef>
          <a:spcPct val="0"/>
        </a:spcBef>
        <a:buNone/>
        <a:defRPr sz="255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effectLst>
            <a:outerShdw blurRad="50800" dist="38100" dir="2700000" algn="tl" rotWithShape="0">
              <a:srgbClr val="000000">
                <a:alpha val="48000"/>
              </a:srgbClr>
            </a:outerShdw>
          </a:effectLst>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effectLst>
            <a:outerShdw blurRad="50800" dist="38100" dir="2700000" algn="tl" rotWithShape="0">
              <a:srgbClr val="000000">
                <a:alpha val="48000"/>
              </a:srgbClr>
            </a:outerShdw>
          </a:effectLst>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effectLst>
            <a:outerShdw blurRad="50800" dist="38100" dir="2700000" algn="tl" rotWithShape="0">
              <a:srgbClr val="000000">
                <a:alpha val="48000"/>
              </a:srgbClr>
            </a:outerShdw>
          </a:effectLst>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5pPr>
      <a:lvl6pPr marL="18859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2288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7pPr>
      <a:lvl8pPr marL="25717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8pPr>
      <a:lvl9pPr marL="29146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Shape 0"/>
          <p:cNvSpPr/>
          <p:nvPr/>
        </p:nvSpPr>
        <p:spPr>
          <a:xfrm>
            <a:off x="0" y="0"/>
            <a:ext cx="4572000" cy="5143500"/>
          </a:xfrm>
          <a:prstGeom prst="rect">
            <a:avLst/>
          </a:prstGeom>
          <a:solidFill>
            <a:srgbClr val="F5F5F5"/>
          </a:solidFill>
          <a:ln/>
        </p:spPr>
      </p:sp>
      <p:pic>
        <p:nvPicPr>
          <p:cNvPr id="5" name="Image 1" descr="preencoded.png"/>
          <p:cNvPicPr>
            <a:picLocks noChangeAspect="1"/>
          </p:cNvPicPr>
          <p:nvPr/>
        </p:nvPicPr>
        <p:blipFill>
          <a:blip r:embed="rId3"/>
          <a:stretch>
            <a:fillRect/>
          </a:stretch>
        </p:blipFill>
        <p:spPr>
          <a:xfrm>
            <a:off x="0" y="0"/>
            <a:ext cx="4572000" cy="5143500"/>
          </a:xfrm>
          <a:prstGeom prst="rect">
            <a:avLst/>
          </a:prstGeom>
        </p:spPr>
      </p:pic>
      <p:sp>
        <p:nvSpPr>
          <p:cNvPr id="6" name="Text 1"/>
          <p:cNvSpPr/>
          <p:nvPr/>
        </p:nvSpPr>
        <p:spPr>
          <a:xfrm>
            <a:off x="5000625" y="1366828"/>
            <a:ext cx="3714750" cy="1234390"/>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1A2332"/>
                </a:solidFill>
              </a:rPr>
              <a:t>Authentication Module Quality Assurance Report</a:t>
            </a:r>
            <a:endParaRPr lang="en-US" sz="2436" dirty="0"/>
          </a:p>
        </p:txBody>
      </p:sp>
      <p:sp>
        <p:nvSpPr>
          <p:cNvPr id="7" name="Text 2"/>
          <p:cNvSpPr/>
          <p:nvPr/>
        </p:nvSpPr>
        <p:spPr>
          <a:xfrm>
            <a:off x="5000625" y="2815530"/>
            <a:ext cx="3714750" cy="260021"/>
          </a:xfrm>
          <a:prstGeom prst="rect">
            <a:avLst/>
          </a:prstGeom>
          <a:noFill/>
          <a:ln/>
        </p:spPr>
        <p:txBody>
          <a:bodyPr wrap="none" lIns="0" tIns="0" rIns="0" bIns="0" rtlCol="0" anchor="t">
            <a:spAutoFit/>
          </a:bodyPr>
          <a:lstStyle/>
          <a:p>
            <a:pPr marL="0" indent="0" algn="l">
              <a:lnSpc>
                <a:spcPts val="2000"/>
              </a:lnSpc>
              <a:buNone/>
            </a:pPr>
            <a:r>
              <a:rPr lang="en-US" sz="1397" b="1" dirty="0">
                <a:solidFill>
                  <a:srgbClr val="DC2626"/>
                </a:solidFill>
              </a:rPr>
              <a:t>Analysis of Functional Testing Results</a:t>
            </a:r>
            <a:endParaRPr lang="en-US" sz="1397" dirty="0"/>
          </a:p>
        </p:txBody>
      </p:sp>
      <p:sp>
        <p:nvSpPr>
          <p:cNvPr id="8" name="Text 3"/>
          <p:cNvSpPr/>
          <p:nvPr/>
        </p:nvSpPr>
        <p:spPr>
          <a:xfrm>
            <a:off x="4915306" y="3267180"/>
            <a:ext cx="3714750" cy="600164"/>
          </a:xfrm>
          <a:prstGeom prst="rect">
            <a:avLst/>
          </a:prstGeom>
          <a:noFill/>
          <a:ln/>
        </p:spPr>
        <p:txBody>
          <a:bodyPr wrap="square" lIns="0" tIns="0" rIns="0" bIns="0" rtlCol="0" anchor="t">
            <a:spAutoFit/>
          </a:bodyPr>
          <a:lstStyle/>
          <a:p>
            <a:pPr marL="0" indent="0" algn="l">
              <a:lnSpc>
                <a:spcPts val="1600"/>
              </a:lnSpc>
              <a:buNone/>
            </a:pPr>
            <a:r>
              <a:rPr lang="en-US" sz="1200" dirty="0">
                <a:solidFill>
                  <a:schemeClr val="bg1"/>
                </a:solidFill>
              </a:rPr>
              <a:t>Identifying Critical Defects and Recommending Corrective Actions for Executive Review
Prepered by :Kerolos George Attia</a:t>
            </a:r>
          </a:p>
        </p:txBody>
      </p:sp>
      <p:sp>
        <p:nvSpPr>
          <p:cNvPr id="9" name="Text 4"/>
          <p:cNvSpPr/>
          <p:nvPr/>
        </p:nvSpPr>
        <p:spPr>
          <a:xfrm>
            <a:off x="5000625" y="4192767"/>
            <a:ext cx="1902572" cy="153696"/>
          </a:xfrm>
          <a:prstGeom prst="rect">
            <a:avLst/>
          </a:prstGeom>
          <a:noFill/>
          <a:ln/>
        </p:spPr>
        <p:txBody>
          <a:bodyPr wrap="none" lIns="0" tIns="0" rIns="0" bIns="0" rtlCol="0" anchor="t">
            <a:spAutoFit/>
          </a:bodyPr>
          <a:lstStyle/>
          <a:p>
            <a:pPr marL="0" indent="0" algn="l">
              <a:lnSpc>
                <a:spcPts val="1100"/>
              </a:lnSpc>
              <a:buNone/>
            </a:pPr>
            <a:r>
              <a:rPr lang="en-US" sz="1600" b="1" dirty="0">
                <a:solidFill>
                  <a:schemeClr val="bg1"/>
                </a:solidFill>
              </a:rPr>
              <a:t>November 28, 2025</a:t>
            </a:r>
            <a:endParaRPr lang="en-US" sz="1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p:nvPr/>
        </p:nvSpPr>
        <p:spPr>
          <a:xfrm>
            <a:off x="428625" y="724477"/>
            <a:ext cx="48863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2332"/>
                </a:solidFill>
              </a:rPr>
              <a:t>Executive Summary &amp; Presentation Objectives</a:t>
            </a:r>
            <a:endParaRPr lang="en-US" sz="1602" dirty="0"/>
          </a:p>
        </p:txBody>
      </p:sp>
      <p:sp>
        <p:nvSpPr>
          <p:cNvPr id="5" name="Shape 1"/>
          <p:cNvSpPr/>
          <p:nvPr/>
        </p:nvSpPr>
        <p:spPr>
          <a:xfrm>
            <a:off x="420633" y="3203826"/>
            <a:ext cx="4751441" cy="1312943"/>
          </a:xfrm>
          <a:prstGeom prst="rect">
            <a:avLst/>
          </a:prstGeom>
          <a:solidFill>
            <a:schemeClr val="tx1"/>
          </a:solidFill>
          <a:ln/>
        </p:spPr>
      </p:sp>
      <p:sp>
        <p:nvSpPr>
          <p:cNvPr id="6" name="Shape 2"/>
          <p:cNvSpPr/>
          <p:nvPr/>
        </p:nvSpPr>
        <p:spPr>
          <a:xfrm>
            <a:off x="367682" y="3207658"/>
            <a:ext cx="28575" cy="1312943"/>
          </a:xfrm>
          <a:prstGeom prst="rect">
            <a:avLst/>
          </a:prstGeom>
          <a:solidFill>
            <a:srgbClr val="DC2626"/>
          </a:solidFill>
          <a:ln/>
        </p:spPr>
      </p:sp>
      <p:sp>
        <p:nvSpPr>
          <p:cNvPr id="7" name="Text 3"/>
          <p:cNvSpPr/>
          <p:nvPr/>
        </p:nvSpPr>
        <p:spPr>
          <a:xfrm>
            <a:off x="494373" y="3419896"/>
            <a:ext cx="4686300" cy="900183"/>
          </a:xfrm>
          <a:prstGeom prst="rect">
            <a:avLst/>
          </a:prstGeom>
          <a:noFill/>
          <a:ln/>
        </p:spPr>
        <p:txBody>
          <a:bodyPr wrap="square" lIns="0" tIns="0" rIns="0" bIns="0" rtlCol="0" anchor="t">
            <a:spAutoFit/>
          </a:bodyPr>
          <a:lstStyle/>
          <a:p>
            <a:pPr marL="0" indent="0" algn="l">
              <a:lnSpc>
                <a:spcPts val="1400"/>
              </a:lnSpc>
              <a:buNone/>
            </a:pPr>
            <a:r>
              <a:rPr lang="en-US" sz="1400" b="0" i="0" dirty="0">
                <a:solidFill>
                  <a:srgbClr val="4A5568"/>
                </a:solidFill>
                <a:effectLst/>
                <a:latin typeface="Inter"/>
              </a:rPr>
              <a:t>The functional testing of the Authentication Module (Login and Forgot Login Info) revealed a </a:t>
            </a:r>
            <a:r>
              <a:rPr lang="en-US" sz="1400" b="1" i="0" dirty="0">
                <a:solidFill>
                  <a:srgbClr val="4A5568"/>
                </a:solidFill>
                <a:effectLst/>
                <a:latin typeface="Inter"/>
              </a:rPr>
              <a:t>critical quality deficit</a:t>
            </a:r>
            <a:r>
              <a:rPr lang="en-US" sz="1400" b="0" i="0" dirty="0">
                <a:solidFill>
                  <a:srgbClr val="4A5568"/>
                </a:solidFill>
                <a:effectLst/>
                <a:latin typeface="Inter"/>
              </a:rPr>
              <a:t>. The module exhibits an overall test case failure rate of </a:t>
            </a:r>
            <a:r>
              <a:rPr lang="en-US" sz="1400" b="1" i="0" dirty="0">
                <a:solidFill>
                  <a:srgbClr val="DC2626"/>
                </a:solidFill>
                <a:effectLst/>
                <a:latin typeface="Inter"/>
              </a:rPr>
              <a:t>61.04%</a:t>
            </a:r>
            <a:r>
              <a:rPr lang="en-US" sz="1400" b="0" i="0" dirty="0">
                <a:solidFill>
                  <a:srgbClr val="4A5568"/>
                </a:solidFill>
                <a:effectLst/>
                <a:latin typeface="Inter"/>
              </a:rPr>
              <a:t>, with a total of </a:t>
            </a:r>
            <a:r>
              <a:rPr lang="en-US" sz="1400" b="1" i="0" dirty="0">
                <a:solidFill>
                  <a:srgbClr val="DC2626"/>
                </a:solidFill>
                <a:effectLst/>
                <a:latin typeface="Inter"/>
              </a:rPr>
              <a:t>42 defects</a:t>
            </a:r>
            <a:r>
              <a:rPr lang="en-US" sz="1400" b="0" i="0" dirty="0">
                <a:solidFill>
                  <a:srgbClr val="4A5568"/>
                </a:solidFill>
                <a:effectLst/>
                <a:latin typeface="Inter"/>
              </a:rPr>
              <a:t> identified. All defects are classified as </a:t>
            </a:r>
            <a:r>
              <a:rPr lang="en-US" sz="1400" b="1" i="0" dirty="0">
                <a:solidFill>
                  <a:srgbClr val="4A5568"/>
                </a:solidFill>
                <a:effectLst/>
                <a:latin typeface="Inter"/>
              </a:rPr>
              <a:t>Major</a:t>
            </a:r>
            <a:r>
              <a:rPr lang="en-US" sz="1400" b="0" i="0" dirty="0">
                <a:solidFill>
                  <a:srgbClr val="4A5568"/>
                </a:solidFill>
                <a:effectLst/>
                <a:latin typeface="Inter"/>
              </a:rPr>
              <a:t> or </a:t>
            </a:r>
            <a:r>
              <a:rPr lang="en-US" sz="1400" b="1" i="0" dirty="0">
                <a:solidFill>
                  <a:srgbClr val="4A5568"/>
                </a:solidFill>
                <a:effectLst/>
                <a:latin typeface="Inter"/>
              </a:rPr>
              <a:t>Minor</a:t>
            </a:r>
            <a:r>
              <a:rPr lang="en-US" sz="1400" b="0" i="0" dirty="0">
                <a:solidFill>
                  <a:srgbClr val="4A5568"/>
                </a:solidFill>
                <a:effectLst/>
                <a:latin typeface="Inter"/>
              </a:rPr>
              <a:t> severity, with </a:t>
            </a:r>
            <a:r>
              <a:rPr lang="en-US" sz="1400" b="1" i="0" dirty="0">
                <a:solidFill>
                  <a:srgbClr val="DC2626"/>
                </a:solidFill>
                <a:effectLst/>
                <a:latin typeface="Inter"/>
              </a:rPr>
              <a:t>92.86%</a:t>
            </a:r>
            <a:r>
              <a:rPr lang="en-US" sz="1400" b="0" i="0" dirty="0">
                <a:solidFill>
                  <a:srgbClr val="4A5568"/>
                </a:solidFill>
                <a:effectLst/>
                <a:latin typeface="Inter"/>
              </a:rPr>
              <a:t> being </a:t>
            </a:r>
            <a:r>
              <a:rPr lang="en-US" sz="1400" b="1" i="0" dirty="0">
                <a:solidFill>
                  <a:srgbClr val="4A5568"/>
                </a:solidFill>
                <a:effectLst/>
                <a:latin typeface="Inter"/>
              </a:rPr>
              <a:t>Major</a:t>
            </a:r>
            <a:r>
              <a:rPr lang="en-US" sz="1400" b="0" i="0" dirty="0">
                <a:solidFill>
                  <a:srgbClr val="4A5568"/>
                </a:solidFill>
                <a:effectLst/>
                <a:latin typeface="Inter"/>
              </a:rPr>
              <a:t>.</a:t>
            </a:r>
            <a:endParaRPr lang="en-US" sz="1400" dirty="0"/>
          </a:p>
        </p:txBody>
      </p:sp>
      <p:sp>
        <p:nvSpPr>
          <p:cNvPr id="8" name="Shape 4"/>
          <p:cNvSpPr/>
          <p:nvPr/>
        </p:nvSpPr>
        <p:spPr>
          <a:xfrm>
            <a:off x="467023" y="1321784"/>
            <a:ext cx="4886325" cy="1768788"/>
          </a:xfrm>
          <a:prstGeom prst="rect">
            <a:avLst/>
          </a:prstGeom>
          <a:solidFill>
            <a:schemeClr val="tx1"/>
          </a:solidFill>
          <a:ln/>
        </p:spPr>
        <p:txBody>
          <a:bodyPr/>
          <a:lstStyle/>
          <a:p>
            <a:pPr marL="0" indent="0" algn="l">
              <a:lnSpc>
                <a:spcPts val="1400"/>
              </a:lnSpc>
              <a:buNone/>
            </a:pPr>
            <a:r>
              <a:rPr lang="en-US" sz="1200" b="1" i="0" dirty="0">
                <a:solidFill>
                  <a:srgbClr val="4A5568"/>
                </a:solidFill>
                <a:effectLst/>
                <a:latin typeface="Inter"/>
              </a:rPr>
              <a:t>Objective </a:t>
            </a:r>
            <a:r>
              <a:rPr lang="en-US" sz="1200" b="0" i="0" dirty="0">
                <a:solidFill>
                  <a:srgbClr val="4A5568"/>
                </a:solidFill>
                <a:effectLst/>
                <a:latin typeface="Inter"/>
              </a:rPr>
              <a:t>The objective of testing the Authentication module is to ensure that all login and password recovery functionalities operate securely, accurately, and according to business requirements. This includes validating correct handling of registered and unregistered credentials, verifying system responses to blank or invalid inputs, ensuring secure session management, and confirming that password reset flows generate a valid temporary password within the required timeframe. The goal is to validate functional correctness, error handling, usability flows, and compliance with authentication standards. </a:t>
            </a:r>
            <a:endParaRPr lang="en-US" sz="1200" dirty="0"/>
          </a:p>
        </p:txBody>
      </p:sp>
      <p:sp>
        <p:nvSpPr>
          <p:cNvPr id="10" name="Text 6"/>
          <p:cNvSpPr/>
          <p:nvPr/>
        </p:nvSpPr>
        <p:spPr>
          <a:xfrm>
            <a:off x="467693" y="1563297"/>
            <a:ext cx="65" cy="251992"/>
          </a:xfrm>
          <a:prstGeom prst="rect">
            <a:avLst/>
          </a:prstGeom>
          <a:noFill/>
          <a:ln/>
        </p:spPr>
        <p:txBody>
          <a:bodyPr wrap="none" lIns="0" tIns="0" rIns="0" bIns="0" rtlCol="0" anchor="t">
            <a:spAutoFit/>
          </a:bodyPr>
          <a:lstStyle/>
          <a:p>
            <a:pPr marL="0" indent="0" algn="l">
              <a:lnSpc>
                <a:spcPts val="2200"/>
              </a:lnSpc>
              <a:buNone/>
            </a:pPr>
            <a:endParaRPr lang="en-US" sz="1193" dirty="0"/>
          </a:p>
        </p:txBody>
      </p:sp>
      <p:sp>
        <p:nvSpPr>
          <p:cNvPr id="11" name="Text 7"/>
          <p:cNvSpPr/>
          <p:nvPr/>
        </p:nvSpPr>
        <p:spPr>
          <a:xfrm>
            <a:off x="1324608" y="1624019"/>
            <a:ext cx="65" cy="162930"/>
          </a:xfrm>
          <a:prstGeom prst="rect">
            <a:avLst/>
          </a:prstGeom>
          <a:noFill/>
          <a:ln/>
        </p:spPr>
        <p:txBody>
          <a:bodyPr wrap="none" lIns="0" tIns="0" rIns="0" bIns="0" rtlCol="0" anchor="t">
            <a:spAutoFit/>
          </a:bodyPr>
          <a:lstStyle/>
          <a:p>
            <a:pPr marL="0" indent="0" algn="l">
              <a:lnSpc>
                <a:spcPts val="1400"/>
              </a:lnSpc>
              <a:buNone/>
            </a:pPr>
            <a:endParaRPr lang="en-US" sz="834" dirty="0"/>
          </a:p>
        </p:txBody>
      </p:sp>
      <p:sp>
        <p:nvSpPr>
          <p:cNvPr id="12" name="Text 8"/>
          <p:cNvSpPr/>
          <p:nvPr/>
        </p:nvSpPr>
        <p:spPr>
          <a:xfrm>
            <a:off x="467693" y="1830462"/>
            <a:ext cx="65" cy="162930"/>
          </a:xfrm>
          <a:prstGeom prst="rect">
            <a:avLst/>
          </a:prstGeom>
          <a:noFill/>
          <a:ln/>
        </p:spPr>
        <p:txBody>
          <a:bodyPr wrap="none" lIns="0" tIns="0" rIns="0" bIns="0" rtlCol="0" anchor="t">
            <a:spAutoFit/>
          </a:bodyPr>
          <a:lstStyle/>
          <a:p>
            <a:pPr marL="0" indent="0" algn="l">
              <a:lnSpc>
                <a:spcPts val="1400"/>
              </a:lnSpc>
              <a:buNone/>
            </a:pPr>
            <a:endParaRPr lang="en-US" sz="834" dirty="0"/>
          </a:p>
        </p:txBody>
      </p:sp>
      <p:sp>
        <p:nvSpPr>
          <p:cNvPr id="13" name="Text 9"/>
          <p:cNvSpPr/>
          <p:nvPr/>
        </p:nvSpPr>
        <p:spPr>
          <a:xfrm>
            <a:off x="467693" y="1797255"/>
            <a:ext cx="4671343"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4" name="Text 10"/>
          <p:cNvSpPr/>
          <p:nvPr/>
        </p:nvSpPr>
        <p:spPr>
          <a:xfrm>
            <a:off x="467693" y="2013325"/>
            <a:ext cx="4540690"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5" name="Text 11"/>
          <p:cNvSpPr/>
          <p:nvPr/>
        </p:nvSpPr>
        <p:spPr>
          <a:xfrm>
            <a:off x="467693" y="2196188"/>
            <a:ext cx="4214952"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6" name="Text 12"/>
          <p:cNvSpPr/>
          <p:nvPr/>
        </p:nvSpPr>
        <p:spPr>
          <a:xfrm>
            <a:off x="467693" y="2379052"/>
            <a:ext cx="4330619"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7" name="Text 13"/>
          <p:cNvSpPr/>
          <p:nvPr/>
        </p:nvSpPr>
        <p:spPr>
          <a:xfrm>
            <a:off x="467693" y="2561915"/>
            <a:ext cx="4468806"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8" name="Text 14"/>
          <p:cNvSpPr/>
          <p:nvPr/>
        </p:nvSpPr>
        <p:spPr>
          <a:xfrm>
            <a:off x="467693" y="2927641"/>
            <a:ext cx="65" cy="162930"/>
          </a:xfrm>
          <a:prstGeom prst="rect">
            <a:avLst/>
          </a:prstGeom>
          <a:noFill/>
          <a:ln/>
        </p:spPr>
        <p:txBody>
          <a:bodyPr wrap="none" lIns="0" tIns="0" rIns="0" bIns="0" rtlCol="0" anchor="t">
            <a:spAutoFit/>
          </a:bodyPr>
          <a:lstStyle/>
          <a:p>
            <a:pPr marL="0" indent="0" algn="l">
              <a:lnSpc>
                <a:spcPts val="1400"/>
              </a:lnSpc>
              <a:buNone/>
            </a:pPr>
            <a:endParaRPr lang="en-US" sz="834" dirty="0"/>
          </a:p>
        </p:txBody>
      </p:sp>
      <p:pic>
        <p:nvPicPr>
          <p:cNvPr id="19" name="Image 1" descr="preencoded.png"/>
          <p:cNvPicPr>
            <a:picLocks noChangeAspect="1"/>
          </p:cNvPicPr>
          <p:nvPr/>
        </p:nvPicPr>
        <p:blipFill>
          <a:blip r:embed="rId3"/>
          <a:stretch>
            <a:fillRect/>
          </a:stretch>
        </p:blipFill>
        <p:spPr>
          <a:xfrm>
            <a:off x="5600700" y="1637342"/>
            <a:ext cx="3114675" cy="1868788"/>
          </a:xfrm>
          <a:prstGeom prst="rect">
            <a:avLst/>
          </a:prstGeom>
        </p:spPr>
      </p:pic>
      <p:sp>
        <p:nvSpPr>
          <p:cNvPr id="2" name="Shape 2">
            <a:extLst>
              <a:ext uri="{FF2B5EF4-FFF2-40B4-BE49-F238E27FC236}">
                <a16:creationId xmlns:a16="http://schemas.microsoft.com/office/drawing/2014/main" id="{A808903F-8265-ABBC-BB50-8C4F79823BAB}"/>
              </a:ext>
            </a:extLst>
          </p:cNvPr>
          <p:cNvSpPr/>
          <p:nvPr/>
        </p:nvSpPr>
        <p:spPr>
          <a:xfrm>
            <a:off x="406345" y="1330437"/>
            <a:ext cx="45719" cy="1760134"/>
          </a:xfrm>
          <a:prstGeom prst="rect">
            <a:avLst/>
          </a:prstGeom>
          <a:solidFill>
            <a:srgbClr val="DC2626"/>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0"/>
          <p:cNvSpPr/>
          <p:nvPr/>
        </p:nvSpPr>
        <p:spPr>
          <a:xfrm>
            <a:off x="428625" y="428625"/>
            <a:ext cx="4000500"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2332"/>
                </a:solidFill>
              </a:rPr>
              <a:t>Overall Functional Test Execution Results</a:t>
            </a:r>
            <a:endParaRPr lang="en-US" sz="1602" dirty="0"/>
          </a:p>
        </p:txBody>
      </p:sp>
      <p:sp>
        <p:nvSpPr>
          <p:cNvPr id="5" name="Shape 1"/>
          <p:cNvSpPr/>
          <p:nvPr/>
        </p:nvSpPr>
        <p:spPr>
          <a:xfrm>
            <a:off x="428625" y="1191555"/>
            <a:ext cx="1928813" cy="698302"/>
          </a:xfrm>
          <a:prstGeom prst="rect">
            <a:avLst/>
          </a:prstGeom>
          <a:solidFill>
            <a:srgbClr val="F9FAFB"/>
          </a:solidFill>
          <a:ln/>
        </p:spPr>
      </p:sp>
      <p:sp>
        <p:nvSpPr>
          <p:cNvPr id="6" name="Shape 2"/>
          <p:cNvSpPr/>
          <p:nvPr/>
        </p:nvSpPr>
        <p:spPr>
          <a:xfrm>
            <a:off x="428625" y="1191555"/>
            <a:ext cx="28575" cy="698302"/>
          </a:xfrm>
          <a:prstGeom prst="rect">
            <a:avLst/>
          </a:prstGeom>
          <a:solidFill>
            <a:srgbClr val="1A2332"/>
          </a:solidFill>
          <a:ln/>
        </p:spPr>
      </p:sp>
      <p:sp>
        <p:nvSpPr>
          <p:cNvPr id="7" name="Text 3"/>
          <p:cNvSpPr/>
          <p:nvPr/>
        </p:nvSpPr>
        <p:spPr>
          <a:xfrm>
            <a:off x="571500" y="1334430"/>
            <a:ext cx="1643063"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4A5568"/>
                </a:solidFill>
              </a:rPr>
              <a:t>Total Test Cases</a:t>
            </a:r>
            <a:endParaRPr lang="en-US" sz="634" dirty="0"/>
          </a:p>
        </p:txBody>
      </p:sp>
      <p:sp>
        <p:nvSpPr>
          <p:cNvPr id="8" name="Text 4"/>
          <p:cNvSpPr/>
          <p:nvPr/>
        </p:nvSpPr>
        <p:spPr>
          <a:xfrm>
            <a:off x="571500" y="1518382"/>
            <a:ext cx="1643063"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1A2332"/>
                </a:solidFill>
              </a:rPr>
              <a:t>77</a:t>
            </a:r>
            <a:endParaRPr lang="en-US" sz="1602" dirty="0"/>
          </a:p>
        </p:txBody>
      </p:sp>
      <p:sp>
        <p:nvSpPr>
          <p:cNvPr id="9" name="Shape 5"/>
          <p:cNvSpPr/>
          <p:nvPr/>
        </p:nvSpPr>
        <p:spPr>
          <a:xfrm>
            <a:off x="2500313" y="1191555"/>
            <a:ext cx="1928813" cy="698302"/>
          </a:xfrm>
          <a:prstGeom prst="rect">
            <a:avLst/>
          </a:prstGeom>
          <a:solidFill>
            <a:srgbClr val="F9FAFB"/>
          </a:solidFill>
          <a:ln/>
        </p:spPr>
      </p:sp>
      <p:sp>
        <p:nvSpPr>
          <p:cNvPr id="10" name="Shape 6"/>
          <p:cNvSpPr/>
          <p:nvPr/>
        </p:nvSpPr>
        <p:spPr>
          <a:xfrm>
            <a:off x="2500313" y="1191555"/>
            <a:ext cx="28575" cy="698302"/>
          </a:xfrm>
          <a:prstGeom prst="rect">
            <a:avLst/>
          </a:prstGeom>
          <a:solidFill>
            <a:srgbClr val="1A2332"/>
          </a:solidFill>
          <a:ln/>
        </p:spPr>
      </p:sp>
      <p:sp>
        <p:nvSpPr>
          <p:cNvPr id="11" name="Text 7"/>
          <p:cNvSpPr/>
          <p:nvPr/>
        </p:nvSpPr>
        <p:spPr>
          <a:xfrm>
            <a:off x="2643188" y="1334430"/>
            <a:ext cx="1643063"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4A5568"/>
                </a:solidFill>
              </a:rPr>
              <a:t>Total Defects</a:t>
            </a:r>
            <a:endParaRPr lang="en-US" sz="634" dirty="0"/>
          </a:p>
        </p:txBody>
      </p:sp>
      <p:sp>
        <p:nvSpPr>
          <p:cNvPr id="12" name="Text 8"/>
          <p:cNvSpPr/>
          <p:nvPr/>
        </p:nvSpPr>
        <p:spPr>
          <a:xfrm>
            <a:off x="2643188" y="1518382"/>
            <a:ext cx="1643063"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1A2332"/>
                </a:solidFill>
              </a:rPr>
              <a:t>42</a:t>
            </a:r>
            <a:endParaRPr lang="en-US" sz="1602" dirty="0"/>
          </a:p>
        </p:txBody>
      </p:sp>
      <p:sp>
        <p:nvSpPr>
          <p:cNvPr id="13" name="Shape 9"/>
          <p:cNvSpPr/>
          <p:nvPr/>
        </p:nvSpPr>
        <p:spPr>
          <a:xfrm>
            <a:off x="428625" y="2032732"/>
            <a:ext cx="1928813" cy="698302"/>
          </a:xfrm>
          <a:prstGeom prst="rect">
            <a:avLst/>
          </a:prstGeom>
          <a:solidFill>
            <a:srgbClr val="F9FAFB"/>
          </a:solidFill>
          <a:ln/>
        </p:spPr>
      </p:sp>
      <p:sp>
        <p:nvSpPr>
          <p:cNvPr id="14" name="Shape 10"/>
          <p:cNvSpPr/>
          <p:nvPr/>
        </p:nvSpPr>
        <p:spPr>
          <a:xfrm>
            <a:off x="428625" y="2032732"/>
            <a:ext cx="28575" cy="698302"/>
          </a:xfrm>
          <a:prstGeom prst="rect">
            <a:avLst/>
          </a:prstGeom>
          <a:solidFill>
            <a:srgbClr val="1A2332"/>
          </a:solidFill>
          <a:ln/>
        </p:spPr>
      </p:sp>
      <p:sp>
        <p:nvSpPr>
          <p:cNvPr id="15" name="Text 11"/>
          <p:cNvSpPr/>
          <p:nvPr/>
        </p:nvSpPr>
        <p:spPr>
          <a:xfrm>
            <a:off x="571500" y="2175607"/>
            <a:ext cx="1643063"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4A5568"/>
                </a:solidFill>
              </a:rPr>
              <a:t>Passed Test Cases</a:t>
            </a:r>
            <a:endParaRPr lang="en-US" sz="634" dirty="0"/>
          </a:p>
        </p:txBody>
      </p:sp>
      <p:sp>
        <p:nvSpPr>
          <p:cNvPr id="16" name="Text 12"/>
          <p:cNvSpPr/>
          <p:nvPr/>
        </p:nvSpPr>
        <p:spPr>
          <a:xfrm>
            <a:off x="571500" y="2359558"/>
            <a:ext cx="1643063"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1A2332"/>
                </a:solidFill>
              </a:rPr>
              <a:t>30</a:t>
            </a:r>
            <a:endParaRPr lang="en-US" sz="1602" dirty="0"/>
          </a:p>
        </p:txBody>
      </p:sp>
      <p:sp>
        <p:nvSpPr>
          <p:cNvPr id="17" name="Shape 13"/>
          <p:cNvSpPr/>
          <p:nvPr/>
        </p:nvSpPr>
        <p:spPr>
          <a:xfrm>
            <a:off x="2500313" y="2032732"/>
            <a:ext cx="1928813" cy="698302"/>
          </a:xfrm>
          <a:prstGeom prst="rect">
            <a:avLst/>
          </a:prstGeom>
          <a:solidFill>
            <a:srgbClr val="F9FAFB"/>
          </a:solidFill>
          <a:ln/>
        </p:spPr>
      </p:sp>
      <p:sp>
        <p:nvSpPr>
          <p:cNvPr id="18" name="Shape 14"/>
          <p:cNvSpPr/>
          <p:nvPr/>
        </p:nvSpPr>
        <p:spPr>
          <a:xfrm>
            <a:off x="2500313" y="2032732"/>
            <a:ext cx="28575" cy="698302"/>
          </a:xfrm>
          <a:prstGeom prst="rect">
            <a:avLst/>
          </a:prstGeom>
          <a:solidFill>
            <a:srgbClr val="1A2332"/>
          </a:solidFill>
          <a:ln/>
        </p:spPr>
      </p:sp>
      <p:sp>
        <p:nvSpPr>
          <p:cNvPr id="19" name="Text 15"/>
          <p:cNvSpPr/>
          <p:nvPr/>
        </p:nvSpPr>
        <p:spPr>
          <a:xfrm>
            <a:off x="2643188" y="2175607"/>
            <a:ext cx="1643063"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4A5568"/>
                </a:solidFill>
              </a:rPr>
              <a:t>Failed Test Cases</a:t>
            </a:r>
            <a:endParaRPr lang="en-US" sz="634" dirty="0"/>
          </a:p>
        </p:txBody>
      </p:sp>
      <p:sp>
        <p:nvSpPr>
          <p:cNvPr id="20" name="Text 16"/>
          <p:cNvSpPr/>
          <p:nvPr/>
        </p:nvSpPr>
        <p:spPr>
          <a:xfrm>
            <a:off x="2643188" y="2359558"/>
            <a:ext cx="1643063"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1A2332"/>
                </a:solidFill>
              </a:rPr>
              <a:t>47</a:t>
            </a:r>
            <a:endParaRPr lang="en-US" sz="1602" dirty="0"/>
          </a:p>
        </p:txBody>
      </p:sp>
      <p:sp>
        <p:nvSpPr>
          <p:cNvPr id="21" name="Shape 17"/>
          <p:cNvSpPr/>
          <p:nvPr/>
        </p:nvSpPr>
        <p:spPr>
          <a:xfrm>
            <a:off x="428625" y="3088221"/>
            <a:ext cx="1928813" cy="587573"/>
          </a:xfrm>
          <a:prstGeom prst="rect">
            <a:avLst/>
          </a:prstGeom>
          <a:solidFill>
            <a:srgbClr val="ECFDF5"/>
          </a:solidFill>
          <a:ln/>
        </p:spPr>
      </p:sp>
      <p:sp>
        <p:nvSpPr>
          <p:cNvPr id="22" name="Shape 18"/>
          <p:cNvSpPr/>
          <p:nvPr/>
        </p:nvSpPr>
        <p:spPr>
          <a:xfrm>
            <a:off x="428625" y="3088221"/>
            <a:ext cx="28575" cy="587573"/>
          </a:xfrm>
          <a:prstGeom prst="rect">
            <a:avLst/>
          </a:prstGeom>
          <a:solidFill>
            <a:srgbClr val="059669"/>
          </a:solidFill>
          <a:ln/>
        </p:spPr>
      </p:sp>
      <p:sp>
        <p:nvSpPr>
          <p:cNvPr id="23" name="Text 19"/>
          <p:cNvSpPr/>
          <p:nvPr/>
        </p:nvSpPr>
        <p:spPr>
          <a:xfrm>
            <a:off x="535781" y="3195377"/>
            <a:ext cx="1714500"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4A5568"/>
                </a:solidFill>
              </a:rPr>
              <a:t>Pass Rate</a:t>
            </a:r>
            <a:endParaRPr lang="en-US" sz="584" dirty="0"/>
          </a:p>
        </p:txBody>
      </p:sp>
      <p:sp>
        <p:nvSpPr>
          <p:cNvPr id="24" name="Text 20"/>
          <p:cNvSpPr/>
          <p:nvPr/>
        </p:nvSpPr>
        <p:spPr>
          <a:xfrm>
            <a:off x="535781" y="3368613"/>
            <a:ext cx="1714500" cy="200025"/>
          </a:xfrm>
          <a:prstGeom prst="rect">
            <a:avLst/>
          </a:prstGeom>
          <a:noFill/>
          <a:ln/>
        </p:spPr>
        <p:txBody>
          <a:bodyPr wrap="none" lIns="0" tIns="0" rIns="0" bIns="0" rtlCol="0" anchor="t">
            <a:spAutoFit/>
          </a:bodyPr>
          <a:lstStyle/>
          <a:p>
            <a:pPr marL="0" indent="0" algn="ctr">
              <a:lnSpc>
                <a:spcPts val="1600"/>
              </a:lnSpc>
              <a:buNone/>
            </a:pPr>
            <a:r>
              <a:rPr lang="en-US" sz="1397" b="1" dirty="0">
                <a:solidFill>
                  <a:srgbClr val="059669"/>
                </a:solidFill>
              </a:rPr>
              <a:t>38.96%</a:t>
            </a:r>
            <a:endParaRPr lang="en-US" sz="1397" dirty="0"/>
          </a:p>
        </p:txBody>
      </p:sp>
      <p:sp>
        <p:nvSpPr>
          <p:cNvPr id="25" name="Shape 21"/>
          <p:cNvSpPr/>
          <p:nvPr/>
        </p:nvSpPr>
        <p:spPr>
          <a:xfrm>
            <a:off x="2500313" y="3088221"/>
            <a:ext cx="1928813" cy="587573"/>
          </a:xfrm>
          <a:prstGeom prst="rect">
            <a:avLst/>
          </a:prstGeom>
          <a:solidFill>
            <a:srgbClr val="FEF2F2"/>
          </a:solidFill>
          <a:ln/>
        </p:spPr>
      </p:sp>
      <p:sp>
        <p:nvSpPr>
          <p:cNvPr id="26" name="Shape 22"/>
          <p:cNvSpPr/>
          <p:nvPr/>
        </p:nvSpPr>
        <p:spPr>
          <a:xfrm>
            <a:off x="2500313" y="3088221"/>
            <a:ext cx="28575" cy="587573"/>
          </a:xfrm>
          <a:prstGeom prst="rect">
            <a:avLst/>
          </a:prstGeom>
          <a:solidFill>
            <a:srgbClr val="DC2626"/>
          </a:solidFill>
          <a:ln/>
        </p:spPr>
      </p:sp>
      <p:sp>
        <p:nvSpPr>
          <p:cNvPr id="27" name="Text 23"/>
          <p:cNvSpPr/>
          <p:nvPr/>
        </p:nvSpPr>
        <p:spPr>
          <a:xfrm>
            <a:off x="2607469" y="3195377"/>
            <a:ext cx="1714500"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4A5568"/>
                </a:solidFill>
              </a:rPr>
              <a:t>Fail Rate</a:t>
            </a:r>
            <a:endParaRPr lang="en-US" sz="584" dirty="0"/>
          </a:p>
        </p:txBody>
      </p:sp>
      <p:sp>
        <p:nvSpPr>
          <p:cNvPr id="28" name="Text 24"/>
          <p:cNvSpPr/>
          <p:nvPr/>
        </p:nvSpPr>
        <p:spPr>
          <a:xfrm>
            <a:off x="2607469" y="3368613"/>
            <a:ext cx="1714500" cy="200025"/>
          </a:xfrm>
          <a:prstGeom prst="rect">
            <a:avLst/>
          </a:prstGeom>
          <a:noFill/>
          <a:ln/>
        </p:spPr>
        <p:txBody>
          <a:bodyPr wrap="none" lIns="0" tIns="0" rIns="0" bIns="0" rtlCol="0" anchor="t">
            <a:spAutoFit/>
          </a:bodyPr>
          <a:lstStyle/>
          <a:p>
            <a:pPr marL="0" indent="0" algn="ctr">
              <a:lnSpc>
                <a:spcPts val="1600"/>
              </a:lnSpc>
              <a:buNone/>
            </a:pPr>
            <a:r>
              <a:rPr lang="en-US" sz="1397" b="1" dirty="0">
                <a:solidFill>
                  <a:srgbClr val="DC2626"/>
                </a:solidFill>
              </a:rPr>
              <a:t>61.04%</a:t>
            </a:r>
            <a:endParaRPr lang="en-US" sz="1397" dirty="0"/>
          </a:p>
        </p:txBody>
      </p:sp>
      <p:pic>
        <p:nvPicPr>
          <p:cNvPr id="29" name="Image 1" descr="preencoded.png"/>
          <p:cNvPicPr>
            <a:picLocks noChangeAspect="1"/>
          </p:cNvPicPr>
          <p:nvPr/>
        </p:nvPicPr>
        <p:blipFill>
          <a:blip r:embed="rId3"/>
          <a:stretch>
            <a:fillRect/>
          </a:stretch>
        </p:blipFill>
        <p:spPr>
          <a:xfrm>
            <a:off x="4812382" y="1218838"/>
            <a:ext cx="4000500" cy="25003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0"/>
          <p:cNvSpPr/>
          <p:nvPr/>
        </p:nvSpPr>
        <p:spPr>
          <a:xfrm>
            <a:off x="428625" y="428625"/>
            <a:ext cx="4000500" cy="2743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332"/>
                </a:solidFill>
              </a:rPr>
              <a:t>Test Case Pass Rate by Module</a:t>
            </a:r>
            <a:endParaRPr lang="en-US" sz="1602" dirty="0"/>
          </a:p>
        </p:txBody>
      </p:sp>
      <p:sp>
        <p:nvSpPr>
          <p:cNvPr id="5" name="Text 1"/>
          <p:cNvSpPr/>
          <p:nvPr/>
        </p:nvSpPr>
        <p:spPr>
          <a:xfrm>
            <a:off x="428625" y="917246"/>
            <a:ext cx="2232984" cy="159724"/>
          </a:xfrm>
          <a:prstGeom prst="rect">
            <a:avLst/>
          </a:prstGeom>
          <a:noFill/>
          <a:ln/>
        </p:spPr>
        <p:txBody>
          <a:bodyPr wrap="none" lIns="0" tIns="0" rIns="0" bIns="0" rtlCol="0" anchor="t">
            <a:spAutoFit/>
          </a:bodyPr>
          <a:lstStyle/>
          <a:p>
            <a:pPr marL="0" indent="0" algn="l">
              <a:lnSpc>
                <a:spcPts val="1100"/>
              </a:lnSpc>
              <a:buNone/>
            </a:pPr>
            <a:r>
              <a:rPr lang="en-US" b="1" dirty="0">
                <a:solidFill>
                  <a:srgbClr val="1A2332"/>
                </a:solidFill>
              </a:rPr>
              <a:t>Login Functionality</a:t>
            </a:r>
            <a:endParaRPr lang="en-US" dirty="0"/>
          </a:p>
        </p:txBody>
      </p:sp>
      <p:sp>
        <p:nvSpPr>
          <p:cNvPr id="6" name="Shape 2"/>
          <p:cNvSpPr/>
          <p:nvPr/>
        </p:nvSpPr>
        <p:spPr>
          <a:xfrm>
            <a:off x="428625" y="1158348"/>
            <a:ext cx="1946672" cy="535781"/>
          </a:xfrm>
          <a:prstGeom prst="rect">
            <a:avLst/>
          </a:prstGeom>
          <a:solidFill>
            <a:srgbClr val="F9FAFB"/>
          </a:solidFill>
          <a:ln/>
        </p:spPr>
      </p:sp>
      <p:sp>
        <p:nvSpPr>
          <p:cNvPr id="7" name="Shape 3"/>
          <p:cNvSpPr/>
          <p:nvPr/>
        </p:nvSpPr>
        <p:spPr>
          <a:xfrm>
            <a:off x="428625" y="1158348"/>
            <a:ext cx="28575" cy="535781"/>
          </a:xfrm>
          <a:prstGeom prst="rect">
            <a:avLst/>
          </a:prstGeom>
          <a:solidFill>
            <a:srgbClr val="1A2332"/>
          </a:solidFill>
          <a:ln/>
        </p:spPr>
      </p:sp>
      <p:sp>
        <p:nvSpPr>
          <p:cNvPr id="8" name="Text 4"/>
          <p:cNvSpPr/>
          <p:nvPr/>
        </p:nvSpPr>
        <p:spPr>
          <a:xfrm>
            <a:off x="535781" y="1265504"/>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Total Test Cases</a:t>
            </a:r>
            <a:endParaRPr lang="en-US" sz="534" dirty="0"/>
          </a:p>
        </p:txBody>
      </p:sp>
      <p:sp>
        <p:nvSpPr>
          <p:cNvPr id="9" name="Text 5"/>
          <p:cNvSpPr/>
          <p:nvPr/>
        </p:nvSpPr>
        <p:spPr>
          <a:xfrm>
            <a:off x="535781" y="1415523"/>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1A2332"/>
                </a:solidFill>
              </a:rPr>
              <a:t>20</a:t>
            </a:r>
            <a:endParaRPr lang="en-US" sz="1193" dirty="0"/>
          </a:p>
        </p:txBody>
      </p:sp>
      <p:sp>
        <p:nvSpPr>
          <p:cNvPr id="10" name="Shape 6"/>
          <p:cNvSpPr/>
          <p:nvPr/>
        </p:nvSpPr>
        <p:spPr>
          <a:xfrm>
            <a:off x="2482453" y="1158348"/>
            <a:ext cx="1946672" cy="535781"/>
          </a:xfrm>
          <a:prstGeom prst="rect">
            <a:avLst/>
          </a:prstGeom>
          <a:solidFill>
            <a:srgbClr val="F9FAFB"/>
          </a:solidFill>
          <a:ln/>
        </p:spPr>
      </p:sp>
      <p:sp>
        <p:nvSpPr>
          <p:cNvPr id="11" name="Shape 7"/>
          <p:cNvSpPr/>
          <p:nvPr/>
        </p:nvSpPr>
        <p:spPr>
          <a:xfrm>
            <a:off x="2482453" y="1158348"/>
            <a:ext cx="28575" cy="535781"/>
          </a:xfrm>
          <a:prstGeom prst="rect">
            <a:avLst/>
          </a:prstGeom>
          <a:solidFill>
            <a:srgbClr val="059669"/>
          </a:solidFill>
          <a:ln/>
        </p:spPr>
      </p:sp>
      <p:sp>
        <p:nvSpPr>
          <p:cNvPr id="12" name="Text 8"/>
          <p:cNvSpPr/>
          <p:nvPr/>
        </p:nvSpPr>
        <p:spPr>
          <a:xfrm>
            <a:off x="2589609" y="1265504"/>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Pass Rate</a:t>
            </a:r>
            <a:endParaRPr lang="en-US" sz="534" dirty="0"/>
          </a:p>
        </p:txBody>
      </p:sp>
      <p:sp>
        <p:nvSpPr>
          <p:cNvPr id="13" name="Text 9"/>
          <p:cNvSpPr/>
          <p:nvPr/>
        </p:nvSpPr>
        <p:spPr>
          <a:xfrm>
            <a:off x="2589609" y="1415523"/>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059669"/>
                </a:solidFill>
              </a:rPr>
              <a:t>35.0%</a:t>
            </a:r>
            <a:endParaRPr lang="en-US" sz="1193" dirty="0"/>
          </a:p>
        </p:txBody>
      </p:sp>
      <p:sp>
        <p:nvSpPr>
          <p:cNvPr id="14" name="Shape 10"/>
          <p:cNvSpPr/>
          <p:nvPr/>
        </p:nvSpPr>
        <p:spPr>
          <a:xfrm>
            <a:off x="428625" y="1801285"/>
            <a:ext cx="1946672" cy="535781"/>
          </a:xfrm>
          <a:prstGeom prst="rect">
            <a:avLst/>
          </a:prstGeom>
          <a:solidFill>
            <a:srgbClr val="F9FAFB"/>
          </a:solidFill>
          <a:ln/>
        </p:spPr>
      </p:sp>
      <p:sp>
        <p:nvSpPr>
          <p:cNvPr id="15" name="Shape 11"/>
          <p:cNvSpPr/>
          <p:nvPr/>
        </p:nvSpPr>
        <p:spPr>
          <a:xfrm>
            <a:off x="428625" y="1801285"/>
            <a:ext cx="28575" cy="535781"/>
          </a:xfrm>
          <a:prstGeom prst="rect">
            <a:avLst/>
          </a:prstGeom>
          <a:solidFill>
            <a:srgbClr val="DC2626"/>
          </a:solidFill>
          <a:ln/>
        </p:spPr>
      </p:sp>
      <p:sp>
        <p:nvSpPr>
          <p:cNvPr id="16" name="Text 12"/>
          <p:cNvSpPr/>
          <p:nvPr/>
        </p:nvSpPr>
        <p:spPr>
          <a:xfrm>
            <a:off x="535781" y="1908442"/>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Failed Test Cases</a:t>
            </a:r>
            <a:endParaRPr lang="en-US" sz="534" dirty="0"/>
          </a:p>
        </p:txBody>
      </p:sp>
      <p:sp>
        <p:nvSpPr>
          <p:cNvPr id="17" name="Text 13"/>
          <p:cNvSpPr/>
          <p:nvPr/>
        </p:nvSpPr>
        <p:spPr>
          <a:xfrm>
            <a:off x="535781" y="2058460"/>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DC2626"/>
                </a:solidFill>
              </a:rPr>
              <a:t>13</a:t>
            </a:r>
            <a:endParaRPr lang="en-US" sz="1193" dirty="0"/>
          </a:p>
        </p:txBody>
      </p:sp>
      <p:sp>
        <p:nvSpPr>
          <p:cNvPr id="18" name="Shape 14"/>
          <p:cNvSpPr/>
          <p:nvPr/>
        </p:nvSpPr>
        <p:spPr>
          <a:xfrm>
            <a:off x="2482453" y="1801285"/>
            <a:ext cx="1946672" cy="535781"/>
          </a:xfrm>
          <a:prstGeom prst="rect">
            <a:avLst/>
          </a:prstGeom>
          <a:solidFill>
            <a:srgbClr val="F9FAFB"/>
          </a:solidFill>
          <a:ln/>
        </p:spPr>
      </p:sp>
      <p:sp>
        <p:nvSpPr>
          <p:cNvPr id="19" name="Shape 15"/>
          <p:cNvSpPr/>
          <p:nvPr/>
        </p:nvSpPr>
        <p:spPr>
          <a:xfrm>
            <a:off x="2482453" y="1801285"/>
            <a:ext cx="28575" cy="535781"/>
          </a:xfrm>
          <a:prstGeom prst="rect">
            <a:avLst/>
          </a:prstGeom>
          <a:solidFill>
            <a:srgbClr val="1A2332"/>
          </a:solidFill>
          <a:ln/>
        </p:spPr>
      </p:sp>
      <p:sp>
        <p:nvSpPr>
          <p:cNvPr id="20" name="Text 16"/>
          <p:cNvSpPr/>
          <p:nvPr/>
        </p:nvSpPr>
        <p:spPr>
          <a:xfrm>
            <a:off x="2589609" y="1908442"/>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Passed Test Cases</a:t>
            </a:r>
            <a:endParaRPr lang="en-US" sz="534" dirty="0"/>
          </a:p>
        </p:txBody>
      </p:sp>
      <p:sp>
        <p:nvSpPr>
          <p:cNvPr id="21" name="Text 17"/>
          <p:cNvSpPr/>
          <p:nvPr/>
        </p:nvSpPr>
        <p:spPr>
          <a:xfrm>
            <a:off x="2589609" y="2058460"/>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1A2332"/>
                </a:solidFill>
              </a:rPr>
              <a:t>7</a:t>
            </a:r>
            <a:endParaRPr lang="en-US" sz="1193" dirty="0"/>
          </a:p>
        </p:txBody>
      </p:sp>
      <p:sp>
        <p:nvSpPr>
          <p:cNvPr id="22" name="Text 18"/>
          <p:cNvSpPr/>
          <p:nvPr/>
        </p:nvSpPr>
        <p:spPr>
          <a:xfrm>
            <a:off x="428625" y="2987148"/>
            <a:ext cx="1940788" cy="159724"/>
          </a:xfrm>
          <a:prstGeom prst="rect">
            <a:avLst/>
          </a:prstGeom>
          <a:noFill/>
          <a:ln/>
        </p:spPr>
        <p:txBody>
          <a:bodyPr wrap="none" lIns="0" tIns="0" rIns="0" bIns="0" rtlCol="0" anchor="t">
            <a:spAutoFit/>
          </a:bodyPr>
          <a:lstStyle/>
          <a:p>
            <a:pPr marL="0" indent="0" algn="l">
              <a:lnSpc>
                <a:spcPts val="1100"/>
              </a:lnSpc>
              <a:buNone/>
            </a:pPr>
            <a:r>
              <a:rPr lang="en-US" b="1" dirty="0">
                <a:solidFill>
                  <a:srgbClr val="1A2332"/>
                </a:solidFill>
              </a:rPr>
              <a:t>Forgot Login Info</a:t>
            </a:r>
            <a:endParaRPr lang="en-US" dirty="0"/>
          </a:p>
        </p:txBody>
      </p:sp>
      <p:sp>
        <p:nvSpPr>
          <p:cNvPr id="23" name="Shape 19"/>
          <p:cNvSpPr/>
          <p:nvPr/>
        </p:nvSpPr>
        <p:spPr>
          <a:xfrm>
            <a:off x="428625" y="3228249"/>
            <a:ext cx="1946672" cy="535781"/>
          </a:xfrm>
          <a:prstGeom prst="rect">
            <a:avLst/>
          </a:prstGeom>
          <a:solidFill>
            <a:srgbClr val="F9FAFB"/>
          </a:solidFill>
          <a:ln/>
        </p:spPr>
      </p:sp>
      <p:sp>
        <p:nvSpPr>
          <p:cNvPr id="24" name="Shape 20"/>
          <p:cNvSpPr/>
          <p:nvPr/>
        </p:nvSpPr>
        <p:spPr>
          <a:xfrm>
            <a:off x="428625" y="3228249"/>
            <a:ext cx="28575" cy="535781"/>
          </a:xfrm>
          <a:prstGeom prst="rect">
            <a:avLst/>
          </a:prstGeom>
          <a:solidFill>
            <a:srgbClr val="1A2332"/>
          </a:solidFill>
          <a:ln/>
        </p:spPr>
      </p:sp>
      <p:sp>
        <p:nvSpPr>
          <p:cNvPr id="25" name="Text 21"/>
          <p:cNvSpPr/>
          <p:nvPr/>
        </p:nvSpPr>
        <p:spPr>
          <a:xfrm>
            <a:off x="535781" y="3335406"/>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Total Test Cases</a:t>
            </a:r>
            <a:endParaRPr lang="en-US" sz="534" dirty="0"/>
          </a:p>
        </p:txBody>
      </p:sp>
      <p:sp>
        <p:nvSpPr>
          <p:cNvPr id="26" name="Text 22"/>
          <p:cNvSpPr/>
          <p:nvPr/>
        </p:nvSpPr>
        <p:spPr>
          <a:xfrm>
            <a:off x="535781" y="3485424"/>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1A2332"/>
                </a:solidFill>
              </a:rPr>
              <a:t>57</a:t>
            </a:r>
            <a:endParaRPr lang="en-US" sz="1193" dirty="0"/>
          </a:p>
        </p:txBody>
      </p:sp>
      <p:sp>
        <p:nvSpPr>
          <p:cNvPr id="27" name="Shape 23"/>
          <p:cNvSpPr/>
          <p:nvPr/>
        </p:nvSpPr>
        <p:spPr>
          <a:xfrm>
            <a:off x="2482453" y="3228249"/>
            <a:ext cx="1946672" cy="535781"/>
          </a:xfrm>
          <a:prstGeom prst="rect">
            <a:avLst/>
          </a:prstGeom>
          <a:solidFill>
            <a:srgbClr val="F9FAFB"/>
          </a:solidFill>
          <a:ln/>
        </p:spPr>
      </p:sp>
      <p:sp>
        <p:nvSpPr>
          <p:cNvPr id="28" name="Shape 24"/>
          <p:cNvSpPr/>
          <p:nvPr/>
        </p:nvSpPr>
        <p:spPr>
          <a:xfrm>
            <a:off x="2482453" y="3228249"/>
            <a:ext cx="28575" cy="535781"/>
          </a:xfrm>
          <a:prstGeom prst="rect">
            <a:avLst/>
          </a:prstGeom>
          <a:solidFill>
            <a:srgbClr val="059669"/>
          </a:solidFill>
          <a:ln/>
        </p:spPr>
      </p:sp>
      <p:sp>
        <p:nvSpPr>
          <p:cNvPr id="29" name="Text 25"/>
          <p:cNvSpPr/>
          <p:nvPr/>
        </p:nvSpPr>
        <p:spPr>
          <a:xfrm>
            <a:off x="2589609" y="3335406"/>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Pass Rate</a:t>
            </a:r>
            <a:endParaRPr lang="en-US" sz="534" dirty="0"/>
          </a:p>
        </p:txBody>
      </p:sp>
      <p:sp>
        <p:nvSpPr>
          <p:cNvPr id="30" name="Text 26"/>
          <p:cNvSpPr/>
          <p:nvPr/>
        </p:nvSpPr>
        <p:spPr>
          <a:xfrm>
            <a:off x="2589609" y="3485424"/>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059669"/>
                </a:solidFill>
              </a:rPr>
              <a:t>40.35%</a:t>
            </a:r>
            <a:endParaRPr lang="en-US" sz="1193" dirty="0"/>
          </a:p>
        </p:txBody>
      </p:sp>
      <p:sp>
        <p:nvSpPr>
          <p:cNvPr id="31" name="Shape 27"/>
          <p:cNvSpPr/>
          <p:nvPr/>
        </p:nvSpPr>
        <p:spPr>
          <a:xfrm>
            <a:off x="428625" y="3871187"/>
            <a:ext cx="1946672" cy="535781"/>
          </a:xfrm>
          <a:prstGeom prst="rect">
            <a:avLst/>
          </a:prstGeom>
          <a:solidFill>
            <a:srgbClr val="F9FAFB"/>
          </a:solidFill>
          <a:ln/>
        </p:spPr>
      </p:sp>
      <p:sp>
        <p:nvSpPr>
          <p:cNvPr id="32" name="Shape 28"/>
          <p:cNvSpPr/>
          <p:nvPr/>
        </p:nvSpPr>
        <p:spPr>
          <a:xfrm>
            <a:off x="428625" y="3871187"/>
            <a:ext cx="28575" cy="535781"/>
          </a:xfrm>
          <a:prstGeom prst="rect">
            <a:avLst/>
          </a:prstGeom>
          <a:solidFill>
            <a:srgbClr val="DC2626"/>
          </a:solidFill>
          <a:ln/>
        </p:spPr>
      </p:sp>
      <p:sp>
        <p:nvSpPr>
          <p:cNvPr id="33" name="Text 29"/>
          <p:cNvSpPr/>
          <p:nvPr/>
        </p:nvSpPr>
        <p:spPr>
          <a:xfrm>
            <a:off x="535781" y="3978343"/>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Failed Test Cases</a:t>
            </a:r>
            <a:endParaRPr lang="en-US" sz="534" dirty="0"/>
          </a:p>
        </p:txBody>
      </p:sp>
      <p:sp>
        <p:nvSpPr>
          <p:cNvPr id="34" name="Text 30"/>
          <p:cNvSpPr/>
          <p:nvPr/>
        </p:nvSpPr>
        <p:spPr>
          <a:xfrm>
            <a:off x="535781" y="4128362"/>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DC2626"/>
                </a:solidFill>
              </a:rPr>
              <a:t>34</a:t>
            </a:r>
            <a:endParaRPr lang="en-US" sz="1193" dirty="0"/>
          </a:p>
        </p:txBody>
      </p:sp>
      <p:sp>
        <p:nvSpPr>
          <p:cNvPr id="35" name="Shape 31"/>
          <p:cNvSpPr/>
          <p:nvPr/>
        </p:nvSpPr>
        <p:spPr>
          <a:xfrm>
            <a:off x="2482453" y="3871187"/>
            <a:ext cx="1946672" cy="535781"/>
          </a:xfrm>
          <a:prstGeom prst="rect">
            <a:avLst/>
          </a:prstGeom>
          <a:solidFill>
            <a:srgbClr val="F9FAFB"/>
          </a:solidFill>
          <a:ln/>
        </p:spPr>
      </p:sp>
      <p:sp>
        <p:nvSpPr>
          <p:cNvPr id="36" name="Shape 32"/>
          <p:cNvSpPr/>
          <p:nvPr/>
        </p:nvSpPr>
        <p:spPr>
          <a:xfrm>
            <a:off x="2482453" y="3871187"/>
            <a:ext cx="28575" cy="535781"/>
          </a:xfrm>
          <a:prstGeom prst="rect">
            <a:avLst/>
          </a:prstGeom>
          <a:solidFill>
            <a:srgbClr val="1A2332"/>
          </a:solidFill>
          <a:ln/>
        </p:spPr>
      </p:sp>
      <p:sp>
        <p:nvSpPr>
          <p:cNvPr id="37" name="Text 33"/>
          <p:cNvSpPr/>
          <p:nvPr/>
        </p:nvSpPr>
        <p:spPr>
          <a:xfrm>
            <a:off x="2589609" y="3978343"/>
            <a:ext cx="173235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4A5568"/>
                </a:solidFill>
              </a:rPr>
              <a:t>Passed Test Cases</a:t>
            </a:r>
            <a:endParaRPr lang="en-US" sz="534" dirty="0"/>
          </a:p>
        </p:txBody>
      </p:sp>
      <p:sp>
        <p:nvSpPr>
          <p:cNvPr id="38" name="Text 34"/>
          <p:cNvSpPr/>
          <p:nvPr/>
        </p:nvSpPr>
        <p:spPr>
          <a:xfrm>
            <a:off x="2589609" y="4128362"/>
            <a:ext cx="1732359"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1A2332"/>
                </a:solidFill>
              </a:rPr>
              <a:t>23</a:t>
            </a:r>
            <a:endParaRPr lang="en-US" sz="1193" dirty="0"/>
          </a:p>
        </p:txBody>
      </p:sp>
      <p:pic>
        <p:nvPicPr>
          <p:cNvPr id="39" name="Image 1" descr="preencoded.png"/>
          <p:cNvPicPr>
            <a:picLocks noChangeAspect="1"/>
          </p:cNvPicPr>
          <p:nvPr/>
        </p:nvPicPr>
        <p:blipFill>
          <a:blip r:embed="rId3"/>
          <a:stretch>
            <a:fillRect/>
          </a:stretch>
        </p:blipFill>
        <p:spPr>
          <a:xfrm>
            <a:off x="4714875" y="1044964"/>
            <a:ext cx="4000500" cy="27146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0"/>
          <p:cNvSpPr/>
          <p:nvPr/>
        </p:nvSpPr>
        <p:spPr>
          <a:xfrm>
            <a:off x="2174546" y="428625"/>
            <a:ext cx="4794879" cy="274309"/>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1A2332"/>
                </a:solidFill>
              </a:rPr>
              <a:t>Defect Severity Distribution (Total Bugs: 42)</a:t>
            </a:r>
            <a:endParaRPr lang="en-US" sz="1602" dirty="0"/>
          </a:p>
        </p:txBody>
      </p:sp>
      <p:sp>
        <p:nvSpPr>
          <p:cNvPr id="5" name="Shape 1"/>
          <p:cNvSpPr/>
          <p:nvPr/>
        </p:nvSpPr>
        <p:spPr>
          <a:xfrm>
            <a:off x="2143125" y="988684"/>
            <a:ext cx="2286000" cy="1001911"/>
          </a:xfrm>
          <a:prstGeom prst="rect">
            <a:avLst/>
          </a:prstGeom>
          <a:solidFill>
            <a:srgbClr val="F9FAFB"/>
          </a:solidFill>
          <a:ln/>
        </p:spPr>
      </p:sp>
      <p:sp>
        <p:nvSpPr>
          <p:cNvPr id="6" name="Shape 2"/>
          <p:cNvSpPr/>
          <p:nvPr/>
        </p:nvSpPr>
        <p:spPr>
          <a:xfrm>
            <a:off x="2143125" y="988684"/>
            <a:ext cx="28575" cy="1001911"/>
          </a:xfrm>
          <a:prstGeom prst="rect">
            <a:avLst/>
          </a:prstGeom>
          <a:solidFill>
            <a:srgbClr val="DC2626"/>
          </a:solidFill>
          <a:ln/>
        </p:spPr>
      </p:sp>
      <p:sp>
        <p:nvSpPr>
          <p:cNvPr id="7" name="Text 3"/>
          <p:cNvSpPr/>
          <p:nvPr/>
        </p:nvSpPr>
        <p:spPr>
          <a:xfrm>
            <a:off x="2286000" y="1131559"/>
            <a:ext cx="2000250"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4A5568"/>
                </a:solidFill>
              </a:rPr>
              <a:t>Major Severity</a:t>
            </a:r>
            <a:endParaRPr lang="en-US" sz="683" dirty="0"/>
          </a:p>
        </p:txBody>
      </p:sp>
      <p:sp>
        <p:nvSpPr>
          <p:cNvPr id="8" name="Text 4"/>
          <p:cNvSpPr/>
          <p:nvPr/>
        </p:nvSpPr>
        <p:spPr>
          <a:xfrm>
            <a:off x="2286000" y="1338728"/>
            <a:ext cx="2000250" cy="257175"/>
          </a:xfrm>
          <a:prstGeom prst="rect">
            <a:avLst/>
          </a:prstGeom>
          <a:noFill/>
          <a:ln/>
        </p:spPr>
        <p:txBody>
          <a:bodyPr wrap="none" lIns="0" tIns="0" rIns="0" bIns="0" rtlCol="0" anchor="t">
            <a:spAutoFit/>
          </a:bodyPr>
          <a:lstStyle/>
          <a:p>
            <a:pPr marL="0" indent="0" algn="ctr">
              <a:lnSpc>
                <a:spcPts val="2000"/>
              </a:lnSpc>
              <a:buNone/>
            </a:pPr>
            <a:r>
              <a:rPr lang="en-US" sz="1808" b="1" dirty="0">
                <a:solidFill>
                  <a:srgbClr val="DC2626"/>
                </a:solidFill>
              </a:rPr>
              <a:t>39</a:t>
            </a:r>
            <a:endParaRPr lang="en-US" sz="1808" dirty="0"/>
          </a:p>
        </p:txBody>
      </p:sp>
      <p:sp>
        <p:nvSpPr>
          <p:cNvPr id="9" name="Text 5"/>
          <p:cNvSpPr/>
          <p:nvPr/>
        </p:nvSpPr>
        <p:spPr>
          <a:xfrm>
            <a:off x="2286000" y="1653053"/>
            <a:ext cx="2000250"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4A5568"/>
                </a:solidFill>
              </a:rPr>
              <a:t>92.86%</a:t>
            </a:r>
            <a:endParaRPr lang="en-US" sz="987" dirty="0"/>
          </a:p>
        </p:txBody>
      </p:sp>
      <p:sp>
        <p:nvSpPr>
          <p:cNvPr id="10" name="Shape 6"/>
          <p:cNvSpPr/>
          <p:nvPr/>
        </p:nvSpPr>
        <p:spPr>
          <a:xfrm>
            <a:off x="4714875" y="988684"/>
            <a:ext cx="2286000" cy="1001911"/>
          </a:xfrm>
          <a:prstGeom prst="rect">
            <a:avLst/>
          </a:prstGeom>
          <a:solidFill>
            <a:srgbClr val="F9FAFB"/>
          </a:solidFill>
          <a:ln/>
        </p:spPr>
      </p:sp>
      <p:sp>
        <p:nvSpPr>
          <p:cNvPr id="11" name="Shape 7"/>
          <p:cNvSpPr/>
          <p:nvPr/>
        </p:nvSpPr>
        <p:spPr>
          <a:xfrm>
            <a:off x="4714875" y="988684"/>
            <a:ext cx="28575" cy="1001911"/>
          </a:xfrm>
          <a:prstGeom prst="rect">
            <a:avLst/>
          </a:prstGeom>
          <a:solidFill>
            <a:srgbClr val="9CA3AF"/>
          </a:solidFill>
          <a:ln/>
        </p:spPr>
      </p:sp>
      <p:sp>
        <p:nvSpPr>
          <p:cNvPr id="12" name="Text 8"/>
          <p:cNvSpPr/>
          <p:nvPr/>
        </p:nvSpPr>
        <p:spPr>
          <a:xfrm>
            <a:off x="4857750" y="1131559"/>
            <a:ext cx="2000250"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4A5568"/>
                </a:solidFill>
              </a:rPr>
              <a:t>Minor Severity</a:t>
            </a:r>
            <a:endParaRPr lang="en-US" sz="683" dirty="0"/>
          </a:p>
        </p:txBody>
      </p:sp>
      <p:sp>
        <p:nvSpPr>
          <p:cNvPr id="13" name="Text 9"/>
          <p:cNvSpPr/>
          <p:nvPr/>
        </p:nvSpPr>
        <p:spPr>
          <a:xfrm>
            <a:off x="4857750" y="1338728"/>
            <a:ext cx="2000250" cy="257175"/>
          </a:xfrm>
          <a:prstGeom prst="rect">
            <a:avLst/>
          </a:prstGeom>
          <a:noFill/>
          <a:ln/>
        </p:spPr>
        <p:txBody>
          <a:bodyPr wrap="none" lIns="0" tIns="0" rIns="0" bIns="0" rtlCol="0" anchor="t">
            <a:spAutoFit/>
          </a:bodyPr>
          <a:lstStyle/>
          <a:p>
            <a:pPr marL="0" indent="0" algn="ctr">
              <a:lnSpc>
                <a:spcPts val="2000"/>
              </a:lnSpc>
              <a:buNone/>
            </a:pPr>
            <a:r>
              <a:rPr lang="en-US" sz="1808" b="1" dirty="0">
                <a:solidFill>
                  <a:srgbClr val="9CA3AF"/>
                </a:solidFill>
              </a:rPr>
              <a:t>3</a:t>
            </a:r>
            <a:endParaRPr lang="en-US" sz="1808" dirty="0"/>
          </a:p>
        </p:txBody>
      </p:sp>
      <p:sp>
        <p:nvSpPr>
          <p:cNvPr id="14" name="Text 10"/>
          <p:cNvSpPr/>
          <p:nvPr/>
        </p:nvSpPr>
        <p:spPr>
          <a:xfrm>
            <a:off x="4857750" y="1653053"/>
            <a:ext cx="2000250"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4A5568"/>
                </a:solidFill>
              </a:rPr>
              <a:t>7.14%</a:t>
            </a:r>
            <a:endParaRPr lang="en-US" sz="987" dirty="0"/>
          </a:p>
        </p:txBody>
      </p:sp>
      <p:pic>
        <p:nvPicPr>
          <p:cNvPr id="15" name="Image 1" descr="preencoded.png"/>
          <p:cNvPicPr>
            <a:picLocks noChangeAspect="1"/>
          </p:cNvPicPr>
          <p:nvPr/>
        </p:nvPicPr>
        <p:blipFill>
          <a:blip r:embed="rId3"/>
          <a:stretch>
            <a:fillRect/>
          </a:stretch>
        </p:blipFill>
        <p:spPr>
          <a:xfrm>
            <a:off x="2786063" y="2276345"/>
            <a:ext cx="3571875" cy="2000250"/>
          </a:xfrm>
          <a:prstGeom prst="rect">
            <a:avLst/>
          </a:prstGeom>
        </p:spPr>
      </p:pic>
      <p:sp>
        <p:nvSpPr>
          <p:cNvPr id="16" name="Text 11"/>
          <p:cNvSpPr/>
          <p:nvPr/>
        </p:nvSpPr>
        <p:spPr>
          <a:xfrm>
            <a:off x="1714500" y="4490907"/>
            <a:ext cx="5715000" cy="339132"/>
          </a:xfrm>
          <a:prstGeom prst="rect">
            <a:avLst/>
          </a:prstGeom>
          <a:noFill/>
          <a:ln/>
        </p:spPr>
        <p:txBody>
          <a:bodyPr wrap="square" lIns="510286" tIns="0" rIns="510286" bIns="0" rtlCol="0" anchor="t">
            <a:spAutoFit/>
          </a:bodyPr>
          <a:lstStyle/>
          <a:p>
            <a:pPr marL="0" indent="0" algn="ctr">
              <a:lnSpc>
                <a:spcPts val="1400"/>
              </a:lnSpc>
              <a:buNone/>
            </a:pPr>
            <a:r>
              <a:rPr lang="en-US" sz="834" dirty="0">
                <a:solidFill>
                  <a:schemeClr val="bg1"/>
                </a:solidFill>
              </a:rPr>
              <a:t>The overwhelming majority of identified defects are classified as </a:t>
            </a:r>
            <a:r>
              <a:rPr lang="en-US" sz="784" b="1" dirty="0">
                <a:solidFill>
                  <a:schemeClr val="bg1"/>
                </a:solidFill>
              </a:rPr>
              <a:t>Major</a:t>
            </a:r>
            <a:r>
              <a:rPr lang="en-US" sz="834" dirty="0">
                <a:solidFill>
                  <a:schemeClr val="bg1"/>
                </a:solidFill>
              </a:rPr>
              <a:t>, signifying </a:t>
            </a:r>
            <a:r>
              <a:rPr lang="en-US" sz="784" b="1" dirty="0">
                <a:solidFill>
                  <a:schemeClr val="bg1"/>
                </a:solidFill>
              </a:rPr>
              <a:t>critical functional failures</a:t>
            </a:r>
            <a:r>
              <a:rPr lang="en-US" sz="834" dirty="0">
                <a:solidFill>
                  <a:schemeClr val="bg1"/>
                </a:solidFill>
              </a:rPr>
              <a:t> that severely impact the user experience and system integrity.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0"/>
          <p:cNvSpPr/>
          <p:nvPr/>
        </p:nvSpPr>
        <p:spPr>
          <a:xfrm>
            <a:off x="75161" y="99539"/>
            <a:ext cx="1437445" cy="259558"/>
          </a:xfrm>
          <a:prstGeom prst="rect">
            <a:avLst/>
          </a:prstGeom>
          <a:noFill/>
          <a:ln/>
        </p:spPr>
        <p:txBody>
          <a:bodyPr wrap="none" lIns="0" tIns="0" rIns="0" bIns="0" rtlCol="0" anchor="t">
            <a:spAutoFit/>
          </a:bodyPr>
          <a:lstStyle/>
          <a:p>
            <a:pPr marL="0" indent="0" algn="l">
              <a:lnSpc>
                <a:spcPts val="2200"/>
              </a:lnSpc>
              <a:buNone/>
            </a:pPr>
            <a:r>
              <a:rPr lang="en-US" sz="1602" b="1" dirty="0">
                <a:solidFill>
                  <a:schemeClr val="bg1"/>
                </a:solidFill>
              </a:rPr>
              <a:t>Test Approach</a:t>
            </a:r>
            <a:endParaRPr lang="en-US" sz="1602" dirty="0">
              <a:solidFill>
                <a:schemeClr val="bg1"/>
              </a:solidFill>
            </a:endParaRPr>
          </a:p>
        </p:txBody>
      </p:sp>
      <p:sp>
        <p:nvSpPr>
          <p:cNvPr id="5" name="Text 1"/>
          <p:cNvSpPr/>
          <p:nvPr/>
        </p:nvSpPr>
        <p:spPr>
          <a:xfrm>
            <a:off x="1570983" y="99539"/>
            <a:ext cx="1813253" cy="259558"/>
          </a:xfrm>
          <a:prstGeom prst="rect">
            <a:avLst/>
          </a:prstGeom>
          <a:noFill/>
          <a:ln/>
        </p:spPr>
        <p:txBody>
          <a:bodyPr wrap="none" lIns="0" tIns="0" rIns="0" bIns="0" rtlCol="0" anchor="t">
            <a:spAutoFit/>
          </a:bodyPr>
          <a:lstStyle/>
          <a:p>
            <a:pPr marL="0" indent="0" algn="l">
              <a:lnSpc>
                <a:spcPts val="2200"/>
              </a:lnSpc>
              <a:buNone/>
            </a:pPr>
            <a:r>
              <a:rPr lang="en-US" sz="1602" b="1" dirty="0">
                <a:solidFill>
                  <a:schemeClr val="bg1"/>
                </a:solidFill>
              </a:rPr>
              <a:t>&amp; Test Techniques</a:t>
            </a:r>
            <a:endParaRPr lang="en-US" sz="1602" dirty="0">
              <a:solidFill>
                <a:schemeClr val="bg1"/>
              </a:solidFill>
            </a:endParaRPr>
          </a:p>
        </p:txBody>
      </p:sp>
      <p:sp>
        <p:nvSpPr>
          <p:cNvPr id="6" name="Text 2"/>
          <p:cNvSpPr/>
          <p:nvPr/>
        </p:nvSpPr>
        <p:spPr>
          <a:xfrm>
            <a:off x="42259" y="428453"/>
            <a:ext cx="5223103" cy="2136482"/>
          </a:xfrm>
          <a:prstGeom prst="rect">
            <a:avLst/>
          </a:prstGeom>
          <a:noFill/>
          <a:ln/>
        </p:spPr>
        <p:txBody>
          <a:bodyPr wrap="square" lIns="0" tIns="0" rIns="0" bIns="0" rtlCol="0" anchor="t">
            <a:spAutoFit/>
          </a:bodyPr>
          <a:lstStyle/>
          <a:p>
            <a:pPr marL="0" indent="0" algn="l">
              <a:lnSpc>
                <a:spcPts val="1400"/>
              </a:lnSpc>
              <a:buNone/>
            </a:pPr>
            <a:r>
              <a:rPr lang="en-US" sz="900" dirty="0">
                <a:solidFill>
                  <a:schemeClr val="bg1"/>
                </a:solidFill>
              </a:rPr>
              <a:t>• Manual functional testing will be performed for all login and password recovery requirements.</a:t>
            </a:r>
          </a:p>
          <a:p>
            <a:pPr marL="0" indent="0" algn="l">
              <a:lnSpc>
                <a:spcPts val="1400"/>
              </a:lnSpc>
              <a:buNone/>
            </a:pPr>
            <a:r>
              <a:rPr lang="en-US" sz="900" dirty="0">
                <a:solidFill>
                  <a:schemeClr val="bg1"/>
                </a:solidFill>
              </a:rPr>
              <a:t>• Each requirement (AUTH-001 to AUTH-011) will be validated individually with positive and negative test scenarios.</a:t>
            </a:r>
          </a:p>
          <a:p>
            <a:pPr marL="0" indent="0" algn="l">
              <a:lnSpc>
                <a:spcPts val="1400"/>
              </a:lnSpc>
              <a:buNone/>
            </a:pPr>
            <a:r>
              <a:rPr lang="en-US" sz="900" dirty="0">
                <a:solidFill>
                  <a:schemeClr val="bg1"/>
                </a:solidFill>
              </a:rPr>
              <a:t>• Field-level validation will be tested for blank entries, invalid formats, and valid registered credentials.</a:t>
            </a:r>
          </a:p>
          <a:p>
            <a:pPr marL="0" indent="0" algn="l">
              <a:lnSpc>
                <a:spcPts val="1400"/>
              </a:lnSpc>
              <a:buNone/>
            </a:pPr>
            <a:r>
              <a:rPr lang="en-US" sz="900" dirty="0">
                <a:solidFill>
                  <a:schemeClr val="bg1"/>
                </a:solidFill>
              </a:rPr>
              <a:t>• Error messages will be checked for accuracy, correctness, and alignment with requirements.</a:t>
            </a:r>
          </a:p>
          <a:p>
            <a:pPr marL="0" indent="0" algn="l">
              <a:lnSpc>
                <a:spcPts val="1400"/>
              </a:lnSpc>
              <a:buNone/>
            </a:pPr>
            <a:r>
              <a:rPr lang="en-US" sz="900" dirty="0">
                <a:solidFill>
                  <a:schemeClr val="bg1"/>
                </a:solidFill>
              </a:rPr>
              <a:t>• Redirection behavior will be validated after successful login.</a:t>
            </a:r>
          </a:p>
          <a:p>
            <a:pPr marL="0" indent="0" algn="l">
              <a:lnSpc>
                <a:spcPts val="1400"/>
              </a:lnSpc>
              <a:buNone/>
            </a:pPr>
            <a:r>
              <a:rPr lang="en-US" sz="900" dirty="0">
                <a:solidFill>
                  <a:schemeClr val="bg1"/>
                </a:solidFill>
              </a:rPr>
              <a:t>• Password recovery flow will be tested using valid and invalid user information.</a:t>
            </a:r>
          </a:p>
          <a:p>
            <a:pPr marL="0" indent="0" algn="l">
              <a:lnSpc>
                <a:spcPts val="1400"/>
              </a:lnSpc>
              <a:buNone/>
            </a:pPr>
            <a:r>
              <a:rPr lang="en-US" sz="900" dirty="0">
                <a:solidFill>
                  <a:schemeClr val="bg1"/>
                </a:solidFill>
              </a:rPr>
              <a:t>• Session management tests will verify that user sessions persist during normal navigation and end properly after logout.</a:t>
            </a:r>
          </a:p>
          <a:p>
            <a:pPr marL="0" indent="0" algn="l">
              <a:lnSpc>
                <a:spcPts val="1400"/>
              </a:lnSpc>
              <a:buNone/>
            </a:pPr>
            <a:r>
              <a:rPr lang="en-US" sz="900" dirty="0">
                <a:solidFill>
                  <a:schemeClr val="bg1"/>
                </a:solidFill>
              </a:rPr>
              <a:t>• Test results will be documented, and defects will be reported with request/response logs and screenshots.</a:t>
            </a:r>
          </a:p>
        </p:txBody>
      </p:sp>
      <p:sp>
        <p:nvSpPr>
          <p:cNvPr id="7" name="Text 3"/>
          <p:cNvSpPr/>
          <p:nvPr/>
        </p:nvSpPr>
        <p:spPr>
          <a:xfrm>
            <a:off x="0" y="2634291"/>
            <a:ext cx="8959143" cy="2415277"/>
          </a:xfrm>
          <a:prstGeom prst="rect">
            <a:avLst/>
          </a:prstGeom>
          <a:noFill/>
          <a:ln/>
        </p:spPr>
        <p:txBody>
          <a:bodyPr wrap="square" lIns="0" tIns="0" rIns="0" bIns="0" rtlCol="0" anchor="t">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900" b="1"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Equivalence Partitioning (EP):</a:t>
            </a:r>
            <a:b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br>
            <a: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Categorizing inputs into valid and invalid partitions for username, password, and recovery fields.</a:t>
            </a:r>
            <a:endParaRPr lang="en-US" sz="9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900" b="1"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Boundary Value Analysis (BVA):</a:t>
            </a:r>
            <a:b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br>
            <a: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Applying limits on username/password length (min/max characters if applicable).</a:t>
            </a:r>
            <a:endParaRPr lang="en-US" sz="9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900" b="1"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Positive &amp; Negative Testing:</a:t>
            </a:r>
            <a:b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br>
            <a: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Validating correct login with valid inputs and proper rejection of invalid ones.</a:t>
            </a:r>
            <a:endParaRPr lang="en-US" sz="9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900" b="1"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Error Guessing:</a:t>
            </a:r>
            <a:b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br>
            <a: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Predicting common issues such as spaces-only input, expired temporary passwords, incorrect capitalization.</a:t>
            </a:r>
            <a:endParaRPr lang="en-US" sz="9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900" b="1"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Use Case Testing:</a:t>
            </a:r>
            <a:b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br>
            <a: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Validating real-world flows such as "Login → Navigate → Logout".</a:t>
            </a:r>
            <a:endParaRPr lang="en-US" sz="9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900" b="1"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State Transition Testing:</a:t>
            </a:r>
            <a:b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br>
            <a:r>
              <a:rPr lang="en-US" sz="900" kern="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Ensuring session states change correctly (Logged Out → Logged In → Logged Out).</a:t>
            </a:r>
            <a:endParaRPr lang="en-US" sz="9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p:txBody>
      </p:sp>
      <p:sp>
        <p:nvSpPr>
          <p:cNvPr id="8" name="Text 4"/>
          <p:cNvSpPr/>
          <p:nvPr/>
        </p:nvSpPr>
        <p:spPr>
          <a:xfrm>
            <a:off x="428625" y="2118066"/>
            <a:ext cx="4863136"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sp>
        <p:nvSpPr>
          <p:cNvPr id="9" name="Text 5"/>
          <p:cNvSpPr/>
          <p:nvPr/>
        </p:nvSpPr>
        <p:spPr>
          <a:xfrm>
            <a:off x="428625" y="2584196"/>
            <a:ext cx="65" cy="130741"/>
          </a:xfrm>
          <a:prstGeom prst="rect">
            <a:avLst/>
          </a:prstGeom>
          <a:noFill/>
          <a:ln/>
        </p:spPr>
        <p:txBody>
          <a:bodyPr wrap="none" lIns="0" tIns="0" rIns="0" bIns="0" rtlCol="0" anchor="t">
            <a:spAutoFit/>
          </a:bodyPr>
          <a:lstStyle/>
          <a:p>
            <a:pPr marL="0" indent="0" algn="l">
              <a:lnSpc>
                <a:spcPts val="1100"/>
              </a:lnSpc>
              <a:buNone/>
            </a:pPr>
            <a:endParaRPr lang="en-US" sz="834" dirty="0"/>
          </a:p>
        </p:txBody>
      </p:sp>
      <p:sp>
        <p:nvSpPr>
          <p:cNvPr id="10" name="Text 6"/>
          <p:cNvSpPr/>
          <p:nvPr/>
        </p:nvSpPr>
        <p:spPr>
          <a:xfrm>
            <a:off x="428625" y="2739572"/>
            <a:ext cx="65" cy="130741"/>
          </a:xfrm>
          <a:prstGeom prst="rect">
            <a:avLst/>
          </a:prstGeom>
          <a:noFill/>
          <a:ln/>
        </p:spPr>
        <p:txBody>
          <a:bodyPr wrap="none" lIns="0" tIns="0" rIns="0" bIns="0" rtlCol="0" anchor="t">
            <a:spAutoFit/>
          </a:bodyPr>
          <a:lstStyle/>
          <a:p>
            <a:pPr marL="0" indent="0" algn="l">
              <a:lnSpc>
                <a:spcPts val="1100"/>
              </a:lnSpc>
              <a:buNone/>
            </a:pPr>
            <a:endParaRPr lang="en-US" sz="834" dirty="0"/>
          </a:p>
        </p:txBody>
      </p:sp>
      <p:sp>
        <p:nvSpPr>
          <p:cNvPr id="11" name="Text 7"/>
          <p:cNvSpPr/>
          <p:nvPr/>
        </p:nvSpPr>
        <p:spPr>
          <a:xfrm>
            <a:off x="465190" y="2879688"/>
            <a:ext cx="4843574"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sp>
        <p:nvSpPr>
          <p:cNvPr id="12" name="Text 8"/>
          <p:cNvSpPr/>
          <p:nvPr/>
        </p:nvSpPr>
        <p:spPr>
          <a:xfrm>
            <a:off x="465190" y="3190441"/>
            <a:ext cx="4813520"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sp>
        <p:nvSpPr>
          <p:cNvPr id="13" name="Text 9"/>
          <p:cNvSpPr/>
          <p:nvPr/>
        </p:nvSpPr>
        <p:spPr>
          <a:xfrm>
            <a:off x="184857" y="2843340"/>
            <a:ext cx="4585506" cy="159595"/>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4" name="Text 10"/>
          <p:cNvSpPr/>
          <p:nvPr/>
        </p:nvSpPr>
        <p:spPr>
          <a:xfrm>
            <a:off x="428625" y="4144714"/>
            <a:ext cx="4773755"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sp>
        <p:nvSpPr>
          <p:cNvPr id="15" name="Text 11"/>
          <p:cNvSpPr/>
          <p:nvPr/>
        </p:nvSpPr>
        <p:spPr>
          <a:xfrm>
            <a:off x="428625" y="4455468"/>
            <a:ext cx="4866094"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sp>
        <p:nvSpPr>
          <p:cNvPr id="16" name="Text 12"/>
          <p:cNvSpPr/>
          <p:nvPr/>
        </p:nvSpPr>
        <p:spPr>
          <a:xfrm>
            <a:off x="428625" y="4766221"/>
            <a:ext cx="4801074"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sp>
        <p:nvSpPr>
          <p:cNvPr id="17" name="Text 13"/>
          <p:cNvSpPr/>
          <p:nvPr/>
        </p:nvSpPr>
        <p:spPr>
          <a:xfrm>
            <a:off x="428625" y="5085904"/>
            <a:ext cx="65" cy="130741"/>
          </a:xfrm>
          <a:prstGeom prst="rect">
            <a:avLst/>
          </a:prstGeom>
          <a:noFill/>
          <a:ln/>
        </p:spPr>
        <p:txBody>
          <a:bodyPr wrap="none" lIns="0" tIns="0" rIns="0" bIns="0" rtlCol="0" anchor="t">
            <a:spAutoFit/>
          </a:bodyPr>
          <a:lstStyle/>
          <a:p>
            <a:pPr marL="0" indent="0" algn="l">
              <a:lnSpc>
                <a:spcPts val="1100"/>
              </a:lnSpc>
              <a:buNone/>
            </a:pPr>
            <a:endParaRPr lang="en-US" sz="834" dirty="0"/>
          </a:p>
        </p:txBody>
      </p:sp>
      <p:sp>
        <p:nvSpPr>
          <p:cNvPr id="18" name="Text 14"/>
          <p:cNvSpPr/>
          <p:nvPr/>
        </p:nvSpPr>
        <p:spPr>
          <a:xfrm>
            <a:off x="-1200478" y="5800495"/>
            <a:ext cx="4836737" cy="130741"/>
          </a:xfrm>
          <a:prstGeom prst="rect">
            <a:avLst/>
          </a:prstGeom>
          <a:noFill/>
          <a:ln/>
        </p:spPr>
        <p:txBody>
          <a:bodyPr wrap="square" lIns="0" tIns="0" rIns="0" bIns="0" rtlCol="0" anchor="t">
            <a:spAutoFit/>
          </a:bodyPr>
          <a:lstStyle/>
          <a:p>
            <a:pPr marL="0" indent="0" algn="l">
              <a:lnSpc>
                <a:spcPts val="1100"/>
              </a:lnSpc>
              <a:buNone/>
            </a:pPr>
            <a:endParaRPr lang="en-US" sz="834" dirty="0"/>
          </a:p>
        </p:txBody>
      </p:sp>
      <p:pic>
        <p:nvPicPr>
          <p:cNvPr id="19" name="Image 1" descr="preencoded.png"/>
          <p:cNvPicPr>
            <a:picLocks noChangeAspect="1"/>
          </p:cNvPicPr>
          <p:nvPr/>
        </p:nvPicPr>
        <p:blipFill>
          <a:blip r:embed="rId3"/>
          <a:stretch>
            <a:fillRect/>
          </a:stretch>
        </p:blipFill>
        <p:spPr>
          <a:xfrm>
            <a:off x="5450219" y="1308748"/>
            <a:ext cx="3129214" cy="19470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0"/>
          <p:cNvSpPr/>
          <p:nvPr/>
        </p:nvSpPr>
        <p:spPr>
          <a:xfrm>
            <a:off x="428625" y="428625"/>
            <a:ext cx="8286750" cy="2743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332"/>
                </a:solidFill>
              </a:rPr>
              <a:t>Key Defects in Login Functionality</a:t>
            </a:r>
            <a:endParaRPr lang="en-US" sz="1602" dirty="0"/>
          </a:p>
        </p:txBody>
      </p:sp>
      <p:sp>
        <p:nvSpPr>
          <p:cNvPr id="5" name="Shape 1"/>
          <p:cNvSpPr/>
          <p:nvPr/>
        </p:nvSpPr>
        <p:spPr>
          <a:xfrm>
            <a:off x="428625" y="881528"/>
            <a:ext cx="740439" cy="619720"/>
          </a:xfrm>
          <a:prstGeom prst="rect">
            <a:avLst/>
          </a:prstGeom>
          <a:solidFill>
            <a:srgbClr val="FEF2F2"/>
          </a:solidFill>
          <a:ln/>
        </p:spPr>
      </p:sp>
      <p:sp>
        <p:nvSpPr>
          <p:cNvPr id="6" name="Shape 2"/>
          <p:cNvSpPr/>
          <p:nvPr/>
        </p:nvSpPr>
        <p:spPr>
          <a:xfrm>
            <a:off x="428625" y="881528"/>
            <a:ext cx="28575" cy="619720"/>
          </a:xfrm>
          <a:prstGeom prst="rect">
            <a:avLst/>
          </a:prstGeom>
          <a:solidFill>
            <a:srgbClr val="DC2626"/>
          </a:solidFill>
          <a:ln/>
        </p:spPr>
      </p:sp>
      <p:sp>
        <p:nvSpPr>
          <p:cNvPr id="7" name="Text 3"/>
          <p:cNvSpPr/>
          <p:nvPr/>
        </p:nvSpPr>
        <p:spPr>
          <a:xfrm>
            <a:off x="535781" y="988684"/>
            <a:ext cx="497551"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4A5568"/>
                </a:solidFill>
              </a:rPr>
              <a:t>Pass Rate</a:t>
            </a:r>
            <a:endParaRPr lang="en-US" sz="683" dirty="0"/>
          </a:p>
        </p:txBody>
      </p:sp>
      <p:sp>
        <p:nvSpPr>
          <p:cNvPr id="8" name="Text 4"/>
          <p:cNvSpPr/>
          <p:nvPr/>
        </p:nvSpPr>
        <p:spPr>
          <a:xfrm>
            <a:off x="535781" y="1160134"/>
            <a:ext cx="49755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DC2626"/>
                </a:solidFill>
              </a:rPr>
              <a:t>35.0%</a:t>
            </a:r>
            <a:endParaRPr lang="en-US" sz="1193" dirty="0"/>
          </a:p>
        </p:txBody>
      </p:sp>
      <p:sp>
        <p:nvSpPr>
          <p:cNvPr id="9" name="Shape 5"/>
          <p:cNvSpPr/>
          <p:nvPr/>
        </p:nvSpPr>
        <p:spPr>
          <a:xfrm>
            <a:off x="428625" y="1679842"/>
            <a:ext cx="4071938" cy="944761"/>
          </a:xfrm>
          <a:prstGeom prst="rect">
            <a:avLst/>
          </a:prstGeom>
          <a:solidFill>
            <a:srgbClr val="F9FAFB"/>
          </a:solidFill>
          <a:ln/>
        </p:spPr>
      </p:sp>
      <p:sp>
        <p:nvSpPr>
          <p:cNvPr id="10" name="Shape 6"/>
          <p:cNvSpPr/>
          <p:nvPr/>
        </p:nvSpPr>
        <p:spPr>
          <a:xfrm>
            <a:off x="428625" y="1679842"/>
            <a:ext cx="28575" cy="944761"/>
          </a:xfrm>
          <a:prstGeom prst="rect">
            <a:avLst/>
          </a:prstGeom>
          <a:solidFill>
            <a:srgbClr val="DC2626"/>
          </a:solidFill>
          <a:ln/>
        </p:spPr>
      </p:sp>
      <p:sp>
        <p:nvSpPr>
          <p:cNvPr id="11" name="Text 7"/>
          <p:cNvSpPr/>
          <p:nvPr/>
        </p:nvSpPr>
        <p:spPr>
          <a:xfrm>
            <a:off x="557213" y="1808429"/>
            <a:ext cx="3814763"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2332"/>
                </a:solidFill>
              </a:rPr>
              <a:t>Boundary Condition Failure</a:t>
            </a:r>
            <a:endParaRPr lang="en-US" sz="683" dirty="0"/>
          </a:p>
        </p:txBody>
      </p:sp>
      <p:sp>
        <p:nvSpPr>
          <p:cNvPr id="12" name="Text 8"/>
          <p:cNvSpPr/>
          <p:nvPr/>
        </p:nvSpPr>
        <p:spPr>
          <a:xfrm>
            <a:off x="557213" y="2029885"/>
            <a:ext cx="3814763"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4A5568"/>
                </a:solidFill>
              </a:rPr>
              <a:t>System fails to enforce minimum/maximum length for Username (1 char accepted) and Password (7 or 13 chars accepted).</a:t>
            </a:r>
            <a:endParaRPr lang="en-US" sz="674" dirty="0"/>
          </a:p>
        </p:txBody>
      </p:sp>
      <p:sp>
        <p:nvSpPr>
          <p:cNvPr id="13" name="Text 9"/>
          <p:cNvSpPr/>
          <p:nvPr/>
        </p:nvSpPr>
        <p:spPr>
          <a:xfrm>
            <a:off x="557213" y="2379929"/>
            <a:ext cx="3814763"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DC2626"/>
                </a:solidFill>
              </a:rPr>
              <a:t>BUG_001, BUG_005, BUG_006</a:t>
            </a:r>
            <a:endParaRPr lang="en-US" sz="584" dirty="0"/>
          </a:p>
        </p:txBody>
      </p:sp>
      <p:sp>
        <p:nvSpPr>
          <p:cNvPr id="14" name="Shape 10"/>
          <p:cNvSpPr/>
          <p:nvPr/>
        </p:nvSpPr>
        <p:spPr>
          <a:xfrm>
            <a:off x="4643438" y="1679842"/>
            <a:ext cx="4071938" cy="944761"/>
          </a:xfrm>
          <a:prstGeom prst="rect">
            <a:avLst/>
          </a:prstGeom>
          <a:solidFill>
            <a:srgbClr val="F9FAFB"/>
          </a:solidFill>
          <a:ln/>
        </p:spPr>
      </p:sp>
      <p:sp>
        <p:nvSpPr>
          <p:cNvPr id="15" name="Shape 11"/>
          <p:cNvSpPr/>
          <p:nvPr/>
        </p:nvSpPr>
        <p:spPr>
          <a:xfrm>
            <a:off x="4643438" y="1679842"/>
            <a:ext cx="28575" cy="944761"/>
          </a:xfrm>
          <a:prstGeom prst="rect">
            <a:avLst/>
          </a:prstGeom>
          <a:solidFill>
            <a:srgbClr val="DC2626"/>
          </a:solidFill>
          <a:ln/>
        </p:spPr>
      </p:sp>
      <p:sp>
        <p:nvSpPr>
          <p:cNvPr id="16" name="Text 12"/>
          <p:cNvSpPr/>
          <p:nvPr/>
        </p:nvSpPr>
        <p:spPr>
          <a:xfrm>
            <a:off x="4772025" y="1808429"/>
            <a:ext cx="3814763"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2332"/>
                </a:solidFill>
              </a:rPr>
              <a:t>Character Validation Bypass</a:t>
            </a:r>
            <a:endParaRPr lang="en-US" sz="683" dirty="0"/>
          </a:p>
        </p:txBody>
      </p:sp>
      <p:sp>
        <p:nvSpPr>
          <p:cNvPr id="17" name="Text 13"/>
          <p:cNvSpPr/>
          <p:nvPr/>
        </p:nvSpPr>
        <p:spPr>
          <a:xfrm>
            <a:off x="4772025" y="2029885"/>
            <a:ext cx="3814763"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4A5568"/>
                </a:solidFill>
              </a:rPr>
              <a:t>Invalid characters (e.g., spaces, special chars) in Username are accepted, leading to unexpected success.</a:t>
            </a:r>
            <a:endParaRPr lang="en-US" sz="674" dirty="0"/>
          </a:p>
        </p:txBody>
      </p:sp>
      <p:sp>
        <p:nvSpPr>
          <p:cNvPr id="18" name="Text 14"/>
          <p:cNvSpPr/>
          <p:nvPr/>
        </p:nvSpPr>
        <p:spPr>
          <a:xfrm>
            <a:off x="4772025" y="2379929"/>
            <a:ext cx="3814763"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DC2626"/>
                </a:solidFill>
              </a:rPr>
              <a:t>BUG_002</a:t>
            </a:r>
            <a:endParaRPr lang="en-US" sz="584" dirty="0"/>
          </a:p>
        </p:txBody>
      </p:sp>
      <p:sp>
        <p:nvSpPr>
          <p:cNvPr id="19" name="Shape 15"/>
          <p:cNvSpPr/>
          <p:nvPr/>
        </p:nvSpPr>
        <p:spPr>
          <a:xfrm>
            <a:off x="428625" y="2767478"/>
            <a:ext cx="4071938" cy="944761"/>
          </a:xfrm>
          <a:prstGeom prst="rect">
            <a:avLst/>
          </a:prstGeom>
          <a:solidFill>
            <a:srgbClr val="F9FAFB"/>
          </a:solidFill>
          <a:ln/>
        </p:spPr>
      </p:sp>
      <p:sp>
        <p:nvSpPr>
          <p:cNvPr id="20" name="Shape 16"/>
          <p:cNvSpPr/>
          <p:nvPr/>
        </p:nvSpPr>
        <p:spPr>
          <a:xfrm>
            <a:off x="428625" y="2767478"/>
            <a:ext cx="28575" cy="944761"/>
          </a:xfrm>
          <a:prstGeom prst="rect">
            <a:avLst/>
          </a:prstGeom>
          <a:solidFill>
            <a:srgbClr val="DC2626"/>
          </a:solidFill>
          <a:ln/>
        </p:spPr>
      </p:sp>
      <p:sp>
        <p:nvSpPr>
          <p:cNvPr id="21" name="Text 17"/>
          <p:cNvSpPr/>
          <p:nvPr/>
        </p:nvSpPr>
        <p:spPr>
          <a:xfrm>
            <a:off x="557213" y="2896065"/>
            <a:ext cx="3814763"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2332"/>
                </a:solidFill>
              </a:rPr>
              <a:t>Incorrect Error Message</a:t>
            </a:r>
            <a:endParaRPr lang="en-US" sz="683" dirty="0"/>
          </a:p>
        </p:txBody>
      </p:sp>
      <p:sp>
        <p:nvSpPr>
          <p:cNvPr id="22" name="Text 18"/>
          <p:cNvSpPr/>
          <p:nvPr/>
        </p:nvSpPr>
        <p:spPr>
          <a:xfrm>
            <a:off x="557213" y="3117521"/>
            <a:ext cx="3814763"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4A5568"/>
                </a:solidFill>
              </a:rPr>
              <a:t>Invalid usernames incorrectly return "This username already exists" error instead of "The username and password could not be verified."</a:t>
            </a:r>
            <a:endParaRPr lang="en-US" sz="674" dirty="0"/>
          </a:p>
        </p:txBody>
      </p:sp>
      <p:sp>
        <p:nvSpPr>
          <p:cNvPr id="23" name="Text 19"/>
          <p:cNvSpPr/>
          <p:nvPr/>
        </p:nvSpPr>
        <p:spPr>
          <a:xfrm>
            <a:off x="557213" y="3467565"/>
            <a:ext cx="3814763"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DC2626"/>
                </a:solidFill>
              </a:rPr>
              <a:t>BUG_003, BUG_004</a:t>
            </a:r>
            <a:endParaRPr lang="en-US" sz="584" dirty="0"/>
          </a:p>
        </p:txBody>
      </p:sp>
      <p:sp>
        <p:nvSpPr>
          <p:cNvPr id="24" name="Shape 20"/>
          <p:cNvSpPr/>
          <p:nvPr/>
        </p:nvSpPr>
        <p:spPr>
          <a:xfrm>
            <a:off x="4643438" y="2767478"/>
            <a:ext cx="4071938" cy="944761"/>
          </a:xfrm>
          <a:prstGeom prst="rect">
            <a:avLst/>
          </a:prstGeom>
          <a:solidFill>
            <a:srgbClr val="F9FAFB"/>
          </a:solidFill>
          <a:ln/>
        </p:spPr>
      </p:sp>
      <p:sp>
        <p:nvSpPr>
          <p:cNvPr id="25" name="Shape 21"/>
          <p:cNvSpPr/>
          <p:nvPr/>
        </p:nvSpPr>
        <p:spPr>
          <a:xfrm>
            <a:off x="4643438" y="2767478"/>
            <a:ext cx="28575" cy="944761"/>
          </a:xfrm>
          <a:prstGeom prst="rect">
            <a:avLst/>
          </a:prstGeom>
          <a:solidFill>
            <a:srgbClr val="DC2626"/>
          </a:solidFill>
          <a:ln/>
        </p:spPr>
      </p:sp>
      <p:sp>
        <p:nvSpPr>
          <p:cNvPr id="26" name="Text 22"/>
          <p:cNvSpPr/>
          <p:nvPr/>
        </p:nvSpPr>
        <p:spPr>
          <a:xfrm>
            <a:off x="4772025" y="2896065"/>
            <a:ext cx="3814763"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2332"/>
                </a:solidFill>
              </a:rPr>
              <a:t>Password Complexity Bypass</a:t>
            </a:r>
            <a:endParaRPr lang="en-US" sz="683" dirty="0"/>
          </a:p>
        </p:txBody>
      </p:sp>
      <p:sp>
        <p:nvSpPr>
          <p:cNvPr id="27" name="Text 23"/>
          <p:cNvSpPr/>
          <p:nvPr/>
        </p:nvSpPr>
        <p:spPr>
          <a:xfrm>
            <a:off x="4772025" y="3117521"/>
            <a:ext cx="3814763"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4A5568"/>
                </a:solidFill>
              </a:rPr>
              <a:t>System accepts passwords that fail complexity rules (missing uppercase, special characters, or numbers).</a:t>
            </a:r>
            <a:endParaRPr lang="en-US" sz="674" dirty="0"/>
          </a:p>
        </p:txBody>
      </p:sp>
      <p:sp>
        <p:nvSpPr>
          <p:cNvPr id="28" name="Text 24"/>
          <p:cNvSpPr/>
          <p:nvPr/>
        </p:nvSpPr>
        <p:spPr>
          <a:xfrm>
            <a:off x="4772025" y="3467565"/>
            <a:ext cx="3814763"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DC2626"/>
                </a:solidFill>
              </a:rPr>
              <a:t>BUG_007, BUG_008, BUG_009, BUG_010</a:t>
            </a:r>
            <a:endParaRPr lang="en-US" sz="584" dirty="0"/>
          </a:p>
        </p:txBody>
      </p:sp>
      <p:sp>
        <p:nvSpPr>
          <p:cNvPr id="29" name="Shape 25"/>
          <p:cNvSpPr/>
          <p:nvPr/>
        </p:nvSpPr>
        <p:spPr>
          <a:xfrm>
            <a:off x="428625" y="3997989"/>
            <a:ext cx="8286750" cy="534330"/>
          </a:xfrm>
          <a:prstGeom prst="rect">
            <a:avLst/>
          </a:prstGeom>
          <a:solidFill>
            <a:srgbClr val="FEF2F2"/>
          </a:solidFill>
          <a:ln/>
        </p:spPr>
      </p:sp>
      <p:sp>
        <p:nvSpPr>
          <p:cNvPr id="30" name="Shape 26"/>
          <p:cNvSpPr/>
          <p:nvPr/>
        </p:nvSpPr>
        <p:spPr>
          <a:xfrm>
            <a:off x="428625" y="3997989"/>
            <a:ext cx="28575" cy="534330"/>
          </a:xfrm>
          <a:prstGeom prst="rect">
            <a:avLst/>
          </a:prstGeom>
          <a:solidFill>
            <a:srgbClr val="DC2626"/>
          </a:solidFill>
          <a:ln/>
        </p:spPr>
      </p:sp>
      <p:sp>
        <p:nvSpPr>
          <p:cNvPr id="31" name="Text 27"/>
          <p:cNvSpPr/>
          <p:nvPr/>
        </p:nvSpPr>
        <p:spPr>
          <a:xfrm>
            <a:off x="535781" y="4105145"/>
            <a:ext cx="8072438" cy="320018"/>
          </a:xfrm>
          <a:prstGeom prst="rect">
            <a:avLst/>
          </a:prstGeom>
          <a:noFill/>
          <a:ln/>
        </p:spPr>
        <p:txBody>
          <a:bodyPr wrap="square" lIns="0" tIns="0" rIns="0" bIns="0" rtlCol="0" anchor="t">
            <a:spAutoFit/>
          </a:bodyPr>
          <a:lstStyle/>
          <a:p>
            <a:pPr marL="0" indent="0" algn="l">
              <a:lnSpc>
                <a:spcPts val="1300"/>
              </a:lnSpc>
              <a:buNone/>
            </a:pPr>
            <a:r>
              <a:rPr lang="en-US" sz="683" b="1" dirty="0">
                <a:solidFill>
                  <a:srgbClr val="1A2332"/>
                </a:solidFill>
              </a:rPr>
              <a:t>Critical Finding:</a:t>
            </a:r>
            <a:r>
              <a:rPr lang="en-US" sz="727" dirty="0">
                <a:solidFill>
                  <a:srgbClr val="4A5568"/>
                </a:solidFill>
              </a:rPr>
              <a:t> The Login module's input validation is fundamentally broken, allowing unauthorized or malformed credentials to gain access or trigger incorrect system responses. All 10 identified defects are classified as Major severity, indicating critical functional failures that severely impact security and system integrity.</a:t>
            </a:r>
            <a:endParaRPr lang="en-US" sz="68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0"/>
          <p:cNvSpPr/>
          <p:nvPr/>
        </p:nvSpPr>
        <p:spPr>
          <a:xfrm>
            <a:off x="428625" y="428625"/>
            <a:ext cx="3228128" cy="259558"/>
          </a:xfrm>
          <a:prstGeom prst="rect">
            <a:avLst/>
          </a:prstGeom>
          <a:noFill/>
          <a:ln/>
        </p:spPr>
        <p:txBody>
          <a:bodyPr wrap="none" lIns="0" tIns="0" rIns="0" bIns="0" rtlCol="0" anchor="t">
            <a:spAutoFit/>
          </a:bodyPr>
          <a:lstStyle/>
          <a:p>
            <a:pPr marL="0" indent="0" algn="l">
              <a:lnSpc>
                <a:spcPts val="2200"/>
              </a:lnSpc>
              <a:buNone/>
            </a:pPr>
            <a:r>
              <a:rPr lang="en-US" sz="1602" b="1" dirty="0">
                <a:solidFill>
                  <a:schemeClr val="bg1"/>
                </a:solidFill>
              </a:rPr>
              <a:t>Key Defects in Forgot Login Info</a:t>
            </a:r>
            <a:endParaRPr lang="en-US" sz="1602" dirty="0">
              <a:solidFill>
                <a:schemeClr val="bg1"/>
              </a:solidFill>
            </a:endParaRPr>
          </a:p>
        </p:txBody>
      </p:sp>
      <p:sp>
        <p:nvSpPr>
          <p:cNvPr id="5" name="Shape 1"/>
          <p:cNvSpPr/>
          <p:nvPr/>
        </p:nvSpPr>
        <p:spPr>
          <a:xfrm>
            <a:off x="428625" y="845809"/>
            <a:ext cx="4886325" cy="742950"/>
          </a:xfrm>
          <a:prstGeom prst="rect">
            <a:avLst/>
          </a:prstGeom>
          <a:solidFill>
            <a:srgbClr val="FEF2F2"/>
          </a:solidFill>
          <a:ln/>
        </p:spPr>
      </p:sp>
      <p:sp>
        <p:nvSpPr>
          <p:cNvPr id="6" name="Shape 2"/>
          <p:cNvSpPr/>
          <p:nvPr/>
        </p:nvSpPr>
        <p:spPr>
          <a:xfrm>
            <a:off x="428625" y="845809"/>
            <a:ext cx="28575" cy="742950"/>
          </a:xfrm>
          <a:prstGeom prst="rect">
            <a:avLst/>
          </a:prstGeom>
          <a:solidFill>
            <a:srgbClr val="DC2626"/>
          </a:solidFill>
          <a:ln/>
        </p:spPr>
      </p:sp>
      <p:sp>
        <p:nvSpPr>
          <p:cNvPr id="7" name="Text 3"/>
          <p:cNvSpPr/>
          <p:nvPr/>
        </p:nvSpPr>
        <p:spPr>
          <a:xfrm>
            <a:off x="514350" y="931534"/>
            <a:ext cx="4714875" cy="481799"/>
          </a:xfrm>
          <a:prstGeom prst="rect">
            <a:avLst/>
          </a:prstGeom>
          <a:noFill/>
          <a:ln/>
        </p:spPr>
        <p:txBody>
          <a:bodyPr wrap="square" lIns="0" tIns="0" rIns="0" bIns="0" rtlCol="0" anchor="t">
            <a:spAutoFit/>
          </a:bodyPr>
          <a:lstStyle/>
          <a:p>
            <a:pPr marL="0" indent="0" algn="l">
              <a:lnSpc>
                <a:spcPts val="1300"/>
              </a:lnSpc>
              <a:buNone/>
            </a:pPr>
            <a:r>
              <a:rPr lang="en-US" sz="734" b="1" dirty="0">
                <a:solidFill>
                  <a:schemeClr val="bg1"/>
                </a:solidFill>
              </a:rPr>
              <a:t>Defect Summary (32 Bugs, 90.6% Major):</a:t>
            </a:r>
            <a:r>
              <a:rPr lang="en-US" sz="780" dirty="0">
                <a:solidFill>
                  <a:schemeClr val="bg1"/>
                </a:solidFill>
              </a:rPr>
              <a:t> The Password Recovery mechanism exhibits a </a:t>
            </a:r>
            <a:r>
              <a:rPr lang="en-US" sz="885" b="1" dirty="0">
                <a:solidFill>
                  <a:schemeClr val="bg1"/>
                </a:solidFill>
              </a:rPr>
              <a:t>systemic failure</a:t>
            </a:r>
            <a:r>
              <a:rPr lang="en-US" sz="780" dirty="0">
                <a:solidFill>
                  <a:schemeClr val="bg1"/>
                </a:solidFill>
              </a:rPr>
              <a:t> where invalid input consistently leads to "Your account was created successfully. You are now logged in." instead of displaying the required error message.</a:t>
            </a:r>
            <a:endParaRPr lang="en-US" sz="734" dirty="0">
              <a:solidFill>
                <a:schemeClr val="bg1"/>
              </a:solidFill>
            </a:endParaRPr>
          </a:p>
        </p:txBody>
      </p:sp>
      <p:sp>
        <p:nvSpPr>
          <p:cNvPr id="8" name="Text 4"/>
          <p:cNvSpPr/>
          <p:nvPr/>
        </p:nvSpPr>
        <p:spPr>
          <a:xfrm>
            <a:off x="428625" y="1731634"/>
            <a:ext cx="1344920" cy="107017"/>
          </a:xfrm>
          <a:prstGeom prst="rect">
            <a:avLst/>
          </a:prstGeom>
          <a:noFill/>
          <a:ln/>
        </p:spPr>
        <p:txBody>
          <a:bodyPr wrap="none" lIns="0" tIns="0" rIns="0" bIns="0" rtlCol="0" anchor="t">
            <a:spAutoFit/>
          </a:bodyPr>
          <a:lstStyle/>
          <a:p>
            <a:pPr marL="0" indent="0" algn="l">
              <a:lnSpc>
                <a:spcPts val="900"/>
              </a:lnSpc>
              <a:buNone/>
            </a:pPr>
            <a:r>
              <a:rPr lang="en-US" sz="683" b="1" dirty="0">
                <a:solidFill>
                  <a:schemeClr val="bg1"/>
                </a:solidFill>
              </a:rPr>
              <a:t>Name Field Validation Failures</a:t>
            </a:r>
            <a:endParaRPr lang="en-US" sz="683" dirty="0">
              <a:solidFill>
                <a:schemeClr val="bg1"/>
              </a:solidFill>
            </a:endParaRPr>
          </a:p>
        </p:txBody>
      </p:sp>
      <p:sp>
        <p:nvSpPr>
          <p:cNvPr id="9" name="Text 5"/>
          <p:cNvSpPr/>
          <p:nvPr/>
        </p:nvSpPr>
        <p:spPr>
          <a:xfrm>
            <a:off x="428625" y="1910228"/>
            <a:ext cx="2448876"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Accepting numbers in First/Last names (BUG_01, BUG_02)</a:t>
            </a:r>
          </a:p>
        </p:txBody>
      </p:sp>
      <p:sp>
        <p:nvSpPr>
          <p:cNvPr id="10" name="Text 6"/>
          <p:cNvSpPr/>
          <p:nvPr/>
        </p:nvSpPr>
        <p:spPr>
          <a:xfrm>
            <a:off x="428625" y="2078106"/>
            <a:ext cx="2820772"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Accepting special characters in First/Last names (BUG_03, BUG_04)</a:t>
            </a:r>
          </a:p>
        </p:txBody>
      </p:sp>
      <p:sp>
        <p:nvSpPr>
          <p:cNvPr id="11" name="Text 7"/>
          <p:cNvSpPr/>
          <p:nvPr/>
        </p:nvSpPr>
        <p:spPr>
          <a:xfrm>
            <a:off x="428625" y="2245984"/>
            <a:ext cx="2399183"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Accepting names with leading spaces (BUG_05, BUG_06)</a:t>
            </a:r>
          </a:p>
        </p:txBody>
      </p:sp>
      <p:sp>
        <p:nvSpPr>
          <p:cNvPr id="12" name="Text 8"/>
          <p:cNvSpPr/>
          <p:nvPr/>
        </p:nvSpPr>
        <p:spPr>
          <a:xfrm>
            <a:off x="428625" y="2413862"/>
            <a:ext cx="2525820"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Failing boundary validation for 1-character names (BUG_09)</a:t>
            </a:r>
          </a:p>
        </p:txBody>
      </p:sp>
      <p:sp>
        <p:nvSpPr>
          <p:cNvPr id="13" name="Text 9"/>
          <p:cNvSpPr/>
          <p:nvPr/>
        </p:nvSpPr>
        <p:spPr>
          <a:xfrm>
            <a:off x="428625" y="2638890"/>
            <a:ext cx="1457130" cy="107017"/>
          </a:xfrm>
          <a:prstGeom prst="rect">
            <a:avLst/>
          </a:prstGeom>
          <a:noFill/>
          <a:ln/>
        </p:spPr>
        <p:txBody>
          <a:bodyPr wrap="none" lIns="0" tIns="0" rIns="0" bIns="0" rtlCol="0" anchor="t">
            <a:spAutoFit/>
          </a:bodyPr>
          <a:lstStyle/>
          <a:p>
            <a:pPr marL="0" indent="0" algn="l">
              <a:lnSpc>
                <a:spcPts val="900"/>
              </a:lnSpc>
              <a:buNone/>
            </a:pPr>
            <a:r>
              <a:rPr lang="en-US" sz="683" b="1" dirty="0">
                <a:solidFill>
                  <a:schemeClr val="bg1"/>
                </a:solidFill>
              </a:rPr>
              <a:t>Address &amp; Location Field Failures</a:t>
            </a:r>
            <a:endParaRPr lang="en-US" sz="683" dirty="0">
              <a:solidFill>
                <a:schemeClr val="bg1"/>
              </a:solidFill>
            </a:endParaRPr>
          </a:p>
        </p:txBody>
      </p:sp>
      <p:sp>
        <p:nvSpPr>
          <p:cNvPr id="14" name="Text 10"/>
          <p:cNvSpPr/>
          <p:nvPr/>
        </p:nvSpPr>
        <p:spPr>
          <a:xfrm>
            <a:off x="428625" y="2817484"/>
            <a:ext cx="2235677"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Address field accepting special characters (BUG_12)</a:t>
            </a:r>
          </a:p>
        </p:txBody>
      </p:sp>
      <p:sp>
        <p:nvSpPr>
          <p:cNvPr id="15" name="Text 11"/>
          <p:cNvSpPr/>
          <p:nvPr/>
        </p:nvSpPr>
        <p:spPr>
          <a:xfrm>
            <a:off x="428625" y="2985362"/>
            <a:ext cx="2456891"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Address field failing length boundaries (BUG_13, BUG_14)</a:t>
            </a:r>
          </a:p>
        </p:txBody>
      </p:sp>
      <p:sp>
        <p:nvSpPr>
          <p:cNvPr id="16" name="Text 12"/>
          <p:cNvSpPr/>
          <p:nvPr/>
        </p:nvSpPr>
        <p:spPr>
          <a:xfrm>
            <a:off x="428625" y="3153240"/>
            <a:ext cx="2971454"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City field accepting numbers and special characters (BUG_15, BUG_16)</a:t>
            </a:r>
          </a:p>
        </p:txBody>
      </p:sp>
      <p:sp>
        <p:nvSpPr>
          <p:cNvPr id="17" name="Text 13"/>
          <p:cNvSpPr/>
          <p:nvPr/>
        </p:nvSpPr>
        <p:spPr>
          <a:xfrm>
            <a:off x="428625" y="3321118"/>
            <a:ext cx="3386633"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City field accepting leading spaces and exceeding max length (BUG_17, BUG_19)</a:t>
            </a:r>
          </a:p>
        </p:txBody>
      </p:sp>
      <p:sp>
        <p:nvSpPr>
          <p:cNvPr id="18" name="Text 14"/>
          <p:cNvSpPr/>
          <p:nvPr/>
        </p:nvSpPr>
        <p:spPr>
          <a:xfrm>
            <a:off x="428625" y="3546146"/>
            <a:ext cx="1534074" cy="107017"/>
          </a:xfrm>
          <a:prstGeom prst="rect">
            <a:avLst/>
          </a:prstGeom>
          <a:noFill/>
          <a:ln/>
        </p:spPr>
        <p:txBody>
          <a:bodyPr wrap="none" lIns="0" tIns="0" rIns="0" bIns="0" rtlCol="0" anchor="t">
            <a:spAutoFit/>
          </a:bodyPr>
          <a:lstStyle/>
          <a:p>
            <a:pPr marL="0" indent="0" algn="l">
              <a:lnSpc>
                <a:spcPts val="900"/>
              </a:lnSpc>
              <a:buNone/>
            </a:pPr>
            <a:r>
              <a:rPr lang="en-US" sz="683" b="1" dirty="0">
                <a:solidFill>
                  <a:schemeClr val="bg1"/>
                </a:solidFill>
              </a:rPr>
              <a:t>State, ZIP &amp; SSN Validation Failures</a:t>
            </a:r>
            <a:endParaRPr lang="en-US" sz="683" dirty="0">
              <a:solidFill>
                <a:schemeClr val="bg1"/>
              </a:solidFill>
            </a:endParaRPr>
          </a:p>
        </p:txBody>
      </p:sp>
      <p:sp>
        <p:nvSpPr>
          <p:cNvPr id="19" name="Text 15"/>
          <p:cNvSpPr/>
          <p:nvPr/>
        </p:nvSpPr>
        <p:spPr>
          <a:xfrm>
            <a:off x="428625" y="3724740"/>
            <a:ext cx="3000309"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State field accepting numbers and special characters (BUG_20, BUG_21)</a:t>
            </a:r>
          </a:p>
        </p:txBody>
      </p:sp>
      <p:sp>
        <p:nvSpPr>
          <p:cNvPr id="20" name="Text 16"/>
          <p:cNvSpPr/>
          <p:nvPr/>
        </p:nvSpPr>
        <p:spPr>
          <a:xfrm>
            <a:off x="428625" y="3892618"/>
            <a:ext cx="2809552"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ZIP Code failing boundary and format validation (BUG_26, BUG_27)</a:t>
            </a:r>
          </a:p>
        </p:txBody>
      </p:sp>
      <p:sp>
        <p:nvSpPr>
          <p:cNvPr id="21" name="Text 17"/>
          <p:cNvSpPr/>
          <p:nvPr/>
        </p:nvSpPr>
        <p:spPr>
          <a:xfrm>
            <a:off x="428625" y="4060496"/>
            <a:ext cx="3901196" cy="125997"/>
          </a:xfrm>
          <a:prstGeom prst="rect">
            <a:avLst/>
          </a:prstGeom>
          <a:noFill/>
          <a:ln/>
        </p:spPr>
        <p:txBody>
          <a:bodyPr wrap="none" lIns="136017" tIns="0" rIns="0" bIns="0" rtlCol="0" anchor="t">
            <a:spAutoFit/>
          </a:bodyPr>
          <a:lstStyle/>
          <a:p>
            <a:pPr marL="0" indent="0" algn="l">
              <a:lnSpc>
                <a:spcPts val="1100"/>
              </a:lnSpc>
              <a:buNone/>
            </a:pPr>
            <a:r>
              <a:rPr lang="en-US" sz="674" dirty="0">
                <a:solidFill>
                  <a:schemeClr val="bg1"/>
                </a:solidFill>
              </a:rPr>
              <a:t>SSN accepting incorrect formats and digit counts (BUG_28, BUG_29, BUG_30, BUG_31, BUG_32)</a:t>
            </a:r>
          </a:p>
        </p:txBody>
      </p:sp>
      <p:sp>
        <p:nvSpPr>
          <p:cNvPr id="22" name="Shape 18"/>
          <p:cNvSpPr/>
          <p:nvPr/>
        </p:nvSpPr>
        <p:spPr>
          <a:xfrm>
            <a:off x="428625" y="4285524"/>
            <a:ext cx="4886325" cy="504332"/>
          </a:xfrm>
          <a:prstGeom prst="rect">
            <a:avLst/>
          </a:prstGeom>
          <a:solidFill>
            <a:srgbClr val="F9FAFB"/>
          </a:solidFill>
          <a:ln/>
        </p:spPr>
      </p:sp>
      <p:sp>
        <p:nvSpPr>
          <p:cNvPr id="23" name="Shape 19"/>
          <p:cNvSpPr/>
          <p:nvPr/>
        </p:nvSpPr>
        <p:spPr>
          <a:xfrm>
            <a:off x="428625" y="4285524"/>
            <a:ext cx="28575" cy="504332"/>
          </a:xfrm>
          <a:prstGeom prst="rect">
            <a:avLst/>
          </a:prstGeom>
          <a:solidFill>
            <a:srgbClr val="1A2332"/>
          </a:solidFill>
          <a:ln/>
        </p:spPr>
      </p:sp>
      <p:sp>
        <p:nvSpPr>
          <p:cNvPr id="24" name="Text 20"/>
          <p:cNvSpPr/>
          <p:nvPr/>
        </p:nvSpPr>
        <p:spPr>
          <a:xfrm>
            <a:off x="428625" y="1910228"/>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25" name="Text 21"/>
          <p:cNvSpPr/>
          <p:nvPr/>
        </p:nvSpPr>
        <p:spPr>
          <a:xfrm>
            <a:off x="428625" y="2078106"/>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26" name="Text 22"/>
          <p:cNvSpPr/>
          <p:nvPr/>
        </p:nvSpPr>
        <p:spPr>
          <a:xfrm>
            <a:off x="428625" y="2245984"/>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27" name="Text 23"/>
          <p:cNvSpPr/>
          <p:nvPr/>
        </p:nvSpPr>
        <p:spPr>
          <a:xfrm>
            <a:off x="428625" y="2413862"/>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28" name="Text 24"/>
          <p:cNvSpPr/>
          <p:nvPr/>
        </p:nvSpPr>
        <p:spPr>
          <a:xfrm>
            <a:off x="428625" y="2817484"/>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29" name="Text 25"/>
          <p:cNvSpPr/>
          <p:nvPr/>
        </p:nvSpPr>
        <p:spPr>
          <a:xfrm>
            <a:off x="428625" y="2985362"/>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30" name="Text 26"/>
          <p:cNvSpPr/>
          <p:nvPr/>
        </p:nvSpPr>
        <p:spPr>
          <a:xfrm>
            <a:off x="428625" y="3153240"/>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31" name="Text 27"/>
          <p:cNvSpPr/>
          <p:nvPr/>
        </p:nvSpPr>
        <p:spPr>
          <a:xfrm>
            <a:off x="428625" y="3321118"/>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32" name="Text 28"/>
          <p:cNvSpPr/>
          <p:nvPr/>
        </p:nvSpPr>
        <p:spPr>
          <a:xfrm>
            <a:off x="428625" y="3724740"/>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33" name="Text 29"/>
          <p:cNvSpPr/>
          <p:nvPr/>
        </p:nvSpPr>
        <p:spPr>
          <a:xfrm>
            <a:off x="428625" y="3892618"/>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34" name="Text 30"/>
          <p:cNvSpPr/>
          <p:nvPr/>
        </p:nvSpPr>
        <p:spPr>
          <a:xfrm>
            <a:off x="428625" y="4060496"/>
            <a:ext cx="35266" cy="158120"/>
          </a:xfrm>
          <a:prstGeom prst="rect">
            <a:avLst/>
          </a:prstGeom>
          <a:noFill/>
          <a:ln/>
        </p:spPr>
        <p:txBody>
          <a:bodyPr wrap="none" lIns="0" tIns="0" rIns="0" bIns="0" rtlCol="0" anchor="t">
            <a:spAutoFit/>
          </a:bodyPr>
          <a:lstStyle/>
          <a:p>
            <a:pPr marL="0" indent="0" algn="l">
              <a:lnSpc>
                <a:spcPts val="1400"/>
              </a:lnSpc>
              <a:buNone/>
            </a:pPr>
            <a:r>
              <a:rPr lang="en-US" sz="784" b="1" dirty="0">
                <a:solidFill>
                  <a:schemeClr val="bg1"/>
                </a:solidFill>
              </a:rPr>
              <a:t>•</a:t>
            </a:r>
            <a:endParaRPr lang="en-US" sz="784" dirty="0">
              <a:solidFill>
                <a:schemeClr val="bg1"/>
              </a:solidFill>
            </a:endParaRPr>
          </a:p>
        </p:txBody>
      </p:sp>
      <p:sp>
        <p:nvSpPr>
          <p:cNvPr id="35" name="Text 31"/>
          <p:cNvSpPr/>
          <p:nvPr/>
        </p:nvSpPr>
        <p:spPr>
          <a:xfrm>
            <a:off x="485775" y="4342674"/>
            <a:ext cx="4772025" cy="371640"/>
          </a:xfrm>
          <a:prstGeom prst="rect">
            <a:avLst/>
          </a:prstGeom>
          <a:noFill/>
          <a:ln/>
        </p:spPr>
        <p:txBody>
          <a:bodyPr wrap="square" lIns="0" tIns="0" rIns="0" bIns="0" rtlCol="0" anchor="t">
            <a:spAutoFit/>
          </a:bodyPr>
          <a:lstStyle/>
          <a:p>
            <a:pPr marL="0" indent="0" algn="l">
              <a:lnSpc>
                <a:spcPts val="1000"/>
              </a:lnSpc>
              <a:buNone/>
            </a:pPr>
            <a:r>
              <a:rPr lang="en-US" sz="634" b="1" dirty="0">
                <a:solidFill>
                  <a:schemeClr val="bg1"/>
                </a:solidFill>
              </a:rPr>
              <a:t>Critical Implication: The Password Recovery mechanism is completely non-functional from a validation perspective, posing a significant risk to data quality and security. Invalid submissions are treated as successful account creation events.</a:t>
            </a:r>
            <a:endParaRPr lang="en-US" sz="634" dirty="0">
              <a:solidFill>
                <a:schemeClr val="bg1"/>
              </a:solidFill>
            </a:endParaRPr>
          </a:p>
        </p:txBody>
      </p:sp>
      <p:pic>
        <p:nvPicPr>
          <p:cNvPr id="36" name="Image 1" descr="preencoded.png"/>
          <p:cNvPicPr>
            <a:picLocks noChangeAspect="1"/>
          </p:cNvPicPr>
          <p:nvPr/>
        </p:nvPicPr>
        <p:blipFill>
          <a:blip r:embed="rId3"/>
          <a:stretch>
            <a:fillRect/>
          </a:stretch>
        </p:blipFill>
        <p:spPr>
          <a:xfrm>
            <a:off x="5600700" y="428625"/>
            <a:ext cx="3114675" cy="1555384"/>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84</TotalTime>
  <Words>2284</Words>
  <Application>Microsoft Office PowerPoint</Application>
  <PresentationFormat>On-screen Show (16:9)</PresentationFormat>
  <Paragraphs>123</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Aptos</vt:lpstr>
      <vt:lpstr>Arial</vt:lpstr>
      <vt:lpstr>Bookman Old Style</vt:lpstr>
      <vt:lpstr>Inter</vt:lpstr>
      <vt:lpstr>Rockwell</vt:lpstr>
      <vt:lpstr>Symbol</vt:lpstr>
      <vt:lpstr>Times New Roman</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Kerolos George Attia</cp:lastModifiedBy>
  <cp:revision>3</cp:revision>
  <dcterms:created xsi:type="dcterms:W3CDTF">2025-11-28T13:22:47Z</dcterms:created>
  <dcterms:modified xsi:type="dcterms:W3CDTF">2025-11-28T14:57:13Z</dcterms:modified>
</cp:coreProperties>
</file>