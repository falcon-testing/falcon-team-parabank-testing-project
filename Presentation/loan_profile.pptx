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F2F"/>
    <a:srgbClr val="37474F"/>
    <a:srgbClr val="1A237E"/>
    <a:srgbClr val="E4DBD1"/>
    <a:srgbClr val="ECEFF1"/>
    <a:srgbClr val="FEF5EB"/>
    <a:srgbClr val="F57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7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23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delivers a comprehensive, data-driven analysis of our recent Quality Assurance testing cycle, providing the necessary insights to guide our immediate remediation and development priorities. We executed a focused test cycle to validate the stability and functional correctness of key system modules before the next release. The data we present today is crucial for understanding where the system is stable and, more importantly, where critical risks reside. We will move quickly through the overall results and then focus our attention on the specific areas that demand immediate action. Our goal is to present clear findings and propose actionable recommendations that allow us to move forward with confidence. Let's begin by reviewing the scope and objectives of this test cycle.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objective of this test cycle was to assess the stability and functional correctness of three core modules: System, Loan, and Profile. We executed a total of 26 test cases across these areas, with the majority focused on the Loan application logic and data validation. The Profile module, which covers user management and security features, was also a key focus. The goal of this presentation is not just to report numbers, but to translate those execution results into clear, actionable recommendations. We need to highlight critical defects and enable informed decision-making for the next development sprint. Understanding this scope sets the context for the overall execution results we are about to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the scope, let's look at the overall execution results for the 26 test cases. We achieved a passing rate of 76.92%, which provides a solid foundation of stability across the system. However, the 19.23% failure rate, representing five failed tests, is significant and requires immediate investigation. We cannot overlook this level of failure. Additionally, one test case was blocked, meaning we could not fully assess a system-level feature due to a dependency issue. While the overall pass rate is moderate, the concentration of failures indicates a potential problem area that we must isolate and address quickly. Now, let's break down these results by module to pinpoint exactly where these failures are occurring.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breakdown by module clearly isolates our primary area of concern, which is the Profile module. The Loan module is highly stable, with 14 out of 15 tests passing, resulting in an excellent 93.33% pass rate. The System module is also performing well at 83.33%, though we must resolve that single blocked test to ensure full coverage. Critically, the Profile module failed four out of its five tests, yielding a critically low pass rate of only 20%. This is a major finding. These tests cover sensitive areas like user profile updates and security features, meaning this low pass rate indicates severe issues in a high-risk area. We must now analyze the nature of these failures to understand the impact.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saw that the Profile module failed 80% of its tests. This slide reveals why that failure rate is so critical. The most alarming finding is the concentration of Critical severity bugs. Four out of the five total bugs we identified are classified as Critical, representing 80% of all defects found. Three of these Critical bugs directly compromise user security by failing to implement One-Time Password verification for sensitive profile updates. Specifically, updating email, password, and phone number all bypass the necessary OTP security checks. This is a severe vulnerability that leaves user accounts exposed to unauthorized changes. The fourth critical bug is a serious data validation failure in the Loan module, where a loan application is incorrectly approved when the down payment exceeds the loan amount. This failure has direct financial and compliance implications. These four issues are not minor functional glitches; they are high-impact defects that threaten data integrity and user trust. We must address these immediately. Let's move to the proposed action plan.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analysis of those high-impact defects, our recommendations are clear and urgent. The absolute top priority is the Immediate Fix and Retest of the four Critical bugs we just reviewed. We need the development team to target completion of these fixes and retesting within the next 24 to 48 hours. Secondly, we must conduct an urgent Security Review of the entire Profile module's update logic. The repeated failure of OTP enforcement suggests a systemic issue, not just isolated bugs. We need to ensure all security controls and input validation are correctly implemented across those sensitive endpoints. Beyond the critical fixes, we need to Resolve the Blocked Test case in the System module. This is necessary to ensure we have full coverage and assessment of system-level functionality. Finally, we recommend integrating test execution status into the CI/CD pipeline. This Continuous Improvement step will help us catch defects much earlier and prevent regressions of this magnitude in the future.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the test cycle showed a split result. We have good stability in the core Loan module, which passed over 93% of its tests. However, this stability is overshadowed by the critical security and validation defects concentrated in the Profile module. The key takeaway is that we cannot proceed with a release until these four Critical severity defects are fully remediated and re-tested. Our Next Action requires the development team to confirm a hotfix plan for these four bugs by the end of the day. This is a non-negotiable priority for the immediate future. We have provided the data, the analysis, and a clear path forward. We believe this focused approach will quickly stabilize the system's most vulnerable areas. I'm now open to any questions you may have regarding the data, the analysis, or the proposed next steps.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785938" y="1089813"/>
            <a:ext cx="5572125" cy="1097235"/>
          </a:xfrm>
          <a:prstGeom prst="rect">
            <a:avLst/>
          </a:prstGeom>
          <a:noFill/>
          <a:ln/>
        </p:spPr>
        <p:txBody>
          <a:bodyPr wrap="square" lIns="0" tIns="0" rIns="0" bIns="0" rtlCol="0" anchor="t">
            <a:spAutoFit/>
          </a:bodyPr>
          <a:lstStyle/>
          <a:p>
            <a:pPr marL="0" indent="0" algn="ctr">
              <a:lnSpc>
                <a:spcPts val="4300"/>
              </a:lnSpc>
              <a:buNone/>
            </a:pPr>
            <a:r>
              <a:rPr lang="en-US" sz="3294" b="1" dirty="0">
                <a:solidFill>
                  <a:srgbClr val="1A237E"/>
                </a:solidFill>
              </a:rPr>
              <a:t>Software Quality Assurance Test Report</a:t>
            </a:r>
            <a:endParaRPr lang="en-US" sz="3294" dirty="0"/>
          </a:p>
        </p:txBody>
      </p:sp>
      <p:sp>
        <p:nvSpPr>
          <p:cNvPr id="5" name="Text 1"/>
          <p:cNvSpPr/>
          <p:nvPr/>
        </p:nvSpPr>
        <p:spPr>
          <a:xfrm>
            <a:off x="1785938" y="2329923"/>
            <a:ext cx="5572125" cy="320018"/>
          </a:xfrm>
          <a:prstGeom prst="rect">
            <a:avLst/>
          </a:prstGeom>
          <a:noFill/>
          <a:ln/>
        </p:spPr>
        <p:txBody>
          <a:bodyPr wrap="none" lIns="0" tIns="0" rIns="0" bIns="0" rtlCol="0" anchor="t">
            <a:spAutoFit/>
          </a:bodyPr>
          <a:lstStyle/>
          <a:p>
            <a:pPr marL="0" indent="0" algn="ctr">
              <a:lnSpc>
                <a:spcPts val="2500"/>
              </a:lnSpc>
              <a:buNone/>
            </a:pPr>
            <a:r>
              <a:rPr lang="en-US" sz="1704" dirty="0">
                <a:solidFill>
                  <a:srgbClr val="37474F"/>
                </a:solidFill>
              </a:rPr>
              <a:t>Analysis of System and Feature Test Execution</a:t>
            </a:r>
            <a:endParaRPr lang="en-US" sz="1704" dirty="0"/>
          </a:p>
        </p:txBody>
      </p:sp>
      <p:sp>
        <p:nvSpPr>
          <p:cNvPr id="6" name="Text 2"/>
          <p:cNvSpPr/>
          <p:nvPr/>
        </p:nvSpPr>
        <p:spPr>
          <a:xfrm>
            <a:off x="3111271" y="3685784"/>
            <a:ext cx="1189965" cy="135731"/>
          </a:xfrm>
          <a:prstGeom prst="rect">
            <a:avLst/>
          </a:prstGeom>
          <a:noFill/>
          <a:ln/>
        </p:spPr>
        <p:txBody>
          <a:bodyPr wrap="none" lIns="0" tIns="0" rIns="0" bIns="0" rtlCol="0" anchor="t">
            <a:spAutoFit/>
          </a:bodyPr>
          <a:lstStyle/>
          <a:p>
            <a:pPr marL="0" indent="0" algn="ctr">
              <a:lnSpc>
                <a:spcPts val="900"/>
              </a:lnSpc>
              <a:buNone/>
            </a:pPr>
            <a:r>
              <a:rPr lang="en-US" sz="683" b="1" kern="0" spc="1" dirty="0">
                <a:solidFill>
                  <a:srgbClr val="90A4AE"/>
                </a:solidFill>
              </a:rPr>
              <a:t>Report Date</a:t>
            </a:r>
            <a:endParaRPr lang="en-US" sz="683" dirty="0"/>
          </a:p>
        </p:txBody>
      </p:sp>
      <p:sp>
        <p:nvSpPr>
          <p:cNvPr id="7" name="Text 3"/>
          <p:cNvSpPr/>
          <p:nvPr/>
        </p:nvSpPr>
        <p:spPr>
          <a:xfrm>
            <a:off x="3111271" y="3878666"/>
            <a:ext cx="1189965"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7474F"/>
                </a:solidFill>
              </a:rPr>
              <a:t>November 15, 2025</a:t>
            </a:r>
            <a:endParaRPr lang="en-US" sz="885" dirty="0"/>
          </a:p>
        </p:txBody>
      </p:sp>
      <p:sp>
        <p:nvSpPr>
          <p:cNvPr id="8" name="Text 4"/>
          <p:cNvSpPr/>
          <p:nvPr/>
        </p:nvSpPr>
        <p:spPr>
          <a:xfrm>
            <a:off x="4872735" y="3685784"/>
            <a:ext cx="1159994" cy="135731"/>
          </a:xfrm>
          <a:prstGeom prst="rect">
            <a:avLst/>
          </a:prstGeom>
          <a:noFill/>
          <a:ln/>
        </p:spPr>
        <p:txBody>
          <a:bodyPr wrap="none" lIns="0" tIns="0" rIns="0" bIns="0" rtlCol="0" anchor="t">
            <a:spAutoFit/>
          </a:bodyPr>
          <a:lstStyle/>
          <a:p>
            <a:pPr marL="0" indent="0" algn="ctr">
              <a:lnSpc>
                <a:spcPts val="900"/>
              </a:lnSpc>
              <a:buNone/>
            </a:pPr>
            <a:r>
              <a:rPr lang="en-US" sz="683" b="1" kern="0" spc="1" dirty="0">
                <a:solidFill>
                  <a:srgbClr val="90A4AE"/>
                </a:solidFill>
              </a:rPr>
              <a:t>Prepared By</a:t>
            </a:r>
            <a:endParaRPr lang="en-US" sz="683" dirty="0"/>
          </a:p>
        </p:txBody>
      </p:sp>
      <p:sp>
        <p:nvSpPr>
          <p:cNvPr id="9" name="Text 5"/>
          <p:cNvSpPr/>
          <p:nvPr/>
        </p:nvSpPr>
        <p:spPr>
          <a:xfrm>
            <a:off x="4872735" y="3878666"/>
            <a:ext cx="1159994"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7474F"/>
                </a:solidFill>
              </a:rPr>
              <a:t>Mohamed Wageeh</a:t>
            </a:r>
            <a:endParaRPr lang="en-US" sz="88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499432"/>
          </a:xfrm>
          <a:prstGeom prst="rect">
            <a:avLst/>
          </a:prstGeom>
        </p:spPr>
      </p:pic>
      <p:sp>
        <p:nvSpPr>
          <p:cNvPr id="4" name="Shape 0"/>
          <p:cNvSpPr/>
          <p:nvPr/>
        </p:nvSpPr>
        <p:spPr>
          <a:xfrm>
            <a:off x="0" y="0"/>
            <a:ext cx="9144000" cy="919758"/>
          </a:xfrm>
          <a:prstGeom prst="rect">
            <a:avLst/>
          </a:prstGeom>
          <a:solidFill>
            <a:srgbClr val="283593"/>
          </a:solidFill>
          <a:ln/>
        </p:spPr>
        <p:txBody>
          <a:bodyPr/>
          <a:lstStyle/>
          <a:p>
            <a:endParaRPr lang="en-US"/>
          </a:p>
        </p:txBody>
      </p:sp>
      <p:sp>
        <p:nvSpPr>
          <p:cNvPr id="5" name="Text 1"/>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Test Cycle Overview and Objectives</a:t>
            </a:r>
            <a:endParaRPr lang="en-US" sz="1602" dirty="0"/>
          </a:p>
        </p:txBody>
      </p:sp>
      <p:sp>
        <p:nvSpPr>
          <p:cNvPr id="6" name="Text 2"/>
          <p:cNvSpPr/>
          <p:nvPr/>
        </p:nvSpPr>
        <p:spPr>
          <a:xfrm>
            <a:off x="428625" y="1263731"/>
            <a:ext cx="8286750"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1A237E"/>
                </a:solidFill>
              </a:rPr>
              <a:t>Objective</a:t>
            </a:r>
            <a:endParaRPr lang="en-US" sz="885" dirty="0"/>
          </a:p>
        </p:txBody>
      </p:sp>
      <p:sp>
        <p:nvSpPr>
          <p:cNvPr id="7" name="Text 3"/>
          <p:cNvSpPr/>
          <p:nvPr/>
        </p:nvSpPr>
        <p:spPr>
          <a:xfrm>
            <a:off x="525456" y="1581628"/>
            <a:ext cx="8155763" cy="340734"/>
          </a:xfrm>
          <a:prstGeom prst="rect">
            <a:avLst/>
          </a:prstGeom>
          <a:noFill/>
          <a:ln/>
        </p:spPr>
        <p:txBody>
          <a:bodyPr wrap="square" lIns="0" tIns="0" rIns="0" bIns="0" rtlCol="0" anchor="t">
            <a:spAutoFit/>
          </a:bodyPr>
          <a:lstStyle/>
          <a:p>
            <a:pPr marL="0" indent="0" algn="l">
              <a:lnSpc>
                <a:spcPts val="1400"/>
              </a:lnSpc>
              <a:buNone/>
            </a:pPr>
            <a:r>
              <a:rPr lang="en-US" sz="784" dirty="0">
                <a:solidFill>
                  <a:srgbClr val="37474F"/>
                </a:solidFill>
              </a:rPr>
              <a:t>The objective of this testing cycle was to verify the functionality, stability, and accuracy of ParaBank’s Profile Management, Loan Management, and System modules, ensuring that all operations — including profile updates, loan validation, and system navigation — work correctly under valid, invalid, and edge-case scenarios.</a:t>
            </a:r>
            <a:endParaRPr lang="en-US" sz="784" dirty="0"/>
          </a:p>
        </p:txBody>
      </p:sp>
      <p:sp>
        <p:nvSpPr>
          <p:cNvPr id="8" name="Text 4"/>
          <p:cNvSpPr/>
          <p:nvPr/>
        </p:nvSpPr>
        <p:spPr>
          <a:xfrm>
            <a:off x="428625" y="2229157"/>
            <a:ext cx="8286750"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1A237E"/>
                </a:solidFill>
              </a:rPr>
              <a:t>Scope</a:t>
            </a:r>
            <a:endParaRPr lang="en-US" sz="885" dirty="0"/>
          </a:p>
        </p:txBody>
      </p:sp>
      <p:sp>
        <p:nvSpPr>
          <p:cNvPr id="9" name="Text 5"/>
          <p:cNvSpPr/>
          <p:nvPr/>
        </p:nvSpPr>
        <p:spPr>
          <a:xfrm>
            <a:off x="542925" y="2489904"/>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10" name="Text 6"/>
          <p:cNvSpPr/>
          <p:nvPr/>
        </p:nvSpPr>
        <p:spPr>
          <a:xfrm>
            <a:off x="714375" y="2502405"/>
            <a:ext cx="734383"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26 Test Cases</a:t>
            </a:r>
            <a:endParaRPr lang="en-US" sz="784" dirty="0"/>
          </a:p>
        </p:txBody>
      </p:sp>
      <p:sp>
        <p:nvSpPr>
          <p:cNvPr id="11" name="Text 7"/>
          <p:cNvSpPr/>
          <p:nvPr/>
        </p:nvSpPr>
        <p:spPr>
          <a:xfrm>
            <a:off x="1448758" y="2502405"/>
            <a:ext cx="215239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executed across three primary modules</a:t>
            </a:r>
            <a:endParaRPr lang="en-US" sz="834" dirty="0"/>
          </a:p>
        </p:txBody>
      </p:sp>
      <p:sp>
        <p:nvSpPr>
          <p:cNvPr id="12" name="Text 8"/>
          <p:cNvSpPr/>
          <p:nvPr/>
        </p:nvSpPr>
        <p:spPr>
          <a:xfrm>
            <a:off x="542925" y="2744205"/>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13" name="Text 9"/>
          <p:cNvSpPr/>
          <p:nvPr/>
        </p:nvSpPr>
        <p:spPr>
          <a:xfrm>
            <a:off x="714375" y="2756706"/>
            <a:ext cx="3957861"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System (SYS): 6 tests covering core functionality and session management</a:t>
            </a:r>
            <a:endParaRPr lang="en-US" sz="834" dirty="0"/>
          </a:p>
        </p:txBody>
      </p:sp>
      <p:sp>
        <p:nvSpPr>
          <p:cNvPr id="14" name="Text 10"/>
          <p:cNvSpPr/>
          <p:nvPr/>
        </p:nvSpPr>
        <p:spPr>
          <a:xfrm>
            <a:off x="542925" y="2998505"/>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15" name="Text 11"/>
          <p:cNvSpPr/>
          <p:nvPr/>
        </p:nvSpPr>
        <p:spPr>
          <a:xfrm>
            <a:off x="714375" y="3011007"/>
            <a:ext cx="393009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Loan (LOAN): 15 tests validating loan application logic and data validation</a:t>
            </a:r>
            <a:endParaRPr lang="en-US" sz="834" dirty="0"/>
          </a:p>
        </p:txBody>
      </p:sp>
      <p:sp>
        <p:nvSpPr>
          <p:cNvPr id="16" name="Text 12"/>
          <p:cNvSpPr/>
          <p:nvPr/>
        </p:nvSpPr>
        <p:spPr>
          <a:xfrm>
            <a:off x="542925" y="3252806"/>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17" name="Text 13"/>
          <p:cNvSpPr/>
          <p:nvPr/>
        </p:nvSpPr>
        <p:spPr>
          <a:xfrm>
            <a:off x="714375" y="3265308"/>
            <a:ext cx="3888963"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Profile (PROF): 5 tests for user profile management and security features</a:t>
            </a:r>
            <a:endParaRPr lang="en-US" sz="834" dirty="0"/>
          </a:p>
        </p:txBody>
      </p:sp>
      <p:sp>
        <p:nvSpPr>
          <p:cNvPr id="18" name="Text 14"/>
          <p:cNvSpPr/>
          <p:nvPr/>
        </p:nvSpPr>
        <p:spPr>
          <a:xfrm>
            <a:off x="428625" y="3721419"/>
            <a:ext cx="8286750"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1A237E"/>
                </a:solidFill>
              </a:rPr>
              <a:t>Goal of This Presentation</a:t>
            </a:r>
            <a:endParaRPr lang="en-US" sz="885" dirty="0"/>
          </a:p>
        </p:txBody>
      </p:sp>
      <p:sp>
        <p:nvSpPr>
          <p:cNvPr id="19" name="Text 15"/>
          <p:cNvSpPr/>
          <p:nvPr/>
        </p:nvSpPr>
        <p:spPr>
          <a:xfrm>
            <a:off x="542925" y="3982166"/>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20" name="Text 16"/>
          <p:cNvSpPr/>
          <p:nvPr/>
        </p:nvSpPr>
        <p:spPr>
          <a:xfrm>
            <a:off x="714375" y="3994668"/>
            <a:ext cx="343712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Communicate test execution results with clear data visualization</a:t>
            </a:r>
            <a:endParaRPr lang="en-US" sz="834" dirty="0"/>
          </a:p>
        </p:txBody>
      </p:sp>
      <p:sp>
        <p:nvSpPr>
          <p:cNvPr id="21" name="Text 17"/>
          <p:cNvSpPr/>
          <p:nvPr/>
        </p:nvSpPr>
        <p:spPr>
          <a:xfrm>
            <a:off x="542925" y="4236467"/>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22" name="Text 18"/>
          <p:cNvSpPr/>
          <p:nvPr/>
        </p:nvSpPr>
        <p:spPr>
          <a:xfrm>
            <a:off x="714375" y="4248969"/>
            <a:ext cx="526014"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Highlight</a:t>
            </a:r>
            <a:endParaRPr lang="en-US" sz="834" dirty="0"/>
          </a:p>
        </p:txBody>
      </p:sp>
      <p:sp>
        <p:nvSpPr>
          <p:cNvPr id="23" name="Text 19"/>
          <p:cNvSpPr/>
          <p:nvPr/>
        </p:nvSpPr>
        <p:spPr>
          <a:xfrm>
            <a:off x="1240389" y="4248969"/>
            <a:ext cx="81290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D32F2F"/>
                </a:solidFill>
              </a:rPr>
              <a:t>critical defects</a:t>
            </a:r>
            <a:endParaRPr lang="en-US" sz="784" dirty="0"/>
          </a:p>
        </p:txBody>
      </p:sp>
      <p:sp>
        <p:nvSpPr>
          <p:cNvPr id="24" name="Text 20"/>
          <p:cNvSpPr/>
          <p:nvPr/>
        </p:nvSpPr>
        <p:spPr>
          <a:xfrm>
            <a:off x="2053298" y="4248969"/>
            <a:ext cx="1656206"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requiring immediate attention</a:t>
            </a:r>
            <a:endParaRPr lang="en-US" sz="834" dirty="0"/>
          </a:p>
        </p:txBody>
      </p:sp>
      <p:sp>
        <p:nvSpPr>
          <p:cNvPr id="25" name="Text 21"/>
          <p:cNvSpPr/>
          <p:nvPr/>
        </p:nvSpPr>
        <p:spPr>
          <a:xfrm>
            <a:off x="542925" y="4490768"/>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26" name="Text 22"/>
          <p:cNvSpPr/>
          <p:nvPr/>
        </p:nvSpPr>
        <p:spPr>
          <a:xfrm>
            <a:off x="714375" y="4503269"/>
            <a:ext cx="434306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Propose actionable recommendations for remediation and process improvement</a:t>
            </a:r>
            <a:endParaRPr lang="en-US" sz="834" dirty="0"/>
          </a:p>
        </p:txBody>
      </p:sp>
      <p:sp>
        <p:nvSpPr>
          <p:cNvPr id="27" name="Text 23"/>
          <p:cNvSpPr/>
          <p:nvPr/>
        </p:nvSpPr>
        <p:spPr>
          <a:xfrm>
            <a:off x="542925" y="4745069"/>
            <a:ext cx="57150"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88E3C"/>
                </a:solidFill>
              </a:rPr>
              <a:t>▸</a:t>
            </a:r>
            <a:endParaRPr lang="en-US" sz="784" dirty="0"/>
          </a:p>
        </p:txBody>
      </p:sp>
      <p:sp>
        <p:nvSpPr>
          <p:cNvPr id="28" name="Text 24"/>
          <p:cNvSpPr/>
          <p:nvPr/>
        </p:nvSpPr>
        <p:spPr>
          <a:xfrm>
            <a:off x="714375" y="4757570"/>
            <a:ext cx="348615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7474F"/>
                </a:solidFill>
              </a:rPr>
              <a:t>Enable informed decision-making for the next development cycle</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431371"/>
          </a:xfrm>
          <a:prstGeom prst="rect">
            <a:avLst/>
          </a:prstGeom>
        </p:spPr>
      </p:pic>
      <p:sp>
        <p:nvSpPr>
          <p:cNvPr id="4" name="Shape 0"/>
          <p:cNvSpPr/>
          <p:nvPr/>
        </p:nvSpPr>
        <p:spPr>
          <a:xfrm>
            <a:off x="0" y="0"/>
            <a:ext cx="9144000" cy="762595"/>
          </a:xfrm>
          <a:prstGeom prst="rect">
            <a:avLst/>
          </a:prstGeom>
          <a:solidFill>
            <a:srgbClr val="283593"/>
          </a:solidFill>
          <a:ln/>
        </p:spPr>
        <p:txBody>
          <a:bodyPr/>
          <a:lstStyle/>
          <a:p>
            <a:endParaRPr lang="en-US"/>
          </a:p>
        </p:txBody>
      </p:sp>
      <p:sp>
        <p:nvSpPr>
          <p:cNvPr id="5" name="Text 1"/>
          <p:cNvSpPr/>
          <p:nvPr/>
        </p:nvSpPr>
        <p:spPr>
          <a:xfrm>
            <a:off x="428625" y="214313"/>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Overall Test Execution Results</a:t>
            </a:r>
            <a:endParaRPr lang="en-US" sz="1602" dirty="0"/>
          </a:p>
        </p:txBody>
      </p:sp>
      <p:pic>
        <p:nvPicPr>
          <p:cNvPr id="6" name="Image 1" descr="preencoded.png"/>
          <p:cNvPicPr>
            <a:picLocks noChangeAspect="1"/>
          </p:cNvPicPr>
          <p:nvPr/>
        </p:nvPicPr>
        <p:blipFill>
          <a:blip r:embed="rId4"/>
          <a:stretch>
            <a:fillRect/>
          </a:stretch>
        </p:blipFill>
        <p:spPr>
          <a:xfrm>
            <a:off x="428625" y="1739671"/>
            <a:ext cx="2857500" cy="2857500"/>
          </a:xfrm>
          <a:prstGeom prst="rect">
            <a:avLst/>
          </a:prstGeom>
        </p:spPr>
      </p:pic>
      <p:sp>
        <p:nvSpPr>
          <p:cNvPr id="7" name="Shape 2"/>
          <p:cNvSpPr/>
          <p:nvPr/>
        </p:nvSpPr>
        <p:spPr>
          <a:xfrm>
            <a:off x="3714750" y="1048345"/>
            <a:ext cx="5000625" cy="867966"/>
          </a:xfrm>
          <a:prstGeom prst="rect">
            <a:avLst/>
          </a:prstGeom>
          <a:solidFill>
            <a:srgbClr val="388E3C">
              <a:alpha val="5000"/>
            </a:srgbClr>
          </a:solidFill>
          <a:ln/>
        </p:spPr>
        <p:txBody>
          <a:bodyPr/>
          <a:lstStyle/>
          <a:p>
            <a:endParaRPr lang="en-US"/>
          </a:p>
        </p:txBody>
      </p:sp>
      <p:sp>
        <p:nvSpPr>
          <p:cNvPr id="8" name="Shape 3"/>
          <p:cNvSpPr/>
          <p:nvPr/>
        </p:nvSpPr>
        <p:spPr>
          <a:xfrm>
            <a:off x="3714750" y="1048345"/>
            <a:ext cx="28575" cy="867966"/>
          </a:xfrm>
          <a:prstGeom prst="rect">
            <a:avLst/>
          </a:prstGeom>
          <a:solidFill>
            <a:srgbClr val="388E3C"/>
          </a:solidFill>
          <a:ln/>
        </p:spPr>
        <p:txBody>
          <a:bodyPr/>
          <a:lstStyle/>
          <a:p>
            <a:endParaRPr lang="en-US"/>
          </a:p>
        </p:txBody>
      </p:sp>
      <p:sp>
        <p:nvSpPr>
          <p:cNvPr id="9" name="Shape 4"/>
          <p:cNvSpPr/>
          <p:nvPr/>
        </p:nvSpPr>
        <p:spPr>
          <a:xfrm>
            <a:off x="3857625" y="1303734"/>
            <a:ext cx="357188" cy="357188"/>
          </a:xfrm>
          <a:prstGeom prst="rect">
            <a:avLst/>
          </a:prstGeom>
          <a:solidFill>
            <a:srgbClr val="388E3C">
              <a:alpha val="15000"/>
            </a:srgbClr>
          </a:solidFill>
          <a:ln/>
        </p:spPr>
        <p:txBody>
          <a:bodyPr/>
          <a:lstStyle/>
          <a:p>
            <a:endParaRPr lang="en-US"/>
          </a:p>
        </p:txBody>
      </p:sp>
      <p:sp>
        <p:nvSpPr>
          <p:cNvPr id="10" name="Text 5"/>
          <p:cNvSpPr/>
          <p:nvPr/>
        </p:nvSpPr>
        <p:spPr>
          <a:xfrm>
            <a:off x="3857625" y="1303734"/>
            <a:ext cx="357188" cy="357188"/>
          </a:xfrm>
          <a:prstGeom prst="rect">
            <a:avLst/>
          </a:prstGeom>
          <a:noFill/>
          <a:ln/>
        </p:spPr>
        <p:txBody>
          <a:bodyPr wrap="none" lIns="0" tIns="0" rIns="0" bIns="0" rtlCol="0" anchor="ctr">
            <a:spAutoFit/>
          </a:bodyPr>
          <a:lstStyle/>
          <a:p>
            <a:pPr marL="0" indent="0" algn="ctr">
              <a:lnSpc>
                <a:spcPts val="2200"/>
              </a:lnSpc>
              <a:buNone/>
            </a:pPr>
            <a:r>
              <a:rPr lang="en-US" sz="1602" b="1" dirty="0">
                <a:solidFill>
                  <a:srgbClr val="388E3C"/>
                </a:solidFill>
              </a:rPr>
              <a:t>✓</a:t>
            </a:r>
            <a:endParaRPr lang="en-US" sz="1602" dirty="0"/>
          </a:p>
        </p:txBody>
      </p:sp>
      <p:sp>
        <p:nvSpPr>
          <p:cNvPr id="11" name="Text 6"/>
          <p:cNvSpPr/>
          <p:nvPr/>
        </p:nvSpPr>
        <p:spPr>
          <a:xfrm>
            <a:off x="4357688" y="1191220"/>
            <a:ext cx="384897"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90A4AE"/>
                </a:solidFill>
              </a:rPr>
              <a:t>Passed</a:t>
            </a:r>
            <a:endParaRPr lang="en-US" sz="683" dirty="0"/>
          </a:p>
        </p:txBody>
      </p:sp>
      <p:sp>
        <p:nvSpPr>
          <p:cNvPr id="12" name="Text 7"/>
          <p:cNvSpPr/>
          <p:nvPr/>
        </p:nvSpPr>
        <p:spPr>
          <a:xfrm>
            <a:off x="4357688" y="1355527"/>
            <a:ext cx="384897"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7474F"/>
                </a:solidFill>
              </a:rPr>
              <a:t>20</a:t>
            </a:r>
            <a:endParaRPr lang="en-US" sz="1193" dirty="0"/>
          </a:p>
        </p:txBody>
      </p:sp>
      <p:sp>
        <p:nvSpPr>
          <p:cNvPr id="13" name="Text 8"/>
          <p:cNvSpPr/>
          <p:nvPr/>
        </p:nvSpPr>
        <p:spPr>
          <a:xfrm>
            <a:off x="4357688" y="1634133"/>
            <a:ext cx="338770"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90A4AE"/>
                </a:solidFill>
              </a:rPr>
              <a:t>76.92%</a:t>
            </a:r>
            <a:endParaRPr lang="en-US" sz="727" dirty="0"/>
          </a:p>
        </p:txBody>
      </p:sp>
      <p:sp>
        <p:nvSpPr>
          <p:cNvPr id="14" name="Shape 9"/>
          <p:cNvSpPr/>
          <p:nvPr/>
        </p:nvSpPr>
        <p:spPr>
          <a:xfrm>
            <a:off x="3714750" y="2130623"/>
            <a:ext cx="5000625" cy="867966"/>
          </a:xfrm>
          <a:prstGeom prst="rect">
            <a:avLst/>
          </a:prstGeom>
          <a:solidFill>
            <a:srgbClr val="D32F2F">
              <a:alpha val="5000"/>
            </a:srgbClr>
          </a:solidFill>
          <a:ln/>
        </p:spPr>
        <p:txBody>
          <a:bodyPr/>
          <a:lstStyle/>
          <a:p>
            <a:endParaRPr lang="en-US"/>
          </a:p>
        </p:txBody>
      </p:sp>
      <p:sp>
        <p:nvSpPr>
          <p:cNvPr id="15" name="Shape 10"/>
          <p:cNvSpPr/>
          <p:nvPr/>
        </p:nvSpPr>
        <p:spPr>
          <a:xfrm>
            <a:off x="3714750" y="2130623"/>
            <a:ext cx="28575" cy="867966"/>
          </a:xfrm>
          <a:prstGeom prst="rect">
            <a:avLst/>
          </a:prstGeom>
          <a:solidFill>
            <a:srgbClr val="D32F2F"/>
          </a:solidFill>
          <a:ln/>
        </p:spPr>
        <p:txBody>
          <a:bodyPr/>
          <a:lstStyle/>
          <a:p>
            <a:endParaRPr lang="en-US"/>
          </a:p>
        </p:txBody>
      </p:sp>
      <p:sp>
        <p:nvSpPr>
          <p:cNvPr id="16" name="Shape 11"/>
          <p:cNvSpPr/>
          <p:nvPr/>
        </p:nvSpPr>
        <p:spPr>
          <a:xfrm>
            <a:off x="3857625" y="2386013"/>
            <a:ext cx="357188" cy="357188"/>
          </a:xfrm>
          <a:prstGeom prst="rect">
            <a:avLst/>
          </a:prstGeom>
          <a:solidFill>
            <a:srgbClr val="D32F2F">
              <a:alpha val="15000"/>
            </a:srgbClr>
          </a:solidFill>
          <a:ln/>
        </p:spPr>
        <p:txBody>
          <a:bodyPr/>
          <a:lstStyle/>
          <a:p>
            <a:endParaRPr lang="en-US"/>
          </a:p>
        </p:txBody>
      </p:sp>
      <p:sp>
        <p:nvSpPr>
          <p:cNvPr id="17" name="Text 12"/>
          <p:cNvSpPr/>
          <p:nvPr/>
        </p:nvSpPr>
        <p:spPr>
          <a:xfrm>
            <a:off x="3857625" y="2386013"/>
            <a:ext cx="357188" cy="357188"/>
          </a:xfrm>
          <a:prstGeom prst="rect">
            <a:avLst/>
          </a:prstGeom>
          <a:noFill/>
          <a:ln/>
        </p:spPr>
        <p:txBody>
          <a:bodyPr wrap="none" lIns="0" tIns="0" rIns="0" bIns="0" rtlCol="0" anchor="ctr">
            <a:spAutoFit/>
          </a:bodyPr>
          <a:lstStyle/>
          <a:p>
            <a:pPr marL="0" indent="0" algn="ctr">
              <a:lnSpc>
                <a:spcPts val="2200"/>
              </a:lnSpc>
              <a:buNone/>
            </a:pPr>
            <a:r>
              <a:rPr lang="en-US" sz="1602" b="1" dirty="0">
                <a:solidFill>
                  <a:srgbClr val="D32F2F"/>
                </a:solidFill>
              </a:rPr>
              <a:t>✕</a:t>
            </a:r>
            <a:endParaRPr lang="en-US" sz="1602" dirty="0"/>
          </a:p>
        </p:txBody>
      </p:sp>
      <p:sp>
        <p:nvSpPr>
          <p:cNvPr id="18" name="Text 13"/>
          <p:cNvSpPr/>
          <p:nvPr/>
        </p:nvSpPr>
        <p:spPr>
          <a:xfrm>
            <a:off x="4357688" y="2273498"/>
            <a:ext cx="361792"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90A4AE"/>
                </a:solidFill>
              </a:rPr>
              <a:t>Failed</a:t>
            </a:r>
            <a:endParaRPr lang="en-US" sz="683" dirty="0"/>
          </a:p>
        </p:txBody>
      </p:sp>
      <p:sp>
        <p:nvSpPr>
          <p:cNvPr id="19" name="Text 14"/>
          <p:cNvSpPr/>
          <p:nvPr/>
        </p:nvSpPr>
        <p:spPr>
          <a:xfrm>
            <a:off x="4357688" y="2437805"/>
            <a:ext cx="361792"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7474F"/>
                </a:solidFill>
              </a:rPr>
              <a:t>5</a:t>
            </a:r>
            <a:endParaRPr lang="en-US" sz="1193" dirty="0"/>
          </a:p>
        </p:txBody>
      </p:sp>
      <p:sp>
        <p:nvSpPr>
          <p:cNvPr id="20" name="Text 15"/>
          <p:cNvSpPr/>
          <p:nvPr/>
        </p:nvSpPr>
        <p:spPr>
          <a:xfrm>
            <a:off x="4357688" y="2716411"/>
            <a:ext cx="338770"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90A4AE"/>
                </a:solidFill>
              </a:rPr>
              <a:t>19.23%</a:t>
            </a:r>
            <a:endParaRPr lang="en-US" sz="727" dirty="0"/>
          </a:p>
        </p:txBody>
      </p:sp>
      <p:sp>
        <p:nvSpPr>
          <p:cNvPr id="21" name="Shape 16"/>
          <p:cNvSpPr/>
          <p:nvPr/>
        </p:nvSpPr>
        <p:spPr>
          <a:xfrm>
            <a:off x="3714750" y="3212902"/>
            <a:ext cx="5000625" cy="867966"/>
          </a:xfrm>
          <a:prstGeom prst="rect">
            <a:avLst/>
          </a:prstGeom>
          <a:solidFill>
            <a:srgbClr val="F57C00">
              <a:alpha val="5000"/>
            </a:srgbClr>
          </a:solidFill>
          <a:ln/>
        </p:spPr>
        <p:txBody>
          <a:bodyPr/>
          <a:lstStyle/>
          <a:p>
            <a:endParaRPr lang="en-US"/>
          </a:p>
        </p:txBody>
      </p:sp>
      <p:sp>
        <p:nvSpPr>
          <p:cNvPr id="22" name="Shape 17"/>
          <p:cNvSpPr/>
          <p:nvPr/>
        </p:nvSpPr>
        <p:spPr>
          <a:xfrm>
            <a:off x="3714750" y="3212902"/>
            <a:ext cx="28575" cy="867966"/>
          </a:xfrm>
          <a:prstGeom prst="rect">
            <a:avLst/>
          </a:prstGeom>
          <a:solidFill>
            <a:srgbClr val="F57C00"/>
          </a:solidFill>
          <a:ln/>
        </p:spPr>
        <p:txBody>
          <a:bodyPr/>
          <a:lstStyle/>
          <a:p>
            <a:endParaRPr lang="en-US"/>
          </a:p>
        </p:txBody>
      </p:sp>
      <p:sp>
        <p:nvSpPr>
          <p:cNvPr id="23" name="Shape 18"/>
          <p:cNvSpPr/>
          <p:nvPr/>
        </p:nvSpPr>
        <p:spPr>
          <a:xfrm>
            <a:off x="3857625" y="3468291"/>
            <a:ext cx="357188" cy="357188"/>
          </a:xfrm>
          <a:prstGeom prst="rect">
            <a:avLst/>
          </a:prstGeom>
          <a:solidFill>
            <a:srgbClr val="F57C00">
              <a:alpha val="15000"/>
            </a:srgbClr>
          </a:solidFill>
          <a:ln/>
        </p:spPr>
        <p:txBody>
          <a:bodyPr/>
          <a:lstStyle/>
          <a:p>
            <a:endParaRPr lang="en-US"/>
          </a:p>
        </p:txBody>
      </p:sp>
      <p:sp>
        <p:nvSpPr>
          <p:cNvPr id="24" name="Text 19"/>
          <p:cNvSpPr/>
          <p:nvPr/>
        </p:nvSpPr>
        <p:spPr>
          <a:xfrm>
            <a:off x="3857625" y="3468291"/>
            <a:ext cx="357188" cy="357188"/>
          </a:xfrm>
          <a:prstGeom prst="rect">
            <a:avLst/>
          </a:prstGeom>
          <a:noFill/>
          <a:ln/>
        </p:spPr>
        <p:txBody>
          <a:bodyPr wrap="none" lIns="0" tIns="0" rIns="0" bIns="0" rtlCol="0" anchor="ctr">
            <a:spAutoFit/>
          </a:bodyPr>
          <a:lstStyle/>
          <a:p>
            <a:pPr marL="0" indent="0" algn="ctr">
              <a:lnSpc>
                <a:spcPts val="2200"/>
              </a:lnSpc>
              <a:buNone/>
            </a:pPr>
            <a:r>
              <a:rPr lang="en-US" sz="1602" b="1" dirty="0">
                <a:solidFill>
                  <a:srgbClr val="F57C00"/>
                </a:solidFill>
              </a:rPr>
              <a:t>⊘</a:t>
            </a:r>
            <a:endParaRPr lang="en-US" sz="1602" dirty="0"/>
          </a:p>
        </p:txBody>
      </p:sp>
      <p:sp>
        <p:nvSpPr>
          <p:cNvPr id="25" name="Text 20"/>
          <p:cNvSpPr/>
          <p:nvPr/>
        </p:nvSpPr>
        <p:spPr>
          <a:xfrm>
            <a:off x="4357688" y="3355777"/>
            <a:ext cx="481087"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90A4AE"/>
                </a:solidFill>
              </a:rPr>
              <a:t>Blocked</a:t>
            </a:r>
            <a:endParaRPr lang="en-US" sz="683" dirty="0"/>
          </a:p>
        </p:txBody>
      </p:sp>
      <p:sp>
        <p:nvSpPr>
          <p:cNvPr id="26" name="Text 21"/>
          <p:cNvSpPr/>
          <p:nvPr/>
        </p:nvSpPr>
        <p:spPr>
          <a:xfrm>
            <a:off x="4357688" y="3520083"/>
            <a:ext cx="481087"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7474F"/>
                </a:solidFill>
              </a:rPr>
              <a:t>1</a:t>
            </a:r>
            <a:endParaRPr lang="en-US" sz="1193" dirty="0"/>
          </a:p>
        </p:txBody>
      </p:sp>
      <p:sp>
        <p:nvSpPr>
          <p:cNvPr id="27" name="Text 22"/>
          <p:cNvSpPr/>
          <p:nvPr/>
        </p:nvSpPr>
        <p:spPr>
          <a:xfrm>
            <a:off x="4357688" y="3798689"/>
            <a:ext cx="281536"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90A4AE"/>
                </a:solidFill>
              </a:rPr>
              <a:t>3.85%</a:t>
            </a:r>
            <a:endParaRPr lang="en-US" sz="727" dirty="0"/>
          </a:p>
        </p:txBody>
      </p:sp>
      <p:sp>
        <p:nvSpPr>
          <p:cNvPr id="28" name="Shape 23"/>
          <p:cNvSpPr/>
          <p:nvPr/>
        </p:nvSpPr>
        <p:spPr>
          <a:xfrm>
            <a:off x="3714750" y="4366617"/>
            <a:ext cx="5000625" cy="779004"/>
          </a:xfrm>
          <a:prstGeom prst="rect">
            <a:avLst/>
          </a:prstGeom>
          <a:solidFill>
            <a:srgbClr val="388E3C">
              <a:alpha val="5000"/>
            </a:srgbClr>
          </a:solidFill>
          <a:ln/>
        </p:spPr>
        <p:txBody>
          <a:bodyPr/>
          <a:lstStyle/>
          <a:p>
            <a:endParaRPr lang="en-US"/>
          </a:p>
        </p:txBody>
      </p:sp>
      <p:sp>
        <p:nvSpPr>
          <p:cNvPr id="29" name="Shape 24"/>
          <p:cNvSpPr/>
          <p:nvPr/>
        </p:nvSpPr>
        <p:spPr>
          <a:xfrm>
            <a:off x="3714750" y="4366617"/>
            <a:ext cx="28575" cy="779004"/>
          </a:xfrm>
          <a:prstGeom prst="rect">
            <a:avLst/>
          </a:prstGeom>
          <a:solidFill>
            <a:srgbClr val="1A237E"/>
          </a:solidFill>
          <a:ln/>
        </p:spPr>
        <p:txBody>
          <a:bodyPr/>
          <a:lstStyle/>
          <a:p>
            <a:endParaRPr lang="en-US"/>
          </a:p>
        </p:txBody>
      </p:sp>
      <p:sp>
        <p:nvSpPr>
          <p:cNvPr id="30" name="Text 25"/>
          <p:cNvSpPr/>
          <p:nvPr/>
        </p:nvSpPr>
        <p:spPr>
          <a:xfrm>
            <a:off x="3857625" y="4509492"/>
            <a:ext cx="4714875"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237E"/>
                </a:solidFill>
              </a:rPr>
              <a:t>Key Insight</a:t>
            </a:r>
            <a:endParaRPr lang="en-US" sz="584" dirty="0"/>
          </a:p>
        </p:txBody>
      </p:sp>
      <p:sp>
        <p:nvSpPr>
          <p:cNvPr id="31" name="Text 26"/>
          <p:cNvSpPr/>
          <p:nvPr/>
        </p:nvSpPr>
        <p:spPr>
          <a:xfrm>
            <a:off x="3857625" y="4682728"/>
            <a:ext cx="4714875"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7474F"/>
                </a:solidFill>
              </a:rPr>
              <a:t>The overall pass rate is </a:t>
            </a:r>
            <a:r>
              <a:rPr lang="en-US" sz="683" b="1" dirty="0">
                <a:solidFill>
                  <a:srgbClr val="388E3C"/>
                </a:solidFill>
              </a:rPr>
              <a:t>76.92%</a:t>
            </a:r>
            <a:r>
              <a:rPr lang="en-US" sz="727" dirty="0">
                <a:solidFill>
                  <a:srgbClr val="37474F"/>
                </a:solidFill>
              </a:rPr>
              <a:t>, indicating moderate stability. However, the </a:t>
            </a:r>
            <a:r>
              <a:rPr lang="en-US" sz="683" b="1" dirty="0">
                <a:solidFill>
                  <a:srgbClr val="D32F2F"/>
                </a:solidFill>
              </a:rPr>
              <a:t>19.23% failure rate</a:t>
            </a:r>
            <a:r>
              <a:rPr lang="en-US" sz="727" dirty="0">
                <a:solidFill>
                  <a:srgbClr val="37474F"/>
                </a:solidFill>
              </a:rPr>
              <a:t> requires immediate investigation and remediation.</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306690"/>
          </a:xfrm>
          <a:prstGeom prst="rect">
            <a:avLst/>
          </a:prstGeom>
        </p:spPr>
      </p:pic>
      <p:sp>
        <p:nvSpPr>
          <p:cNvPr id="4" name="Shape 0"/>
          <p:cNvSpPr/>
          <p:nvPr/>
        </p:nvSpPr>
        <p:spPr>
          <a:xfrm>
            <a:off x="0" y="0"/>
            <a:ext cx="9144000" cy="762595"/>
          </a:xfrm>
          <a:prstGeom prst="rect">
            <a:avLst/>
          </a:prstGeom>
          <a:solidFill>
            <a:srgbClr val="283593"/>
          </a:solidFill>
          <a:ln/>
        </p:spPr>
        <p:txBody>
          <a:bodyPr/>
          <a:lstStyle/>
          <a:p>
            <a:endParaRPr lang="en-US"/>
          </a:p>
        </p:txBody>
      </p:sp>
      <p:sp>
        <p:nvSpPr>
          <p:cNvPr id="5" name="Text 1"/>
          <p:cNvSpPr/>
          <p:nvPr/>
        </p:nvSpPr>
        <p:spPr>
          <a:xfrm>
            <a:off x="428625" y="214313"/>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Test Coverage and Pass Rate by Module</a:t>
            </a:r>
            <a:endParaRPr lang="en-US" sz="1602" dirty="0"/>
          </a:p>
        </p:txBody>
      </p:sp>
      <p:pic>
        <p:nvPicPr>
          <p:cNvPr id="6" name="Image 1" descr="preencoded.png"/>
          <p:cNvPicPr>
            <a:picLocks noChangeAspect="1"/>
          </p:cNvPicPr>
          <p:nvPr/>
        </p:nvPicPr>
        <p:blipFill>
          <a:blip r:embed="rId4"/>
          <a:stretch>
            <a:fillRect/>
          </a:stretch>
        </p:blipFill>
        <p:spPr>
          <a:xfrm>
            <a:off x="428625" y="934045"/>
            <a:ext cx="3214688" cy="1607344"/>
          </a:xfrm>
          <a:prstGeom prst="rect">
            <a:avLst/>
          </a:prstGeom>
        </p:spPr>
      </p:pic>
      <p:sp>
        <p:nvSpPr>
          <p:cNvPr id="7" name="Shape 2"/>
          <p:cNvSpPr/>
          <p:nvPr/>
        </p:nvSpPr>
        <p:spPr>
          <a:xfrm>
            <a:off x="4000500" y="934045"/>
            <a:ext cx="4714875" cy="1062633"/>
          </a:xfrm>
          <a:prstGeom prst="rect">
            <a:avLst/>
          </a:prstGeom>
          <a:solidFill>
            <a:srgbClr val="000000">
              <a:alpha val="2000"/>
            </a:srgbClr>
          </a:solidFill>
          <a:ln/>
        </p:spPr>
        <p:txBody>
          <a:bodyPr/>
          <a:lstStyle/>
          <a:p>
            <a:endParaRPr lang="en-US"/>
          </a:p>
        </p:txBody>
      </p:sp>
      <p:sp>
        <p:nvSpPr>
          <p:cNvPr id="8" name="Shape 3"/>
          <p:cNvSpPr/>
          <p:nvPr/>
        </p:nvSpPr>
        <p:spPr>
          <a:xfrm>
            <a:off x="4000500" y="934045"/>
            <a:ext cx="28575" cy="1062633"/>
          </a:xfrm>
          <a:prstGeom prst="rect">
            <a:avLst/>
          </a:prstGeom>
          <a:solidFill>
            <a:srgbClr val="388E3C"/>
          </a:solidFill>
          <a:ln/>
        </p:spPr>
        <p:txBody>
          <a:bodyPr/>
          <a:lstStyle/>
          <a:p>
            <a:endParaRPr lang="en-US"/>
          </a:p>
        </p:txBody>
      </p:sp>
      <p:sp>
        <p:nvSpPr>
          <p:cNvPr id="9" name="Text 4"/>
          <p:cNvSpPr/>
          <p:nvPr/>
        </p:nvSpPr>
        <p:spPr>
          <a:xfrm>
            <a:off x="4114800" y="1048345"/>
            <a:ext cx="44862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237E"/>
                </a:solidFill>
              </a:rPr>
              <a:t>Loan Module</a:t>
            </a:r>
            <a:endParaRPr lang="en-US" sz="683" dirty="0"/>
          </a:p>
        </p:txBody>
      </p:sp>
      <p:sp>
        <p:nvSpPr>
          <p:cNvPr id="10" name="Text 5"/>
          <p:cNvSpPr/>
          <p:nvPr/>
        </p:nvSpPr>
        <p:spPr>
          <a:xfrm>
            <a:off x="4114800" y="1241227"/>
            <a:ext cx="49035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Total Tests:</a:t>
            </a:r>
            <a:endParaRPr lang="en-US" sz="634" dirty="0"/>
          </a:p>
        </p:txBody>
      </p:sp>
      <p:sp>
        <p:nvSpPr>
          <p:cNvPr id="11" name="Text 6"/>
          <p:cNvSpPr/>
          <p:nvPr/>
        </p:nvSpPr>
        <p:spPr>
          <a:xfrm>
            <a:off x="6208812" y="1241227"/>
            <a:ext cx="106263"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15</a:t>
            </a:r>
            <a:endParaRPr lang="en-US" sz="634" dirty="0"/>
          </a:p>
        </p:txBody>
      </p:sp>
      <p:sp>
        <p:nvSpPr>
          <p:cNvPr id="12" name="Text 7"/>
          <p:cNvSpPr/>
          <p:nvPr/>
        </p:nvSpPr>
        <p:spPr>
          <a:xfrm>
            <a:off x="6400800" y="1241227"/>
            <a:ext cx="3361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Passed:</a:t>
            </a:r>
            <a:endParaRPr lang="en-US" sz="634" dirty="0"/>
          </a:p>
        </p:txBody>
      </p:sp>
      <p:sp>
        <p:nvSpPr>
          <p:cNvPr id="13" name="Text 8"/>
          <p:cNvSpPr/>
          <p:nvPr/>
        </p:nvSpPr>
        <p:spPr>
          <a:xfrm>
            <a:off x="8494812" y="1241227"/>
            <a:ext cx="106263"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14</a:t>
            </a:r>
            <a:endParaRPr lang="en-US" sz="634" dirty="0"/>
          </a:p>
        </p:txBody>
      </p:sp>
      <p:sp>
        <p:nvSpPr>
          <p:cNvPr id="14" name="Text 9"/>
          <p:cNvSpPr/>
          <p:nvPr/>
        </p:nvSpPr>
        <p:spPr>
          <a:xfrm>
            <a:off x="4114800" y="1466255"/>
            <a:ext cx="28893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Failed:</a:t>
            </a:r>
            <a:endParaRPr lang="en-US" sz="634" dirty="0"/>
          </a:p>
        </p:txBody>
      </p:sp>
      <p:sp>
        <p:nvSpPr>
          <p:cNvPr id="15" name="Text 10"/>
          <p:cNvSpPr/>
          <p:nvPr/>
        </p:nvSpPr>
        <p:spPr>
          <a:xfrm>
            <a:off x="6261943" y="1466255"/>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1</a:t>
            </a:r>
            <a:endParaRPr lang="en-US" sz="634" dirty="0"/>
          </a:p>
        </p:txBody>
      </p:sp>
      <p:sp>
        <p:nvSpPr>
          <p:cNvPr id="16" name="Text 11"/>
          <p:cNvSpPr/>
          <p:nvPr/>
        </p:nvSpPr>
        <p:spPr>
          <a:xfrm>
            <a:off x="6400800" y="1466255"/>
            <a:ext cx="3762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Blocked:</a:t>
            </a:r>
            <a:endParaRPr lang="en-US" sz="634" dirty="0"/>
          </a:p>
        </p:txBody>
      </p:sp>
      <p:sp>
        <p:nvSpPr>
          <p:cNvPr id="17" name="Text 12"/>
          <p:cNvSpPr/>
          <p:nvPr/>
        </p:nvSpPr>
        <p:spPr>
          <a:xfrm>
            <a:off x="8547943" y="1466255"/>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0</a:t>
            </a:r>
            <a:endParaRPr lang="en-US" sz="634" dirty="0"/>
          </a:p>
        </p:txBody>
      </p:sp>
      <p:sp>
        <p:nvSpPr>
          <p:cNvPr id="18" name="Text 13"/>
          <p:cNvSpPr/>
          <p:nvPr/>
        </p:nvSpPr>
        <p:spPr>
          <a:xfrm>
            <a:off x="4114800" y="1662708"/>
            <a:ext cx="4486275" cy="219670"/>
          </a:xfrm>
          <a:prstGeom prst="rect">
            <a:avLst/>
          </a:prstGeom>
          <a:noFill/>
          <a:ln/>
        </p:spPr>
        <p:txBody>
          <a:bodyPr wrap="square" lIns="0" tIns="68072" rIns="0" bIns="0" rtlCol="0" anchor="t">
            <a:spAutoFit/>
          </a:bodyPr>
          <a:lstStyle/>
          <a:p>
            <a:pPr marL="0" indent="0" algn="l">
              <a:lnSpc>
                <a:spcPts val="1100"/>
              </a:lnSpc>
              <a:buNone/>
            </a:pPr>
            <a:r>
              <a:rPr lang="en-US" sz="784" b="1" dirty="0">
                <a:solidFill>
                  <a:srgbClr val="388E3C"/>
                </a:solidFill>
              </a:rPr>
              <a:t>Pass Rate: 93.33%</a:t>
            </a:r>
            <a:endParaRPr lang="en-US" sz="784" dirty="0"/>
          </a:p>
        </p:txBody>
      </p:sp>
      <p:sp>
        <p:nvSpPr>
          <p:cNvPr id="19" name="Shape 14"/>
          <p:cNvSpPr/>
          <p:nvPr/>
        </p:nvSpPr>
        <p:spPr>
          <a:xfrm>
            <a:off x="4000500" y="2082403"/>
            <a:ext cx="4714875" cy="1062633"/>
          </a:xfrm>
          <a:prstGeom prst="rect">
            <a:avLst/>
          </a:prstGeom>
          <a:solidFill>
            <a:srgbClr val="000000">
              <a:alpha val="2000"/>
            </a:srgbClr>
          </a:solidFill>
          <a:ln/>
        </p:spPr>
        <p:txBody>
          <a:bodyPr/>
          <a:lstStyle/>
          <a:p>
            <a:endParaRPr lang="en-US"/>
          </a:p>
        </p:txBody>
      </p:sp>
      <p:sp>
        <p:nvSpPr>
          <p:cNvPr id="20" name="Shape 15"/>
          <p:cNvSpPr/>
          <p:nvPr/>
        </p:nvSpPr>
        <p:spPr>
          <a:xfrm>
            <a:off x="4000500" y="2082403"/>
            <a:ext cx="28575" cy="1062633"/>
          </a:xfrm>
          <a:prstGeom prst="rect">
            <a:avLst/>
          </a:prstGeom>
          <a:solidFill>
            <a:srgbClr val="D32F2F"/>
          </a:solidFill>
          <a:ln/>
        </p:spPr>
        <p:txBody>
          <a:bodyPr/>
          <a:lstStyle/>
          <a:p>
            <a:endParaRPr lang="en-US"/>
          </a:p>
        </p:txBody>
      </p:sp>
      <p:sp>
        <p:nvSpPr>
          <p:cNvPr id="21" name="Text 16"/>
          <p:cNvSpPr/>
          <p:nvPr/>
        </p:nvSpPr>
        <p:spPr>
          <a:xfrm>
            <a:off x="4114800" y="2196703"/>
            <a:ext cx="44862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237E"/>
                </a:solidFill>
              </a:rPr>
              <a:t>Profile Module</a:t>
            </a:r>
            <a:endParaRPr lang="en-US" sz="683" dirty="0"/>
          </a:p>
        </p:txBody>
      </p:sp>
      <p:sp>
        <p:nvSpPr>
          <p:cNvPr id="22" name="Text 17"/>
          <p:cNvSpPr/>
          <p:nvPr/>
        </p:nvSpPr>
        <p:spPr>
          <a:xfrm>
            <a:off x="4114800" y="2389584"/>
            <a:ext cx="49035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Total Tests:</a:t>
            </a:r>
            <a:endParaRPr lang="en-US" sz="634" dirty="0"/>
          </a:p>
        </p:txBody>
      </p:sp>
      <p:sp>
        <p:nvSpPr>
          <p:cNvPr id="23" name="Text 18"/>
          <p:cNvSpPr/>
          <p:nvPr/>
        </p:nvSpPr>
        <p:spPr>
          <a:xfrm>
            <a:off x="6261943" y="2389584"/>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5</a:t>
            </a:r>
            <a:endParaRPr lang="en-US" sz="634" dirty="0"/>
          </a:p>
        </p:txBody>
      </p:sp>
      <p:sp>
        <p:nvSpPr>
          <p:cNvPr id="24" name="Text 19"/>
          <p:cNvSpPr/>
          <p:nvPr/>
        </p:nvSpPr>
        <p:spPr>
          <a:xfrm>
            <a:off x="6400800" y="2389584"/>
            <a:ext cx="3361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Passed:</a:t>
            </a:r>
            <a:endParaRPr lang="en-US" sz="634" dirty="0"/>
          </a:p>
        </p:txBody>
      </p:sp>
      <p:sp>
        <p:nvSpPr>
          <p:cNvPr id="25" name="Text 20"/>
          <p:cNvSpPr/>
          <p:nvPr/>
        </p:nvSpPr>
        <p:spPr>
          <a:xfrm>
            <a:off x="8547943" y="2389584"/>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1</a:t>
            </a:r>
            <a:endParaRPr lang="en-US" sz="634" dirty="0"/>
          </a:p>
        </p:txBody>
      </p:sp>
      <p:sp>
        <p:nvSpPr>
          <p:cNvPr id="26" name="Text 21"/>
          <p:cNvSpPr/>
          <p:nvPr/>
        </p:nvSpPr>
        <p:spPr>
          <a:xfrm>
            <a:off x="4114800" y="2614613"/>
            <a:ext cx="28893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Failed:</a:t>
            </a:r>
            <a:endParaRPr lang="en-US" sz="634" dirty="0"/>
          </a:p>
        </p:txBody>
      </p:sp>
      <p:sp>
        <p:nvSpPr>
          <p:cNvPr id="27" name="Text 22"/>
          <p:cNvSpPr/>
          <p:nvPr/>
        </p:nvSpPr>
        <p:spPr>
          <a:xfrm>
            <a:off x="6261943" y="2614613"/>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4</a:t>
            </a:r>
            <a:endParaRPr lang="en-US" sz="634" dirty="0"/>
          </a:p>
        </p:txBody>
      </p:sp>
      <p:sp>
        <p:nvSpPr>
          <p:cNvPr id="28" name="Text 23"/>
          <p:cNvSpPr/>
          <p:nvPr/>
        </p:nvSpPr>
        <p:spPr>
          <a:xfrm>
            <a:off x="6400800" y="2614613"/>
            <a:ext cx="3762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Blocked:</a:t>
            </a:r>
            <a:endParaRPr lang="en-US" sz="634" dirty="0"/>
          </a:p>
        </p:txBody>
      </p:sp>
      <p:sp>
        <p:nvSpPr>
          <p:cNvPr id="29" name="Text 24"/>
          <p:cNvSpPr/>
          <p:nvPr/>
        </p:nvSpPr>
        <p:spPr>
          <a:xfrm>
            <a:off x="8547943" y="2614613"/>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0</a:t>
            </a:r>
            <a:endParaRPr lang="en-US" sz="634" dirty="0"/>
          </a:p>
        </p:txBody>
      </p:sp>
      <p:sp>
        <p:nvSpPr>
          <p:cNvPr id="30" name="Text 25"/>
          <p:cNvSpPr/>
          <p:nvPr/>
        </p:nvSpPr>
        <p:spPr>
          <a:xfrm>
            <a:off x="4114800" y="2811066"/>
            <a:ext cx="4486275" cy="219670"/>
          </a:xfrm>
          <a:prstGeom prst="rect">
            <a:avLst/>
          </a:prstGeom>
          <a:noFill/>
          <a:ln/>
        </p:spPr>
        <p:txBody>
          <a:bodyPr wrap="square" lIns="0" tIns="68072" rIns="0" bIns="0" rtlCol="0" anchor="t">
            <a:spAutoFit/>
          </a:bodyPr>
          <a:lstStyle/>
          <a:p>
            <a:pPr marL="0" indent="0" algn="l">
              <a:lnSpc>
                <a:spcPts val="1100"/>
              </a:lnSpc>
              <a:buNone/>
            </a:pPr>
            <a:r>
              <a:rPr lang="en-US" sz="784" b="1" dirty="0">
                <a:solidFill>
                  <a:srgbClr val="D32F2F"/>
                </a:solidFill>
              </a:rPr>
              <a:t>Pass Rate: 20.00%</a:t>
            </a:r>
            <a:endParaRPr lang="en-US" sz="784" dirty="0"/>
          </a:p>
        </p:txBody>
      </p:sp>
      <p:sp>
        <p:nvSpPr>
          <p:cNvPr id="31" name="Shape 26"/>
          <p:cNvSpPr/>
          <p:nvPr/>
        </p:nvSpPr>
        <p:spPr>
          <a:xfrm>
            <a:off x="4000500" y="3230761"/>
            <a:ext cx="4714875" cy="1062633"/>
          </a:xfrm>
          <a:prstGeom prst="rect">
            <a:avLst/>
          </a:prstGeom>
          <a:solidFill>
            <a:srgbClr val="000000">
              <a:alpha val="2000"/>
            </a:srgbClr>
          </a:solidFill>
          <a:ln/>
        </p:spPr>
        <p:txBody>
          <a:bodyPr/>
          <a:lstStyle/>
          <a:p>
            <a:endParaRPr lang="en-US"/>
          </a:p>
        </p:txBody>
      </p:sp>
      <p:sp>
        <p:nvSpPr>
          <p:cNvPr id="32" name="Shape 27"/>
          <p:cNvSpPr/>
          <p:nvPr/>
        </p:nvSpPr>
        <p:spPr>
          <a:xfrm>
            <a:off x="4000500" y="3230761"/>
            <a:ext cx="28575" cy="1062633"/>
          </a:xfrm>
          <a:prstGeom prst="rect">
            <a:avLst/>
          </a:prstGeom>
          <a:solidFill>
            <a:srgbClr val="F57C00"/>
          </a:solidFill>
          <a:ln/>
        </p:spPr>
        <p:txBody>
          <a:bodyPr/>
          <a:lstStyle/>
          <a:p>
            <a:endParaRPr lang="en-US"/>
          </a:p>
        </p:txBody>
      </p:sp>
      <p:sp>
        <p:nvSpPr>
          <p:cNvPr id="33" name="Text 28"/>
          <p:cNvSpPr/>
          <p:nvPr/>
        </p:nvSpPr>
        <p:spPr>
          <a:xfrm>
            <a:off x="4114800" y="3345061"/>
            <a:ext cx="44862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237E"/>
                </a:solidFill>
              </a:rPr>
              <a:t>System Module</a:t>
            </a:r>
            <a:endParaRPr lang="en-US" sz="683" dirty="0"/>
          </a:p>
        </p:txBody>
      </p:sp>
      <p:sp>
        <p:nvSpPr>
          <p:cNvPr id="34" name="Text 29"/>
          <p:cNvSpPr/>
          <p:nvPr/>
        </p:nvSpPr>
        <p:spPr>
          <a:xfrm>
            <a:off x="4114800" y="3537942"/>
            <a:ext cx="49035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Total Tests:</a:t>
            </a:r>
            <a:endParaRPr lang="en-US" sz="634" dirty="0"/>
          </a:p>
        </p:txBody>
      </p:sp>
      <p:sp>
        <p:nvSpPr>
          <p:cNvPr id="35" name="Text 30"/>
          <p:cNvSpPr/>
          <p:nvPr/>
        </p:nvSpPr>
        <p:spPr>
          <a:xfrm>
            <a:off x="6261943" y="3537942"/>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6</a:t>
            </a:r>
            <a:endParaRPr lang="en-US" sz="634" dirty="0"/>
          </a:p>
        </p:txBody>
      </p:sp>
      <p:sp>
        <p:nvSpPr>
          <p:cNvPr id="36" name="Text 31"/>
          <p:cNvSpPr/>
          <p:nvPr/>
        </p:nvSpPr>
        <p:spPr>
          <a:xfrm>
            <a:off x="6400800" y="3537942"/>
            <a:ext cx="3361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Passed:</a:t>
            </a:r>
            <a:endParaRPr lang="en-US" sz="634" dirty="0"/>
          </a:p>
        </p:txBody>
      </p:sp>
      <p:sp>
        <p:nvSpPr>
          <p:cNvPr id="37" name="Text 32"/>
          <p:cNvSpPr/>
          <p:nvPr/>
        </p:nvSpPr>
        <p:spPr>
          <a:xfrm>
            <a:off x="8547943" y="3537942"/>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5</a:t>
            </a:r>
            <a:endParaRPr lang="en-US" sz="634" dirty="0"/>
          </a:p>
        </p:txBody>
      </p:sp>
      <p:sp>
        <p:nvSpPr>
          <p:cNvPr id="38" name="Text 33"/>
          <p:cNvSpPr/>
          <p:nvPr/>
        </p:nvSpPr>
        <p:spPr>
          <a:xfrm>
            <a:off x="4114800" y="3762970"/>
            <a:ext cx="288931"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Failed:</a:t>
            </a:r>
            <a:endParaRPr lang="en-US" sz="634" dirty="0"/>
          </a:p>
        </p:txBody>
      </p:sp>
      <p:sp>
        <p:nvSpPr>
          <p:cNvPr id="39" name="Text 34"/>
          <p:cNvSpPr/>
          <p:nvPr/>
        </p:nvSpPr>
        <p:spPr>
          <a:xfrm>
            <a:off x="6261943" y="3762970"/>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0</a:t>
            </a:r>
            <a:endParaRPr lang="en-US" sz="634" dirty="0"/>
          </a:p>
        </p:txBody>
      </p:sp>
      <p:sp>
        <p:nvSpPr>
          <p:cNvPr id="40" name="Text 35"/>
          <p:cNvSpPr/>
          <p:nvPr/>
        </p:nvSpPr>
        <p:spPr>
          <a:xfrm>
            <a:off x="6400800" y="3762970"/>
            <a:ext cx="376219"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90A4AE"/>
                </a:solidFill>
              </a:rPr>
              <a:t>Blocked:</a:t>
            </a:r>
            <a:endParaRPr lang="en-US" sz="634" dirty="0"/>
          </a:p>
        </p:txBody>
      </p:sp>
      <p:sp>
        <p:nvSpPr>
          <p:cNvPr id="41" name="Text 36"/>
          <p:cNvSpPr/>
          <p:nvPr/>
        </p:nvSpPr>
        <p:spPr>
          <a:xfrm>
            <a:off x="8547943" y="3762970"/>
            <a:ext cx="53132" cy="139303"/>
          </a:xfrm>
          <a:prstGeom prst="rect">
            <a:avLst/>
          </a:prstGeom>
          <a:noFill/>
          <a:ln/>
        </p:spPr>
        <p:txBody>
          <a:bodyPr wrap="none" lIns="0" tIns="0" rIns="0" bIns="0" rtlCol="0" anchor="t">
            <a:spAutoFit/>
          </a:bodyPr>
          <a:lstStyle/>
          <a:p>
            <a:pPr marL="0" indent="0" algn="l">
              <a:lnSpc>
                <a:spcPts val="1100"/>
              </a:lnSpc>
              <a:buNone/>
            </a:pPr>
            <a:r>
              <a:rPr lang="en-US" sz="634" b="1" dirty="0">
                <a:solidFill>
                  <a:srgbClr val="37474F"/>
                </a:solidFill>
              </a:rPr>
              <a:t>1</a:t>
            </a:r>
            <a:endParaRPr lang="en-US" sz="634" dirty="0"/>
          </a:p>
        </p:txBody>
      </p:sp>
      <p:sp>
        <p:nvSpPr>
          <p:cNvPr id="42" name="Text 37"/>
          <p:cNvSpPr/>
          <p:nvPr/>
        </p:nvSpPr>
        <p:spPr>
          <a:xfrm>
            <a:off x="4114800" y="3959423"/>
            <a:ext cx="4486275" cy="219670"/>
          </a:xfrm>
          <a:prstGeom prst="rect">
            <a:avLst/>
          </a:prstGeom>
          <a:noFill/>
          <a:ln/>
        </p:spPr>
        <p:txBody>
          <a:bodyPr wrap="square" lIns="0" tIns="68072" rIns="0" bIns="0" rtlCol="0" anchor="t">
            <a:spAutoFit/>
          </a:bodyPr>
          <a:lstStyle/>
          <a:p>
            <a:pPr marL="0" indent="0" algn="l">
              <a:lnSpc>
                <a:spcPts val="1100"/>
              </a:lnSpc>
              <a:buNone/>
            </a:pPr>
            <a:r>
              <a:rPr lang="en-US" sz="784" b="1" dirty="0">
                <a:solidFill>
                  <a:srgbClr val="F57C00"/>
                </a:solidFill>
              </a:rPr>
              <a:t>Pass Rate: 83.33%</a:t>
            </a:r>
            <a:endParaRPr lang="en-US" sz="784" dirty="0"/>
          </a:p>
        </p:txBody>
      </p:sp>
      <p:sp>
        <p:nvSpPr>
          <p:cNvPr id="43" name="Shape 38"/>
          <p:cNvSpPr/>
          <p:nvPr/>
        </p:nvSpPr>
        <p:spPr>
          <a:xfrm>
            <a:off x="4000500" y="4379119"/>
            <a:ext cx="4714875" cy="756121"/>
          </a:xfrm>
          <a:prstGeom prst="rect">
            <a:avLst/>
          </a:prstGeom>
          <a:solidFill>
            <a:srgbClr val="D32F2F">
              <a:alpha val="4000"/>
            </a:srgbClr>
          </a:solidFill>
          <a:ln/>
        </p:spPr>
        <p:txBody>
          <a:bodyPr/>
          <a:lstStyle/>
          <a:p>
            <a:endParaRPr lang="en-US"/>
          </a:p>
        </p:txBody>
      </p:sp>
      <p:sp>
        <p:nvSpPr>
          <p:cNvPr id="44" name="Shape 39"/>
          <p:cNvSpPr/>
          <p:nvPr/>
        </p:nvSpPr>
        <p:spPr>
          <a:xfrm>
            <a:off x="4000500" y="4379119"/>
            <a:ext cx="28575" cy="756121"/>
          </a:xfrm>
          <a:prstGeom prst="rect">
            <a:avLst/>
          </a:prstGeom>
          <a:solidFill>
            <a:srgbClr val="D32F2F"/>
          </a:solidFill>
          <a:ln/>
        </p:spPr>
        <p:txBody>
          <a:bodyPr/>
          <a:lstStyle/>
          <a:p>
            <a:endParaRPr lang="en-US"/>
          </a:p>
        </p:txBody>
      </p:sp>
      <p:sp>
        <p:nvSpPr>
          <p:cNvPr id="45" name="Text 40"/>
          <p:cNvSpPr/>
          <p:nvPr/>
        </p:nvSpPr>
        <p:spPr>
          <a:xfrm>
            <a:off x="4143375" y="4521994"/>
            <a:ext cx="4429125"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D32F2F"/>
                </a:solidFill>
              </a:rPr>
              <a:t>Critical Finding</a:t>
            </a:r>
            <a:endParaRPr lang="en-US" sz="584" dirty="0"/>
          </a:p>
        </p:txBody>
      </p:sp>
      <p:sp>
        <p:nvSpPr>
          <p:cNvPr id="46" name="Text 41"/>
          <p:cNvSpPr/>
          <p:nvPr/>
        </p:nvSpPr>
        <p:spPr>
          <a:xfrm>
            <a:off x="4143375" y="4695230"/>
            <a:ext cx="4429125"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37474F"/>
                </a:solidFill>
              </a:rPr>
              <a:t>The </a:t>
            </a:r>
            <a:r>
              <a:rPr lang="en-US" sz="634" b="1" dirty="0">
                <a:solidFill>
                  <a:srgbClr val="D32F2F"/>
                </a:solidFill>
              </a:rPr>
              <a:t>Profile (PROF) module has a critically low pass rate of 20%</a:t>
            </a:r>
            <a:r>
              <a:rPr lang="en-US" sz="674" dirty="0">
                <a:solidFill>
                  <a:srgbClr val="37474F"/>
                </a:solidFill>
              </a:rPr>
              <a:t>, indicating major issues in user profile management and security-related features.</a:t>
            </a:r>
            <a:endParaRPr lang="en-US" sz="67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62595"/>
          </a:xfrm>
          <a:prstGeom prst="rect">
            <a:avLst/>
          </a:prstGeom>
          <a:solidFill>
            <a:srgbClr val="283593"/>
          </a:solidFill>
          <a:ln/>
        </p:spPr>
        <p:txBody>
          <a:bodyPr/>
          <a:lstStyle/>
          <a:p>
            <a:endParaRPr lang="en-US"/>
          </a:p>
        </p:txBody>
      </p:sp>
      <p:sp>
        <p:nvSpPr>
          <p:cNvPr id="5" name="Text 1"/>
          <p:cNvSpPr/>
          <p:nvPr/>
        </p:nvSpPr>
        <p:spPr>
          <a:xfrm>
            <a:off x="428625" y="214313"/>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Analysis of Findings: High-Impact Defects</a:t>
            </a:r>
            <a:endParaRPr lang="en-US" sz="1602" dirty="0"/>
          </a:p>
        </p:txBody>
      </p:sp>
      <p:sp>
        <p:nvSpPr>
          <p:cNvPr id="6" name="Shape 2"/>
          <p:cNvSpPr/>
          <p:nvPr/>
        </p:nvSpPr>
        <p:spPr>
          <a:xfrm>
            <a:off x="428625" y="987623"/>
            <a:ext cx="357188" cy="357188"/>
          </a:xfrm>
          <a:prstGeom prst="rect">
            <a:avLst/>
          </a:prstGeom>
          <a:solidFill>
            <a:srgbClr val="1A237E">
              <a:alpha val="15000"/>
            </a:srgbClr>
          </a:solidFill>
          <a:ln/>
        </p:spPr>
        <p:txBody>
          <a:bodyPr/>
          <a:lstStyle/>
          <a:p>
            <a:endParaRPr lang="en-US"/>
          </a:p>
        </p:txBody>
      </p:sp>
      <p:sp>
        <p:nvSpPr>
          <p:cNvPr id="7" name="Text 3"/>
          <p:cNvSpPr/>
          <p:nvPr/>
        </p:nvSpPr>
        <p:spPr>
          <a:xfrm>
            <a:off x="428625" y="987623"/>
            <a:ext cx="357188" cy="357188"/>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1A237E"/>
                </a:solidFill>
              </a:rPr>
              <a:t>5</a:t>
            </a:r>
            <a:endParaRPr lang="en-US" sz="1193" dirty="0"/>
          </a:p>
        </p:txBody>
      </p:sp>
      <p:sp>
        <p:nvSpPr>
          <p:cNvPr id="8" name="Text 4"/>
          <p:cNvSpPr/>
          <p:nvPr/>
        </p:nvSpPr>
        <p:spPr>
          <a:xfrm>
            <a:off x="892969" y="976908"/>
            <a:ext cx="844414"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90A4AE"/>
                </a:solidFill>
              </a:rPr>
              <a:t>Total Bugs</a:t>
            </a:r>
            <a:endParaRPr lang="en-US" sz="584" dirty="0"/>
          </a:p>
        </p:txBody>
      </p:sp>
      <p:sp>
        <p:nvSpPr>
          <p:cNvPr id="9" name="Text 5"/>
          <p:cNvSpPr/>
          <p:nvPr/>
        </p:nvSpPr>
        <p:spPr>
          <a:xfrm>
            <a:off x="892969" y="1121569"/>
            <a:ext cx="84441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7474F"/>
                </a:solidFill>
              </a:rPr>
              <a:t>Identified</a:t>
            </a:r>
            <a:endParaRPr lang="en-US" sz="1193" dirty="0"/>
          </a:p>
        </p:txBody>
      </p:sp>
      <p:sp>
        <p:nvSpPr>
          <p:cNvPr id="10" name="Shape 6"/>
          <p:cNvSpPr/>
          <p:nvPr/>
        </p:nvSpPr>
        <p:spPr>
          <a:xfrm>
            <a:off x="2023132" y="987623"/>
            <a:ext cx="357188" cy="357188"/>
          </a:xfrm>
          <a:prstGeom prst="rect">
            <a:avLst/>
          </a:prstGeom>
          <a:solidFill>
            <a:srgbClr val="D32F2F">
              <a:alpha val="15000"/>
            </a:srgbClr>
          </a:solidFill>
          <a:ln/>
        </p:spPr>
        <p:txBody>
          <a:bodyPr/>
          <a:lstStyle/>
          <a:p>
            <a:endParaRPr lang="en-US"/>
          </a:p>
        </p:txBody>
      </p:sp>
      <p:sp>
        <p:nvSpPr>
          <p:cNvPr id="11" name="Text 7"/>
          <p:cNvSpPr/>
          <p:nvPr/>
        </p:nvSpPr>
        <p:spPr>
          <a:xfrm>
            <a:off x="2023132" y="987623"/>
            <a:ext cx="357188" cy="357188"/>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D32F2F"/>
                </a:solidFill>
              </a:rPr>
              <a:t>4</a:t>
            </a:r>
            <a:endParaRPr lang="en-US" sz="1193" dirty="0"/>
          </a:p>
        </p:txBody>
      </p:sp>
      <p:sp>
        <p:nvSpPr>
          <p:cNvPr id="12" name="Text 8"/>
          <p:cNvSpPr/>
          <p:nvPr/>
        </p:nvSpPr>
        <p:spPr>
          <a:xfrm>
            <a:off x="2487476" y="976908"/>
            <a:ext cx="1301307"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90A4AE"/>
                </a:solidFill>
              </a:rPr>
              <a:t>Critical Severity</a:t>
            </a:r>
            <a:endParaRPr lang="en-US" sz="584" dirty="0"/>
          </a:p>
        </p:txBody>
      </p:sp>
      <p:sp>
        <p:nvSpPr>
          <p:cNvPr id="13" name="Text 9"/>
          <p:cNvSpPr/>
          <p:nvPr/>
        </p:nvSpPr>
        <p:spPr>
          <a:xfrm>
            <a:off x="2487476" y="1121569"/>
            <a:ext cx="1301307"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37474F"/>
                </a:solidFill>
              </a:rPr>
              <a:t>80% of All Bugs</a:t>
            </a:r>
            <a:endParaRPr lang="en-US" sz="1193" dirty="0"/>
          </a:p>
        </p:txBody>
      </p:sp>
      <p:sp>
        <p:nvSpPr>
          <p:cNvPr id="14" name="Text 10"/>
          <p:cNvSpPr/>
          <p:nvPr/>
        </p:nvSpPr>
        <p:spPr>
          <a:xfrm>
            <a:off x="428625" y="1534120"/>
            <a:ext cx="8286750"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237E"/>
                </a:solidFill>
              </a:rPr>
              <a:t>Critical Issues Requiring Immediate Attention</a:t>
            </a:r>
            <a:endParaRPr lang="en-US" sz="683" dirty="0"/>
          </a:p>
        </p:txBody>
      </p:sp>
      <p:sp>
        <p:nvSpPr>
          <p:cNvPr id="15" name="Shape 11"/>
          <p:cNvSpPr/>
          <p:nvPr/>
        </p:nvSpPr>
        <p:spPr>
          <a:xfrm>
            <a:off x="428625" y="1755577"/>
            <a:ext cx="8286750" cy="307181"/>
          </a:xfrm>
          <a:prstGeom prst="rect">
            <a:avLst/>
          </a:prstGeom>
          <a:solidFill>
            <a:srgbClr val="ECEFF1"/>
          </a:solidFill>
          <a:ln/>
        </p:spPr>
        <p:txBody>
          <a:bodyPr/>
          <a:lstStyle/>
          <a:p>
            <a:endParaRPr lang="en-US"/>
          </a:p>
        </p:txBody>
      </p:sp>
      <p:sp>
        <p:nvSpPr>
          <p:cNvPr id="16" name="Shape 12"/>
          <p:cNvSpPr/>
          <p:nvPr/>
        </p:nvSpPr>
        <p:spPr>
          <a:xfrm>
            <a:off x="428625" y="2048470"/>
            <a:ext cx="8286750" cy="14288"/>
          </a:xfrm>
          <a:prstGeom prst="rect">
            <a:avLst/>
          </a:prstGeom>
          <a:solidFill>
            <a:srgbClr val="1A237E"/>
          </a:solidFill>
          <a:ln/>
        </p:spPr>
        <p:txBody>
          <a:bodyPr/>
          <a:lstStyle/>
          <a:p>
            <a:endParaRPr lang="en-US"/>
          </a:p>
        </p:txBody>
      </p:sp>
      <p:sp>
        <p:nvSpPr>
          <p:cNvPr id="17" name="Text 13"/>
          <p:cNvSpPr/>
          <p:nvPr/>
        </p:nvSpPr>
        <p:spPr>
          <a:xfrm>
            <a:off x="428625" y="1755577"/>
            <a:ext cx="994404" cy="300038"/>
          </a:xfrm>
          <a:prstGeom prst="rect">
            <a:avLst/>
          </a:prstGeom>
          <a:noFill/>
          <a:ln/>
        </p:spPr>
        <p:txBody>
          <a:bodyPr wrap="square" lIns="127508" tIns="102108" rIns="127508" bIns="102108" rtlCol="0" anchor="ctr">
            <a:spAutoFit/>
          </a:bodyPr>
          <a:lstStyle/>
          <a:p>
            <a:pPr marL="0" indent="0" algn="l">
              <a:lnSpc>
                <a:spcPts val="1000"/>
              </a:lnSpc>
              <a:buNone/>
            </a:pPr>
            <a:r>
              <a:rPr lang="en-US" sz="584" b="1" dirty="0">
                <a:solidFill>
                  <a:srgbClr val="1A237E"/>
                </a:solidFill>
              </a:rPr>
              <a:t>Bug ID</a:t>
            </a:r>
            <a:endParaRPr lang="en-US" sz="584" dirty="0"/>
          </a:p>
        </p:txBody>
      </p:sp>
      <p:sp>
        <p:nvSpPr>
          <p:cNvPr id="18" name="Text 14"/>
          <p:cNvSpPr/>
          <p:nvPr/>
        </p:nvSpPr>
        <p:spPr>
          <a:xfrm>
            <a:off x="1423029" y="1755577"/>
            <a:ext cx="994404" cy="300038"/>
          </a:xfrm>
          <a:prstGeom prst="rect">
            <a:avLst/>
          </a:prstGeom>
          <a:noFill/>
          <a:ln/>
        </p:spPr>
        <p:txBody>
          <a:bodyPr wrap="square" lIns="127508" tIns="102108" rIns="127508" bIns="102108" rtlCol="0" anchor="ctr">
            <a:spAutoFit/>
          </a:bodyPr>
          <a:lstStyle/>
          <a:p>
            <a:pPr marL="0" indent="0" algn="l">
              <a:lnSpc>
                <a:spcPts val="1000"/>
              </a:lnSpc>
              <a:buNone/>
            </a:pPr>
            <a:r>
              <a:rPr lang="en-US" sz="584" b="1" dirty="0">
                <a:solidFill>
                  <a:srgbClr val="1A237E"/>
                </a:solidFill>
              </a:rPr>
              <a:t>Related TC</a:t>
            </a:r>
            <a:endParaRPr lang="en-US" sz="584" dirty="0"/>
          </a:p>
        </p:txBody>
      </p:sp>
      <p:sp>
        <p:nvSpPr>
          <p:cNvPr id="19" name="Text 15"/>
          <p:cNvSpPr/>
          <p:nvPr/>
        </p:nvSpPr>
        <p:spPr>
          <a:xfrm>
            <a:off x="2417434" y="1755577"/>
            <a:ext cx="1243013" cy="300038"/>
          </a:xfrm>
          <a:prstGeom prst="rect">
            <a:avLst/>
          </a:prstGeom>
          <a:noFill/>
          <a:ln/>
        </p:spPr>
        <p:txBody>
          <a:bodyPr wrap="square" lIns="127508" tIns="102108" rIns="127508" bIns="102108" rtlCol="0" anchor="ctr">
            <a:spAutoFit/>
          </a:bodyPr>
          <a:lstStyle/>
          <a:p>
            <a:pPr marL="0" indent="0" algn="l">
              <a:lnSpc>
                <a:spcPts val="1000"/>
              </a:lnSpc>
              <a:buNone/>
            </a:pPr>
            <a:r>
              <a:rPr lang="en-US" sz="584" b="1" dirty="0">
                <a:solidFill>
                  <a:srgbClr val="1A237E"/>
                </a:solidFill>
              </a:rPr>
              <a:t>Severity</a:t>
            </a:r>
            <a:endParaRPr lang="en-US" sz="584" dirty="0"/>
          </a:p>
        </p:txBody>
      </p:sp>
      <p:sp>
        <p:nvSpPr>
          <p:cNvPr id="20" name="Text 16"/>
          <p:cNvSpPr/>
          <p:nvPr/>
        </p:nvSpPr>
        <p:spPr>
          <a:xfrm>
            <a:off x="3660446" y="1755577"/>
            <a:ext cx="5054929" cy="300038"/>
          </a:xfrm>
          <a:prstGeom prst="rect">
            <a:avLst/>
          </a:prstGeom>
          <a:noFill/>
          <a:ln/>
        </p:spPr>
        <p:txBody>
          <a:bodyPr wrap="square" lIns="127508" tIns="102108" rIns="127508" bIns="102108" rtlCol="0" anchor="ctr">
            <a:spAutoFit/>
          </a:bodyPr>
          <a:lstStyle/>
          <a:p>
            <a:pPr marL="0" indent="0" algn="l">
              <a:lnSpc>
                <a:spcPts val="1000"/>
              </a:lnSpc>
              <a:buNone/>
            </a:pPr>
            <a:r>
              <a:rPr lang="en-US" sz="584" b="1" dirty="0">
                <a:solidFill>
                  <a:srgbClr val="1A237E"/>
                </a:solidFill>
              </a:rPr>
              <a:t>Issue Scenario</a:t>
            </a:r>
            <a:endParaRPr lang="en-US" sz="584" dirty="0"/>
          </a:p>
        </p:txBody>
      </p:sp>
      <p:sp>
        <p:nvSpPr>
          <p:cNvPr id="21" name="Shape 17"/>
          <p:cNvSpPr/>
          <p:nvPr/>
        </p:nvSpPr>
        <p:spPr>
          <a:xfrm>
            <a:off x="428625" y="2055614"/>
            <a:ext cx="8286750" cy="453628"/>
          </a:xfrm>
          <a:prstGeom prst="rect">
            <a:avLst/>
          </a:prstGeom>
          <a:solidFill>
            <a:srgbClr val="D32F2F">
              <a:alpha val="8000"/>
            </a:srgbClr>
          </a:solidFill>
          <a:ln/>
        </p:spPr>
        <p:txBody>
          <a:bodyPr/>
          <a:lstStyle/>
          <a:p>
            <a:endParaRPr lang="en-US"/>
          </a:p>
        </p:txBody>
      </p:sp>
      <p:sp>
        <p:nvSpPr>
          <p:cNvPr id="22" name="Shape 18"/>
          <p:cNvSpPr/>
          <p:nvPr/>
        </p:nvSpPr>
        <p:spPr>
          <a:xfrm>
            <a:off x="2044535" y="1537692"/>
            <a:ext cx="8286750" cy="7144"/>
          </a:xfrm>
          <a:prstGeom prst="rect">
            <a:avLst/>
          </a:prstGeom>
          <a:solidFill>
            <a:srgbClr val="E0E0E0"/>
          </a:solidFill>
          <a:ln/>
        </p:spPr>
        <p:txBody>
          <a:bodyPr/>
          <a:lstStyle/>
          <a:p>
            <a:endParaRPr lang="en-US"/>
          </a:p>
        </p:txBody>
      </p:sp>
      <p:sp>
        <p:nvSpPr>
          <p:cNvPr id="23" name="Text 19"/>
          <p:cNvSpPr/>
          <p:nvPr/>
        </p:nvSpPr>
        <p:spPr>
          <a:xfrm>
            <a:off x="428625" y="2055614"/>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1A237E"/>
                </a:solidFill>
              </a:rPr>
              <a:t>BG_003</a:t>
            </a:r>
            <a:endParaRPr lang="en-US" sz="634" dirty="0"/>
          </a:p>
        </p:txBody>
      </p:sp>
      <p:sp>
        <p:nvSpPr>
          <p:cNvPr id="24" name="Text 20"/>
          <p:cNvSpPr/>
          <p:nvPr/>
        </p:nvSpPr>
        <p:spPr>
          <a:xfrm>
            <a:off x="1423029" y="2055614"/>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TC_PROF_24</a:t>
            </a:r>
            <a:endParaRPr lang="en-US" sz="674" dirty="0"/>
          </a:p>
        </p:txBody>
      </p:sp>
      <p:sp>
        <p:nvSpPr>
          <p:cNvPr id="25" name="Text 21"/>
          <p:cNvSpPr/>
          <p:nvPr/>
        </p:nvSpPr>
        <p:spPr>
          <a:xfrm>
            <a:off x="2417434" y="2055614"/>
            <a:ext cx="1243013"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D32F2F"/>
                </a:solidFill>
              </a:rPr>
              <a:t>Critical</a:t>
            </a:r>
            <a:endParaRPr lang="en-US" sz="634" dirty="0"/>
          </a:p>
        </p:txBody>
      </p:sp>
      <p:sp>
        <p:nvSpPr>
          <p:cNvPr id="26" name="Text 22"/>
          <p:cNvSpPr/>
          <p:nvPr/>
        </p:nvSpPr>
        <p:spPr>
          <a:xfrm>
            <a:off x="3660446" y="2055614"/>
            <a:ext cx="5054929"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Email Update fails to enforce OTP verification. System displays error instead of sending OTP to old email address.</a:t>
            </a:r>
            <a:endParaRPr lang="en-US" sz="674" dirty="0"/>
          </a:p>
        </p:txBody>
      </p:sp>
      <p:sp>
        <p:nvSpPr>
          <p:cNvPr id="27" name="Shape 23"/>
          <p:cNvSpPr/>
          <p:nvPr/>
        </p:nvSpPr>
        <p:spPr>
          <a:xfrm>
            <a:off x="428625" y="2505670"/>
            <a:ext cx="8286750" cy="453628"/>
          </a:xfrm>
          <a:prstGeom prst="rect">
            <a:avLst/>
          </a:prstGeom>
          <a:solidFill>
            <a:srgbClr val="D32F2F">
              <a:alpha val="8000"/>
            </a:srgbClr>
          </a:solidFill>
          <a:ln/>
        </p:spPr>
        <p:txBody>
          <a:bodyPr/>
          <a:lstStyle/>
          <a:p>
            <a:endParaRPr lang="en-US"/>
          </a:p>
        </p:txBody>
      </p:sp>
      <p:sp>
        <p:nvSpPr>
          <p:cNvPr id="28" name="Shape 24"/>
          <p:cNvSpPr/>
          <p:nvPr/>
        </p:nvSpPr>
        <p:spPr>
          <a:xfrm>
            <a:off x="428625" y="2952155"/>
            <a:ext cx="8286750" cy="7144"/>
          </a:xfrm>
          <a:prstGeom prst="rect">
            <a:avLst/>
          </a:prstGeom>
          <a:solidFill>
            <a:srgbClr val="E0E0E0"/>
          </a:solidFill>
          <a:ln/>
        </p:spPr>
        <p:txBody>
          <a:bodyPr/>
          <a:lstStyle/>
          <a:p>
            <a:endParaRPr lang="en-US"/>
          </a:p>
        </p:txBody>
      </p:sp>
      <p:sp>
        <p:nvSpPr>
          <p:cNvPr id="29" name="Text 25"/>
          <p:cNvSpPr/>
          <p:nvPr/>
        </p:nvSpPr>
        <p:spPr>
          <a:xfrm>
            <a:off x="428625" y="2505670"/>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1A237E"/>
                </a:solidFill>
              </a:rPr>
              <a:t>BG_004</a:t>
            </a:r>
            <a:endParaRPr lang="en-US" sz="634" dirty="0"/>
          </a:p>
        </p:txBody>
      </p:sp>
      <p:sp>
        <p:nvSpPr>
          <p:cNvPr id="30" name="Text 26"/>
          <p:cNvSpPr/>
          <p:nvPr/>
        </p:nvSpPr>
        <p:spPr>
          <a:xfrm>
            <a:off x="1423029" y="2505670"/>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TC_PROF_25</a:t>
            </a:r>
            <a:endParaRPr lang="en-US" sz="674" dirty="0"/>
          </a:p>
        </p:txBody>
      </p:sp>
      <p:sp>
        <p:nvSpPr>
          <p:cNvPr id="31" name="Text 27"/>
          <p:cNvSpPr/>
          <p:nvPr/>
        </p:nvSpPr>
        <p:spPr>
          <a:xfrm>
            <a:off x="2417434" y="2505670"/>
            <a:ext cx="1243013"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D32F2F"/>
                </a:solidFill>
              </a:rPr>
              <a:t>Critical</a:t>
            </a:r>
            <a:endParaRPr lang="en-US" sz="634" dirty="0"/>
          </a:p>
        </p:txBody>
      </p:sp>
      <p:sp>
        <p:nvSpPr>
          <p:cNvPr id="32" name="Text 28"/>
          <p:cNvSpPr/>
          <p:nvPr/>
        </p:nvSpPr>
        <p:spPr>
          <a:xfrm>
            <a:off x="3660446" y="2505670"/>
            <a:ext cx="5054929"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Password Change fails to enforce OTP verification. System displays error instead of verifying user ownership via OTP.</a:t>
            </a:r>
            <a:endParaRPr lang="en-US" sz="674" dirty="0"/>
          </a:p>
        </p:txBody>
      </p:sp>
      <p:sp>
        <p:nvSpPr>
          <p:cNvPr id="33" name="Shape 29"/>
          <p:cNvSpPr/>
          <p:nvPr/>
        </p:nvSpPr>
        <p:spPr>
          <a:xfrm>
            <a:off x="428625" y="2955727"/>
            <a:ext cx="8286750" cy="453628"/>
          </a:xfrm>
          <a:prstGeom prst="rect">
            <a:avLst/>
          </a:prstGeom>
          <a:solidFill>
            <a:srgbClr val="D32F2F">
              <a:alpha val="8000"/>
            </a:srgbClr>
          </a:solidFill>
          <a:ln/>
        </p:spPr>
        <p:txBody>
          <a:bodyPr/>
          <a:lstStyle/>
          <a:p>
            <a:endParaRPr lang="en-US"/>
          </a:p>
        </p:txBody>
      </p:sp>
      <p:sp>
        <p:nvSpPr>
          <p:cNvPr id="34" name="Shape 30"/>
          <p:cNvSpPr/>
          <p:nvPr/>
        </p:nvSpPr>
        <p:spPr>
          <a:xfrm>
            <a:off x="428625" y="3402211"/>
            <a:ext cx="8286750" cy="7144"/>
          </a:xfrm>
          <a:prstGeom prst="rect">
            <a:avLst/>
          </a:prstGeom>
          <a:solidFill>
            <a:srgbClr val="E0E0E0"/>
          </a:solidFill>
          <a:ln/>
        </p:spPr>
        <p:txBody>
          <a:bodyPr/>
          <a:lstStyle/>
          <a:p>
            <a:endParaRPr lang="en-US"/>
          </a:p>
        </p:txBody>
      </p:sp>
      <p:sp>
        <p:nvSpPr>
          <p:cNvPr id="35" name="Text 31"/>
          <p:cNvSpPr/>
          <p:nvPr/>
        </p:nvSpPr>
        <p:spPr>
          <a:xfrm>
            <a:off x="428625" y="2955727"/>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1A237E"/>
                </a:solidFill>
              </a:rPr>
              <a:t>BG_005</a:t>
            </a:r>
            <a:endParaRPr lang="en-US" sz="634" dirty="0"/>
          </a:p>
        </p:txBody>
      </p:sp>
      <p:sp>
        <p:nvSpPr>
          <p:cNvPr id="36" name="Text 32"/>
          <p:cNvSpPr/>
          <p:nvPr/>
        </p:nvSpPr>
        <p:spPr>
          <a:xfrm>
            <a:off x="1423029" y="2955727"/>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TC_PROF_26</a:t>
            </a:r>
            <a:endParaRPr lang="en-US" sz="674" dirty="0"/>
          </a:p>
        </p:txBody>
      </p:sp>
      <p:sp>
        <p:nvSpPr>
          <p:cNvPr id="37" name="Text 33"/>
          <p:cNvSpPr/>
          <p:nvPr/>
        </p:nvSpPr>
        <p:spPr>
          <a:xfrm>
            <a:off x="2417434" y="2955727"/>
            <a:ext cx="1243013"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D32F2F"/>
                </a:solidFill>
              </a:rPr>
              <a:t>Critical</a:t>
            </a:r>
            <a:endParaRPr lang="en-US" sz="634" dirty="0"/>
          </a:p>
        </p:txBody>
      </p:sp>
      <p:sp>
        <p:nvSpPr>
          <p:cNvPr id="38" name="Text 34"/>
          <p:cNvSpPr/>
          <p:nvPr/>
        </p:nvSpPr>
        <p:spPr>
          <a:xfrm>
            <a:off x="3660446" y="2955727"/>
            <a:ext cx="5054929"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Phone Number Update fails to enforce OTP verification. System displays error instead of sending OTP to old phone number.</a:t>
            </a:r>
            <a:endParaRPr lang="en-US" sz="674" dirty="0"/>
          </a:p>
        </p:txBody>
      </p:sp>
      <p:sp>
        <p:nvSpPr>
          <p:cNvPr id="39" name="Shape 35"/>
          <p:cNvSpPr/>
          <p:nvPr/>
        </p:nvSpPr>
        <p:spPr>
          <a:xfrm>
            <a:off x="428625" y="3405783"/>
            <a:ext cx="8286750" cy="453628"/>
          </a:xfrm>
          <a:prstGeom prst="rect">
            <a:avLst/>
          </a:prstGeom>
          <a:solidFill>
            <a:srgbClr val="F57C00">
              <a:alpha val="8000"/>
            </a:srgbClr>
          </a:solidFill>
          <a:ln/>
        </p:spPr>
        <p:txBody>
          <a:bodyPr/>
          <a:lstStyle/>
          <a:p>
            <a:endParaRPr lang="en-US"/>
          </a:p>
        </p:txBody>
      </p:sp>
      <p:sp>
        <p:nvSpPr>
          <p:cNvPr id="40" name="Shape 36"/>
          <p:cNvSpPr/>
          <p:nvPr/>
        </p:nvSpPr>
        <p:spPr>
          <a:xfrm>
            <a:off x="428625" y="3852267"/>
            <a:ext cx="8286750" cy="7144"/>
          </a:xfrm>
          <a:prstGeom prst="rect">
            <a:avLst/>
          </a:prstGeom>
          <a:solidFill>
            <a:srgbClr val="E0E0E0"/>
          </a:solidFill>
          <a:ln/>
        </p:spPr>
        <p:txBody>
          <a:bodyPr/>
          <a:lstStyle/>
          <a:p>
            <a:endParaRPr lang="en-US"/>
          </a:p>
        </p:txBody>
      </p:sp>
      <p:sp>
        <p:nvSpPr>
          <p:cNvPr id="41" name="Text 37"/>
          <p:cNvSpPr/>
          <p:nvPr/>
        </p:nvSpPr>
        <p:spPr>
          <a:xfrm>
            <a:off x="428625" y="3405783"/>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1A237E"/>
                </a:solidFill>
              </a:rPr>
              <a:t>BG_001</a:t>
            </a:r>
            <a:endParaRPr lang="en-US" sz="634" dirty="0"/>
          </a:p>
        </p:txBody>
      </p:sp>
      <p:sp>
        <p:nvSpPr>
          <p:cNvPr id="42" name="Text 38"/>
          <p:cNvSpPr/>
          <p:nvPr/>
        </p:nvSpPr>
        <p:spPr>
          <a:xfrm>
            <a:off x="1423029" y="3405783"/>
            <a:ext cx="994404"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TC_LOAN_10</a:t>
            </a:r>
            <a:endParaRPr lang="en-US" sz="674" dirty="0"/>
          </a:p>
        </p:txBody>
      </p:sp>
      <p:sp>
        <p:nvSpPr>
          <p:cNvPr id="43" name="Text 39"/>
          <p:cNvSpPr/>
          <p:nvPr/>
        </p:nvSpPr>
        <p:spPr>
          <a:xfrm>
            <a:off x="2417434" y="3405783"/>
            <a:ext cx="1243013" cy="450056"/>
          </a:xfrm>
          <a:prstGeom prst="rect">
            <a:avLst/>
          </a:prstGeom>
          <a:noFill/>
          <a:ln/>
        </p:spPr>
        <p:txBody>
          <a:bodyPr wrap="square" lIns="127508" tIns="102108" rIns="127508" bIns="102108" rtlCol="0" anchor="ctr">
            <a:spAutoFit/>
          </a:bodyPr>
          <a:lstStyle/>
          <a:p>
            <a:pPr marL="0" indent="0" algn="l">
              <a:lnSpc>
                <a:spcPts val="1100"/>
              </a:lnSpc>
              <a:buNone/>
            </a:pPr>
            <a:r>
              <a:rPr lang="en-US" sz="634" b="1" dirty="0">
                <a:solidFill>
                  <a:srgbClr val="D32F2F"/>
                </a:solidFill>
              </a:rPr>
              <a:t>Critical</a:t>
            </a:r>
            <a:endParaRPr lang="en-US" sz="634" dirty="0"/>
          </a:p>
        </p:txBody>
      </p:sp>
      <p:sp>
        <p:nvSpPr>
          <p:cNvPr id="44" name="Text 40"/>
          <p:cNvSpPr/>
          <p:nvPr/>
        </p:nvSpPr>
        <p:spPr>
          <a:xfrm>
            <a:off x="3660446" y="3405783"/>
            <a:ext cx="5054929" cy="450056"/>
          </a:xfrm>
          <a:prstGeom prst="rect">
            <a:avLst/>
          </a:prstGeom>
          <a:noFill/>
          <a:ln/>
        </p:spPr>
        <p:txBody>
          <a:bodyPr wrap="square" lIns="127508" tIns="102108" rIns="127508" bIns="102108" rtlCol="0" anchor="ctr">
            <a:spAutoFit/>
          </a:bodyPr>
          <a:lstStyle/>
          <a:p>
            <a:pPr marL="0" indent="0" algn="l">
              <a:lnSpc>
                <a:spcPts val="1100"/>
              </a:lnSpc>
              <a:buNone/>
            </a:pPr>
            <a:r>
              <a:rPr lang="en-US" sz="674" dirty="0">
                <a:solidFill>
                  <a:srgbClr val="37474F"/>
                </a:solidFill>
              </a:rPr>
              <a:t>Loan application incorrectly approved when Down Payment exceeds Loan Amount. Data validation logic failure.</a:t>
            </a:r>
            <a:endParaRPr lang="en-US" sz="674" dirty="0"/>
          </a:p>
        </p:txBody>
      </p:sp>
      <p:sp>
        <p:nvSpPr>
          <p:cNvPr id="47" name="Shape 35">
            <a:extLst>
              <a:ext uri="{FF2B5EF4-FFF2-40B4-BE49-F238E27FC236}">
                <a16:creationId xmlns:a16="http://schemas.microsoft.com/office/drawing/2014/main" id="{D20A4552-2B15-EDDE-6A25-0353DA1DE53D}"/>
              </a:ext>
            </a:extLst>
          </p:cNvPr>
          <p:cNvSpPr/>
          <p:nvPr/>
        </p:nvSpPr>
        <p:spPr>
          <a:xfrm>
            <a:off x="428625" y="3859411"/>
            <a:ext cx="8286750" cy="453628"/>
          </a:xfrm>
          <a:prstGeom prst="rect">
            <a:avLst/>
          </a:prstGeom>
          <a:solidFill>
            <a:srgbClr val="F57C00">
              <a:alpha val="8000"/>
            </a:srgbClr>
          </a:solidFill>
          <a:ln/>
        </p:spPr>
        <p:txBody>
          <a:bodyPr/>
          <a:lstStyle/>
          <a:p>
            <a:endParaRPr lang="en-US" sz="630" b="1" dirty="0"/>
          </a:p>
          <a:p>
            <a:r>
              <a:rPr lang="en-US" sz="630" b="1" dirty="0">
                <a:solidFill>
                  <a:srgbClr val="1A237E"/>
                </a:solidFill>
              </a:rPr>
              <a:t>  BG_002                                          </a:t>
            </a:r>
            <a:r>
              <a:rPr lang="en-US" sz="670" dirty="0">
                <a:solidFill>
                  <a:srgbClr val="37474F"/>
                </a:solidFill>
              </a:rPr>
              <a:t>TC_PROF_23                              </a:t>
            </a:r>
            <a:r>
              <a:rPr lang="en-US" sz="670" dirty="0">
                <a:solidFill>
                  <a:srgbClr val="D32F2F"/>
                </a:solidFill>
              </a:rPr>
              <a:t>Major                                                       </a:t>
            </a:r>
            <a:r>
              <a:rPr lang="en-US" sz="670" dirty="0"/>
              <a:t>System displays an error message instead of success confirmation, and data is not saved.</a:t>
            </a:r>
            <a:r>
              <a:rPr lang="en-US" sz="670" dirty="0">
                <a:solidFill>
                  <a:srgbClr val="D32F2F"/>
                </a:solidFill>
              </a:rPr>
              <a:t>                 </a:t>
            </a:r>
          </a:p>
        </p:txBody>
      </p:sp>
      <p:sp>
        <p:nvSpPr>
          <p:cNvPr id="48" name="Shape 18">
            <a:extLst>
              <a:ext uri="{FF2B5EF4-FFF2-40B4-BE49-F238E27FC236}">
                <a16:creationId xmlns:a16="http://schemas.microsoft.com/office/drawing/2014/main" id="{569F91CA-479F-47E6-3E05-F74A51B7DBA4}"/>
              </a:ext>
            </a:extLst>
          </p:cNvPr>
          <p:cNvSpPr/>
          <p:nvPr/>
        </p:nvSpPr>
        <p:spPr>
          <a:xfrm>
            <a:off x="428625" y="4316635"/>
            <a:ext cx="8286750" cy="7144"/>
          </a:xfrm>
          <a:prstGeom prst="rect">
            <a:avLst/>
          </a:prstGeom>
          <a:solidFill>
            <a:srgbClr val="E0E0E0"/>
          </a:solidFill>
          <a:ln/>
        </p:spPr>
        <p:txBody>
          <a:bodyPr/>
          <a:lstStyle/>
          <a:p>
            <a:endParaRPr lang="en-US"/>
          </a:p>
        </p:txBody>
      </p:sp>
      <p:cxnSp>
        <p:nvCxnSpPr>
          <p:cNvPr id="53" name="Straight Connector 52">
            <a:extLst>
              <a:ext uri="{FF2B5EF4-FFF2-40B4-BE49-F238E27FC236}">
                <a16:creationId xmlns:a16="http://schemas.microsoft.com/office/drawing/2014/main" id="{6ABA5D93-57F1-BA8F-1C71-AACD00DF90D9}"/>
              </a:ext>
            </a:extLst>
          </p:cNvPr>
          <p:cNvCxnSpPr/>
          <p:nvPr/>
        </p:nvCxnSpPr>
        <p:spPr>
          <a:xfrm>
            <a:off x="2417435" y="3855839"/>
            <a:ext cx="1" cy="471512"/>
          </a:xfrm>
          <a:prstGeom prst="line">
            <a:avLst/>
          </a:prstGeom>
          <a:ln>
            <a:solidFill>
              <a:srgbClr val="E4DBD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1DC60D1-4879-F9BE-6F80-45779C40B15B}"/>
              </a:ext>
            </a:extLst>
          </p:cNvPr>
          <p:cNvCxnSpPr/>
          <p:nvPr/>
        </p:nvCxnSpPr>
        <p:spPr>
          <a:xfrm>
            <a:off x="1423029" y="3855839"/>
            <a:ext cx="1" cy="471512"/>
          </a:xfrm>
          <a:prstGeom prst="line">
            <a:avLst/>
          </a:prstGeom>
          <a:ln>
            <a:solidFill>
              <a:srgbClr val="E4DBD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0232B-2252-33F0-4F54-2B69928F16B9}"/>
              </a:ext>
            </a:extLst>
          </p:cNvPr>
          <p:cNvCxnSpPr/>
          <p:nvPr/>
        </p:nvCxnSpPr>
        <p:spPr>
          <a:xfrm>
            <a:off x="3660444" y="3841527"/>
            <a:ext cx="1" cy="471512"/>
          </a:xfrm>
          <a:prstGeom prst="line">
            <a:avLst/>
          </a:prstGeom>
          <a:ln>
            <a:solidFill>
              <a:srgbClr val="E4DBD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62595"/>
          </a:xfrm>
          <a:prstGeom prst="rect">
            <a:avLst/>
          </a:prstGeom>
          <a:solidFill>
            <a:srgbClr val="283593"/>
          </a:solidFill>
          <a:ln/>
        </p:spPr>
        <p:txBody>
          <a:bodyPr/>
          <a:lstStyle/>
          <a:p>
            <a:endParaRPr lang="en-US"/>
          </a:p>
        </p:txBody>
      </p:sp>
      <p:sp>
        <p:nvSpPr>
          <p:cNvPr id="5" name="Text 1"/>
          <p:cNvSpPr/>
          <p:nvPr/>
        </p:nvSpPr>
        <p:spPr>
          <a:xfrm>
            <a:off x="428625" y="214313"/>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Recommendations and Proposed Next Steps</a:t>
            </a:r>
            <a:endParaRPr lang="en-US" sz="1602" dirty="0"/>
          </a:p>
        </p:txBody>
      </p:sp>
      <p:sp>
        <p:nvSpPr>
          <p:cNvPr id="6" name="Shape 2"/>
          <p:cNvSpPr/>
          <p:nvPr/>
        </p:nvSpPr>
        <p:spPr>
          <a:xfrm>
            <a:off x="428625" y="1016422"/>
            <a:ext cx="8286750" cy="775097"/>
          </a:xfrm>
          <a:prstGeom prst="rect">
            <a:avLst/>
          </a:prstGeom>
          <a:solidFill>
            <a:srgbClr val="D32F2F">
              <a:alpha val="3000"/>
            </a:srgbClr>
          </a:solidFill>
          <a:ln/>
        </p:spPr>
        <p:txBody>
          <a:bodyPr/>
          <a:lstStyle/>
          <a:p>
            <a:endParaRPr lang="en-US"/>
          </a:p>
        </p:txBody>
      </p:sp>
      <p:sp>
        <p:nvSpPr>
          <p:cNvPr id="7" name="Shape 3"/>
          <p:cNvSpPr/>
          <p:nvPr/>
        </p:nvSpPr>
        <p:spPr>
          <a:xfrm>
            <a:off x="428625" y="1016422"/>
            <a:ext cx="35719" cy="775097"/>
          </a:xfrm>
          <a:prstGeom prst="rect">
            <a:avLst/>
          </a:prstGeom>
          <a:solidFill>
            <a:srgbClr val="D32F2F"/>
          </a:solidFill>
          <a:ln/>
        </p:spPr>
        <p:txBody>
          <a:bodyPr/>
          <a:lstStyle/>
          <a:p>
            <a:endParaRPr lang="en-US"/>
          </a:p>
        </p:txBody>
      </p:sp>
      <p:sp>
        <p:nvSpPr>
          <p:cNvPr id="8" name="Shape 4"/>
          <p:cNvSpPr/>
          <p:nvPr/>
        </p:nvSpPr>
        <p:spPr>
          <a:xfrm>
            <a:off x="571500" y="1145009"/>
            <a:ext cx="321469" cy="321469"/>
          </a:xfrm>
          <a:prstGeom prst="rect">
            <a:avLst/>
          </a:prstGeom>
          <a:solidFill>
            <a:srgbClr val="D32F2F"/>
          </a:solidFill>
          <a:ln/>
        </p:spPr>
        <p:txBody>
          <a:bodyPr/>
          <a:lstStyle/>
          <a:p>
            <a:endParaRPr lang="en-US"/>
          </a:p>
        </p:txBody>
      </p:sp>
      <p:sp>
        <p:nvSpPr>
          <p:cNvPr id="9" name="Text 5"/>
          <p:cNvSpPr/>
          <p:nvPr/>
        </p:nvSpPr>
        <p:spPr>
          <a:xfrm>
            <a:off x="571500" y="1145009"/>
            <a:ext cx="321469" cy="321469"/>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rPr>
              <a:t>1</a:t>
            </a:r>
            <a:endParaRPr lang="en-US" sz="987" dirty="0"/>
          </a:p>
        </p:txBody>
      </p:sp>
      <p:sp>
        <p:nvSpPr>
          <p:cNvPr id="10" name="Text 6"/>
          <p:cNvSpPr/>
          <p:nvPr/>
        </p:nvSpPr>
        <p:spPr>
          <a:xfrm>
            <a:off x="1035844" y="1145009"/>
            <a:ext cx="681251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237E"/>
                </a:solidFill>
              </a:rPr>
              <a:t>Immediate Fix &amp; Retest</a:t>
            </a:r>
            <a:endParaRPr lang="en-US" sz="784" dirty="0"/>
          </a:p>
        </p:txBody>
      </p:sp>
      <p:sp>
        <p:nvSpPr>
          <p:cNvPr id="11" name="Text 7"/>
          <p:cNvSpPr/>
          <p:nvPr/>
        </p:nvSpPr>
        <p:spPr>
          <a:xfrm>
            <a:off x="1035844" y="1343248"/>
            <a:ext cx="6812514"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37474F"/>
                </a:solidFill>
              </a:rPr>
              <a:t>Prioritize the 4 Critical bugs (BG_001, BG_003, BG_004, BG_005) for immediate hotfix and re-testing.</a:t>
            </a:r>
            <a:endParaRPr lang="en-US" sz="727" dirty="0"/>
          </a:p>
        </p:txBody>
      </p:sp>
      <p:sp>
        <p:nvSpPr>
          <p:cNvPr id="12" name="Text 8"/>
          <p:cNvSpPr/>
          <p:nvPr/>
        </p:nvSpPr>
        <p:spPr>
          <a:xfrm>
            <a:off x="1035844" y="1536129"/>
            <a:ext cx="6812514"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90A4AE"/>
                </a:solidFill>
              </a:rPr>
              <a:t>Target: Complete fixes and retest within 24-48 hours</a:t>
            </a:r>
            <a:endParaRPr lang="en-US" sz="674" dirty="0"/>
          </a:p>
        </p:txBody>
      </p:sp>
      <p:sp>
        <p:nvSpPr>
          <p:cNvPr id="13" name="Shape 9"/>
          <p:cNvSpPr/>
          <p:nvPr/>
        </p:nvSpPr>
        <p:spPr>
          <a:xfrm>
            <a:off x="7991233" y="1145009"/>
            <a:ext cx="581267" cy="517922"/>
          </a:xfrm>
          <a:prstGeom prst="rect">
            <a:avLst/>
          </a:prstGeom>
          <a:solidFill>
            <a:srgbClr val="D32F2F">
              <a:alpha val="15000"/>
            </a:srgbClr>
          </a:solidFill>
          <a:ln/>
        </p:spPr>
        <p:txBody>
          <a:bodyPr/>
          <a:lstStyle/>
          <a:p>
            <a:endParaRPr lang="en-US"/>
          </a:p>
        </p:txBody>
      </p:sp>
      <p:sp>
        <p:nvSpPr>
          <p:cNvPr id="14" name="Text 10"/>
          <p:cNvSpPr/>
          <p:nvPr/>
        </p:nvSpPr>
        <p:spPr>
          <a:xfrm>
            <a:off x="7991233" y="1145009"/>
            <a:ext cx="581267" cy="517922"/>
          </a:xfrm>
          <a:prstGeom prst="rect">
            <a:avLst/>
          </a:prstGeom>
          <a:noFill/>
          <a:ln/>
        </p:spPr>
        <p:txBody>
          <a:bodyPr wrap="square" lIns="102108" tIns="51054" rIns="102108" bIns="51054" rtlCol="0" anchor="t">
            <a:spAutoFit/>
          </a:bodyPr>
          <a:lstStyle/>
          <a:p>
            <a:pPr marL="0" indent="0" algn="l">
              <a:lnSpc>
                <a:spcPts val="800"/>
              </a:lnSpc>
              <a:buNone/>
            </a:pPr>
            <a:r>
              <a:rPr lang="en-US" sz="584" b="1" dirty="0">
                <a:solidFill>
                  <a:srgbClr val="D32F2F"/>
                </a:solidFill>
              </a:rPr>
              <a:t>Critical</a:t>
            </a:r>
            <a:endParaRPr lang="en-US" sz="584" dirty="0"/>
          </a:p>
        </p:txBody>
      </p:sp>
      <p:sp>
        <p:nvSpPr>
          <p:cNvPr id="15" name="Shape 11"/>
          <p:cNvSpPr/>
          <p:nvPr/>
        </p:nvSpPr>
        <p:spPr>
          <a:xfrm>
            <a:off x="428625" y="1999134"/>
            <a:ext cx="8286750" cy="925116"/>
          </a:xfrm>
          <a:prstGeom prst="rect">
            <a:avLst/>
          </a:prstGeom>
          <a:solidFill>
            <a:srgbClr val="D32F2F">
              <a:alpha val="3000"/>
            </a:srgbClr>
          </a:solidFill>
          <a:ln/>
        </p:spPr>
        <p:txBody>
          <a:bodyPr/>
          <a:lstStyle/>
          <a:p>
            <a:endParaRPr lang="en-US"/>
          </a:p>
        </p:txBody>
      </p:sp>
      <p:sp>
        <p:nvSpPr>
          <p:cNvPr id="16" name="Shape 12"/>
          <p:cNvSpPr/>
          <p:nvPr/>
        </p:nvSpPr>
        <p:spPr>
          <a:xfrm>
            <a:off x="428625" y="1999134"/>
            <a:ext cx="35719" cy="925116"/>
          </a:xfrm>
          <a:prstGeom prst="rect">
            <a:avLst/>
          </a:prstGeom>
          <a:solidFill>
            <a:srgbClr val="D32F2F"/>
          </a:solidFill>
          <a:ln/>
        </p:spPr>
        <p:txBody>
          <a:bodyPr/>
          <a:lstStyle/>
          <a:p>
            <a:endParaRPr lang="en-US"/>
          </a:p>
        </p:txBody>
      </p:sp>
      <p:sp>
        <p:nvSpPr>
          <p:cNvPr id="17" name="Shape 13"/>
          <p:cNvSpPr/>
          <p:nvPr/>
        </p:nvSpPr>
        <p:spPr>
          <a:xfrm>
            <a:off x="571500" y="2127721"/>
            <a:ext cx="321469" cy="321469"/>
          </a:xfrm>
          <a:prstGeom prst="rect">
            <a:avLst/>
          </a:prstGeom>
          <a:solidFill>
            <a:srgbClr val="D32F2F"/>
          </a:solidFill>
          <a:ln/>
        </p:spPr>
        <p:txBody>
          <a:bodyPr/>
          <a:lstStyle/>
          <a:p>
            <a:endParaRPr lang="en-US"/>
          </a:p>
        </p:txBody>
      </p:sp>
      <p:sp>
        <p:nvSpPr>
          <p:cNvPr id="18" name="Text 14"/>
          <p:cNvSpPr/>
          <p:nvPr/>
        </p:nvSpPr>
        <p:spPr>
          <a:xfrm>
            <a:off x="571500" y="2127721"/>
            <a:ext cx="321469" cy="321469"/>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rPr>
              <a:t>2</a:t>
            </a:r>
            <a:endParaRPr lang="en-US" sz="987" dirty="0"/>
          </a:p>
        </p:txBody>
      </p:sp>
      <p:sp>
        <p:nvSpPr>
          <p:cNvPr id="19" name="Text 15"/>
          <p:cNvSpPr/>
          <p:nvPr/>
        </p:nvSpPr>
        <p:spPr>
          <a:xfrm>
            <a:off x="1035844" y="2127721"/>
            <a:ext cx="681251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237E"/>
                </a:solidFill>
              </a:rPr>
              <a:t>Security Review of Profile Module</a:t>
            </a:r>
            <a:endParaRPr lang="en-US" sz="784" dirty="0"/>
          </a:p>
        </p:txBody>
      </p:sp>
      <p:sp>
        <p:nvSpPr>
          <p:cNvPr id="20" name="Text 16"/>
          <p:cNvSpPr/>
          <p:nvPr/>
        </p:nvSpPr>
        <p:spPr>
          <a:xfrm>
            <a:off x="1035844" y="2325960"/>
            <a:ext cx="6812514"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37474F"/>
                </a:solidFill>
              </a:rPr>
              <a:t>Conduct an urgent code review of the Profile (PROF) module's update logic to ensure all security controls, especially OTP and input validation, are correctly implemented.</a:t>
            </a:r>
            <a:endParaRPr lang="en-US" sz="727" dirty="0"/>
          </a:p>
        </p:txBody>
      </p:sp>
      <p:sp>
        <p:nvSpPr>
          <p:cNvPr id="21" name="Text 17"/>
          <p:cNvSpPr/>
          <p:nvPr/>
        </p:nvSpPr>
        <p:spPr>
          <a:xfrm>
            <a:off x="1035844" y="2668860"/>
            <a:ext cx="6812514"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90A4AE"/>
                </a:solidFill>
              </a:rPr>
              <a:t>Focus: Email, Password, and Phone Number update endpoints</a:t>
            </a:r>
            <a:endParaRPr lang="en-US" sz="674" dirty="0"/>
          </a:p>
        </p:txBody>
      </p:sp>
      <p:sp>
        <p:nvSpPr>
          <p:cNvPr id="22" name="Shape 18"/>
          <p:cNvSpPr/>
          <p:nvPr/>
        </p:nvSpPr>
        <p:spPr>
          <a:xfrm>
            <a:off x="7991233" y="2127721"/>
            <a:ext cx="581267" cy="667941"/>
          </a:xfrm>
          <a:prstGeom prst="rect">
            <a:avLst/>
          </a:prstGeom>
          <a:solidFill>
            <a:srgbClr val="D32F2F">
              <a:alpha val="15000"/>
            </a:srgbClr>
          </a:solidFill>
          <a:ln/>
        </p:spPr>
        <p:txBody>
          <a:bodyPr/>
          <a:lstStyle/>
          <a:p>
            <a:endParaRPr lang="en-US"/>
          </a:p>
        </p:txBody>
      </p:sp>
      <p:sp>
        <p:nvSpPr>
          <p:cNvPr id="23" name="Text 19"/>
          <p:cNvSpPr/>
          <p:nvPr/>
        </p:nvSpPr>
        <p:spPr>
          <a:xfrm>
            <a:off x="7991233" y="2127721"/>
            <a:ext cx="581267" cy="667941"/>
          </a:xfrm>
          <a:prstGeom prst="rect">
            <a:avLst/>
          </a:prstGeom>
          <a:noFill/>
          <a:ln/>
        </p:spPr>
        <p:txBody>
          <a:bodyPr wrap="square" lIns="102108" tIns="51054" rIns="102108" bIns="51054" rtlCol="0" anchor="t">
            <a:spAutoFit/>
          </a:bodyPr>
          <a:lstStyle/>
          <a:p>
            <a:pPr marL="0" indent="0" algn="l">
              <a:lnSpc>
                <a:spcPts val="800"/>
              </a:lnSpc>
              <a:buNone/>
            </a:pPr>
            <a:r>
              <a:rPr lang="en-US" sz="584" b="1" dirty="0">
                <a:solidFill>
                  <a:srgbClr val="D32F2F"/>
                </a:solidFill>
              </a:rPr>
              <a:t>Critical</a:t>
            </a:r>
            <a:endParaRPr lang="en-US" sz="584" dirty="0"/>
          </a:p>
        </p:txBody>
      </p:sp>
      <p:sp>
        <p:nvSpPr>
          <p:cNvPr id="24" name="Shape 20"/>
          <p:cNvSpPr/>
          <p:nvPr/>
        </p:nvSpPr>
        <p:spPr>
          <a:xfrm>
            <a:off x="428625" y="3131865"/>
            <a:ext cx="8286750" cy="775097"/>
          </a:xfrm>
          <a:prstGeom prst="rect">
            <a:avLst/>
          </a:prstGeom>
          <a:solidFill>
            <a:srgbClr val="F57C00">
              <a:alpha val="3000"/>
            </a:srgbClr>
          </a:solidFill>
          <a:ln/>
        </p:spPr>
        <p:txBody>
          <a:bodyPr/>
          <a:lstStyle/>
          <a:p>
            <a:endParaRPr lang="en-US"/>
          </a:p>
        </p:txBody>
      </p:sp>
      <p:sp>
        <p:nvSpPr>
          <p:cNvPr id="25" name="Shape 21"/>
          <p:cNvSpPr/>
          <p:nvPr/>
        </p:nvSpPr>
        <p:spPr>
          <a:xfrm>
            <a:off x="428625" y="3131865"/>
            <a:ext cx="35719" cy="775097"/>
          </a:xfrm>
          <a:prstGeom prst="rect">
            <a:avLst/>
          </a:prstGeom>
          <a:solidFill>
            <a:srgbClr val="F57C00"/>
          </a:solidFill>
          <a:ln/>
        </p:spPr>
        <p:txBody>
          <a:bodyPr/>
          <a:lstStyle/>
          <a:p>
            <a:endParaRPr lang="en-US"/>
          </a:p>
        </p:txBody>
      </p:sp>
      <p:sp>
        <p:nvSpPr>
          <p:cNvPr id="26" name="Shape 22"/>
          <p:cNvSpPr/>
          <p:nvPr/>
        </p:nvSpPr>
        <p:spPr>
          <a:xfrm>
            <a:off x="571500" y="3260452"/>
            <a:ext cx="321469" cy="321469"/>
          </a:xfrm>
          <a:prstGeom prst="rect">
            <a:avLst/>
          </a:prstGeom>
          <a:solidFill>
            <a:srgbClr val="F57C00"/>
          </a:solidFill>
          <a:ln/>
        </p:spPr>
        <p:txBody>
          <a:bodyPr/>
          <a:lstStyle/>
          <a:p>
            <a:endParaRPr lang="en-US"/>
          </a:p>
        </p:txBody>
      </p:sp>
      <p:sp>
        <p:nvSpPr>
          <p:cNvPr id="27" name="Text 23"/>
          <p:cNvSpPr/>
          <p:nvPr/>
        </p:nvSpPr>
        <p:spPr>
          <a:xfrm>
            <a:off x="571500" y="3260452"/>
            <a:ext cx="321469" cy="321469"/>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rPr>
              <a:t>3</a:t>
            </a:r>
            <a:endParaRPr lang="en-US" sz="987" dirty="0"/>
          </a:p>
        </p:txBody>
      </p:sp>
      <p:sp>
        <p:nvSpPr>
          <p:cNvPr id="28" name="Text 24"/>
          <p:cNvSpPr/>
          <p:nvPr/>
        </p:nvSpPr>
        <p:spPr>
          <a:xfrm>
            <a:off x="1035844" y="3260452"/>
            <a:ext cx="6984467"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237E"/>
                </a:solidFill>
              </a:rPr>
              <a:t>Resolve Blocked Test</a:t>
            </a:r>
            <a:endParaRPr lang="en-US" sz="784" dirty="0"/>
          </a:p>
        </p:txBody>
      </p:sp>
      <p:sp>
        <p:nvSpPr>
          <p:cNvPr id="29" name="Text 25"/>
          <p:cNvSpPr/>
          <p:nvPr/>
        </p:nvSpPr>
        <p:spPr>
          <a:xfrm>
            <a:off x="1035844" y="3458691"/>
            <a:ext cx="6984467"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37474F"/>
                </a:solidFill>
              </a:rPr>
              <a:t>Investigate and resolve the dependency issue blocking the 'Language Switch' test (TC_SYS_06) to ensure full system coverage.</a:t>
            </a:r>
            <a:endParaRPr lang="en-US" sz="727" dirty="0"/>
          </a:p>
        </p:txBody>
      </p:sp>
      <p:sp>
        <p:nvSpPr>
          <p:cNvPr id="30" name="Text 26"/>
          <p:cNvSpPr/>
          <p:nvPr/>
        </p:nvSpPr>
        <p:spPr>
          <a:xfrm>
            <a:off x="1035844" y="3651572"/>
            <a:ext cx="6984467"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90A4AE"/>
                </a:solidFill>
              </a:rPr>
              <a:t>Impact: Enables complete assessment of system-level functionality</a:t>
            </a:r>
            <a:endParaRPr lang="en-US" sz="674" dirty="0"/>
          </a:p>
        </p:txBody>
      </p:sp>
      <p:sp>
        <p:nvSpPr>
          <p:cNvPr id="31" name="Shape 27"/>
          <p:cNvSpPr/>
          <p:nvPr/>
        </p:nvSpPr>
        <p:spPr>
          <a:xfrm>
            <a:off x="8163185" y="3260452"/>
            <a:ext cx="409315" cy="517922"/>
          </a:xfrm>
          <a:prstGeom prst="rect">
            <a:avLst/>
          </a:prstGeom>
          <a:solidFill>
            <a:srgbClr val="F57C00">
              <a:alpha val="15000"/>
            </a:srgbClr>
          </a:solidFill>
          <a:ln/>
        </p:spPr>
        <p:txBody>
          <a:bodyPr/>
          <a:lstStyle/>
          <a:p>
            <a:endParaRPr lang="en-US"/>
          </a:p>
        </p:txBody>
      </p:sp>
      <p:sp>
        <p:nvSpPr>
          <p:cNvPr id="32" name="Text 28"/>
          <p:cNvSpPr/>
          <p:nvPr/>
        </p:nvSpPr>
        <p:spPr>
          <a:xfrm>
            <a:off x="8163185" y="3260452"/>
            <a:ext cx="409315" cy="517922"/>
          </a:xfrm>
          <a:prstGeom prst="rect">
            <a:avLst/>
          </a:prstGeom>
          <a:noFill/>
          <a:ln/>
        </p:spPr>
        <p:txBody>
          <a:bodyPr wrap="square" lIns="102108" tIns="51054" rIns="102108" bIns="51054" rtlCol="0" anchor="t">
            <a:spAutoFit/>
          </a:bodyPr>
          <a:lstStyle/>
          <a:p>
            <a:pPr marL="0" indent="0" algn="l">
              <a:lnSpc>
                <a:spcPts val="800"/>
              </a:lnSpc>
              <a:buNone/>
            </a:pPr>
            <a:r>
              <a:rPr lang="en-US" sz="584" b="1" dirty="0">
                <a:solidFill>
                  <a:srgbClr val="F57C00"/>
                </a:solidFill>
              </a:rPr>
              <a:t>High</a:t>
            </a:r>
            <a:endParaRPr lang="en-US" sz="584" dirty="0"/>
          </a:p>
        </p:txBody>
      </p:sp>
      <p:sp>
        <p:nvSpPr>
          <p:cNvPr id="33" name="Shape 29"/>
          <p:cNvSpPr/>
          <p:nvPr/>
        </p:nvSpPr>
        <p:spPr>
          <a:xfrm>
            <a:off x="428625" y="4114577"/>
            <a:ext cx="8286750" cy="775097"/>
          </a:xfrm>
          <a:prstGeom prst="rect">
            <a:avLst/>
          </a:prstGeom>
          <a:solidFill>
            <a:srgbClr val="388E3C">
              <a:alpha val="3000"/>
            </a:srgbClr>
          </a:solidFill>
          <a:ln/>
        </p:spPr>
        <p:txBody>
          <a:bodyPr/>
          <a:lstStyle/>
          <a:p>
            <a:endParaRPr lang="en-US"/>
          </a:p>
        </p:txBody>
      </p:sp>
      <p:sp>
        <p:nvSpPr>
          <p:cNvPr id="34" name="Shape 30"/>
          <p:cNvSpPr/>
          <p:nvPr/>
        </p:nvSpPr>
        <p:spPr>
          <a:xfrm>
            <a:off x="428625" y="4114577"/>
            <a:ext cx="35719" cy="775097"/>
          </a:xfrm>
          <a:prstGeom prst="rect">
            <a:avLst/>
          </a:prstGeom>
          <a:solidFill>
            <a:srgbClr val="388E3C"/>
          </a:solidFill>
          <a:ln/>
        </p:spPr>
        <p:txBody>
          <a:bodyPr/>
          <a:lstStyle/>
          <a:p>
            <a:endParaRPr lang="en-US"/>
          </a:p>
        </p:txBody>
      </p:sp>
      <p:sp>
        <p:nvSpPr>
          <p:cNvPr id="35" name="Shape 31"/>
          <p:cNvSpPr/>
          <p:nvPr/>
        </p:nvSpPr>
        <p:spPr>
          <a:xfrm>
            <a:off x="571500" y="4243164"/>
            <a:ext cx="321469" cy="321469"/>
          </a:xfrm>
          <a:prstGeom prst="rect">
            <a:avLst/>
          </a:prstGeom>
          <a:solidFill>
            <a:srgbClr val="388E3C"/>
          </a:solidFill>
          <a:ln/>
        </p:spPr>
        <p:txBody>
          <a:bodyPr/>
          <a:lstStyle/>
          <a:p>
            <a:endParaRPr lang="en-US"/>
          </a:p>
        </p:txBody>
      </p:sp>
      <p:sp>
        <p:nvSpPr>
          <p:cNvPr id="36" name="Text 32"/>
          <p:cNvSpPr/>
          <p:nvPr/>
        </p:nvSpPr>
        <p:spPr>
          <a:xfrm>
            <a:off x="571500" y="4243164"/>
            <a:ext cx="321469" cy="321469"/>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rPr>
              <a:t>4</a:t>
            </a:r>
            <a:endParaRPr lang="en-US" sz="987" dirty="0"/>
          </a:p>
        </p:txBody>
      </p:sp>
      <p:sp>
        <p:nvSpPr>
          <p:cNvPr id="37" name="Text 33"/>
          <p:cNvSpPr/>
          <p:nvPr/>
        </p:nvSpPr>
        <p:spPr>
          <a:xfrm>
            <a:off x="1035844" y="4243164"/>
            <a:ext cx="6834922"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1A237E"/>
                </a:solidFill>
              </a:rPr>
              <a:t>Continuous Improvement</a:t>
            </a:r>
            <a:endParaRPr lang="en-US" sz="784" dirty="0"/>
          </a:p>
        </p:txBody>
      </p:sp>
      <p:sp>
        <p:nvSpPr>
          <p:cNvPr id="38" name="Text 34"/>
          <p:cNvSpPr/>
          <p:nvPr/>
        </p:nvSpPr>
        <p:spPr>
          <a:xfrm>
            <a:off x="1035844" y="4441403"/>
            <a:ext cx="6834922"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37474F"/>
                </a:solidFill>
              </a:rPr>
              <a:t>Integrate test execution status into the CI/CD pipeline to prevent regressions and catch defects earlier in the development cycle.</a:t>
            </a:r>
            <a:endParaRPr lang="en-US" sz="727" dirty="0"/>
          </a:p>
        </p:txBody>
      </p:sp>
      <p:sp>
        <p:nvSpPr>
          <p:cNvPr id="39" name="Text 35"/>
          <p:cNvSpPr/>
          <p:nvPr/>
        </p:nvSpPr>
        <p:spPr>
          <a:xfrm>
            <a:off x="1035844" y="4634285"/>
            <a:ext cx="6834922"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90A4AE"/>
                </a:solidFill>
              </a:rPr>
              <a:t>Benefit: Shift-left testing approach for faster feedback</a:t>
            </a:r>
            <a:endParaRPr lang="en-US" sz="674" dirty="0"/>
          </a:p>
        </p:txBody>
      </p:sp>
      <p:sp>
        <p:nvSpPr>
          <p:cNvPr id="40" name="Shape 36"/>
          <p:cNvSpPr/>
          <p:nvPr/>
        </p:nvSpPr>
        <p:spPr>
          <a:xfrm>
            <a:off x="8013641" y="4243164"/>
            <a:ext cx="558859" cy="517922"/>
          </a:xfrm>
          <a:prstGeom prst="rect">
            <a:avLst/>
          </a:prstGeom>
          <a:solidFill>
            <a:srgbClr val="388E3C">
              <a:alpha val="15000"/>
            </a:srgbClr>
          </a:solidFill>
          <a:ln/>
        </p:spPr>
        <p:txBody>
          <a:bodyPr/>
          <a:lstStyle/>
          <a:p>
            <a:endParaRPr lang="en-US"/>
          </a:p>
        </p:txBody>
      </p:sp>
      <p:sp>
        <p:nvSpPr>
          <p:cNvPr id="41" name="Text 37"/>
          <p:cNvSpPr/>
          <p:nvPr/>
        </p:nvSpPr>
        <p:spPr>
          <a:xfrm>
            <a:off x="8013641" y="4243164"/>
            <a:ext cx="558859" cy="517922"/>
          </a:xfrm>
          <a:prstGeom prst="rect">
            <a:avLst/>
          </a:prstGeom>
          <a:noFill/>
          <a:ln/>
        </p:spPr>
        <p:txBody>
          <a:bodyPr wrap="square" lIns="102108" tIns="51054" rIns="102108" bIns="51054" rtlCol="0" anchor="t">
            <a:spAutoFit/>
          </a:bodyPr>
          <a:lstStyle/>
          <a:p>
            <a:pPr marL="0" indent="0" algn="l">
              <a:lnSpc>
                <a:spcPts val="800"/>
              </a:lnSpc>
              <a:buNone/>
            </a:pPr>
            <a:r>
              <a:rPr lang="en-US" sz="584" b="1" dirty="0">
                <a:solidFill>
                  <a:srgbClr val="388E3C"/>
                </a:solidFill>
              </a:rPr>
              <a:t>Medium</a:t>
            </a:r>
            <a:endParaRPr lang="en-US" sz="58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62595"/>
          </a:xfrm>
          <a:prstGeom prst="rect">
            <a:avLst/>
          </a:prstGeom>
          <a:solidFill>
            <a:srgbClr val="283593"/>
          </a:solidFill>
          <a:ln/>
        </p:spPr>
        <p:txBody>
          <a:bodyPr/>
          <a:lstStyle/>
          <a:p>
            <a:endParaRPr lang="en-US"/>
          </a:p>
        </p:txBody>
      </p:sp>
      <p:sp>
        <p:nvSpPr>
          <p:cNvPr id="5" name="Text 1"/>
          <p:cNvSpPr/>
          <p:nvPr/>
        </p:nvSpPr>
        <p:spPr>
          <a:xfrm>
            <a:off x="428625" y="214313"/>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Summary and Q&amp;A</a:t>
            </a:r>
            <a:endParaRPr lang="en-US" sz="1602" dirty="0"/>
          </a:p>
        </p:txBody>
      </p:sp>
      <p:sp>
        <p:nvSpPr>
          <p:cNvPr id="6" name="Shape 2"/>
          <p:cNvSpPr/>
          <p:nvPr/>
        </p:nvSpPr>
        <p:spPr>
          <a:xfrm>
            <a:off x="428625" y="1048345"/>
            <a:ext cx="8286750" cy="1061517"/>
          </a:xfrm>
          <a:prstGeom prst="rect">
            <a:avLst/>
          </a:prstGeom>
          <a:solidFill>
            <a:srgbClr val="388E3C">
              <a:alpha val="8000"/>
            </a:srgbClr>
          </a:solidFill>
          <a:ln/>
        </p:spPr>
        <p:txBody>
          <a:bodyPr/>
          <a:lstStyle/>
          <a:p>
            <a:endParaRPr lang="en-US"/>
          </a:p>
        </p:txBody>
      </p:sp>
      <p:sp>
        <p:nvSpPr>
          <p:cNvPr id="7" name="Shape 3"/>
          <p:cNvSpPr/>
          <p:nvPr/>
        </p:nvSpPr>
        <p:spPr>
          <a:xfrm>
            <a:off x="428625" y="1048345"/>
            <a:ext cx="35719" cy="1061517"/>
          </a:xfrm>
          <a:prstGeom prst="rect">
            <a:avLst/>
          </a:prstGeom>
          <a:solidFill>
            <a:srgbClr val="D32F2F"/>
          </a:solidFill>
          <a:ln/>
        </p:spPr>
        <p:txBody>
          <a:bodyPr/>
          <a:lstStyle/>
          <a:p>
            <a:endParaRPr lang="en-US"/>
          </a:p>
        </p:txBody>
      </p:sp>
      <p:sp>
        <p:nvSpPr>
          <p:cNvPr id="8" name="Text 4"/>
          <p:cNvSpPr/>
          <p:nvPr/>
        </p:nvSpPr>
        <p:spPr>
          <a:xfrm>
            <a:off x="642938" y="1262658"/>
            <a:ext cx="785812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237E"/>
                </a:solidFill>
              </a:rPr>
              <a:t>Key Takeaway</a:t>
            </a:r>
            <a:endParaRPr lang="en-US" sz="683" dirty="0"/>
          </a:p>
        </p:txBody>
      </p:sp>
      <p:sp>
        <p:nvSpPr>
          <p:cNvPr id="9" name="Text 5"/>
          <p:cNvSpPr/>
          <p:nvPr/>
        </p:nvSpPr>
        <p:spPr>
          <a:xfrm>
            <a:off x="642938" y="1484114"/>
            <a:ext cx="7858125" cy="411435"/>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37474F"/>
                </a:solidFill>
              </a:rPr>
              <a:t>The system shows good stability in the Loan module, but the </a:t>
            </a:r>
            <a:r>
              <a:rPr lang="en-US" sz="885" b="1" dirty="0">
                <a:solidFill>
                  <a:srgbClr val="D32F2F"/>
                </a:solidFill>
              </a:rPr>
              <a:t>Profile module has critical security and validation defects</a:t>
            </a:r>
            <a:r>
              <a:rPr lang="en-US" sz="885" b="1" dirty="0">
                <a:solidFill>
                  <a:srgbClr val="37474F"/>
                </a:solidFill>
              </a:rPr>
              <a:t> that require immediate attention before the next release.</a:t>
            </a:r>
            <a:endParaRPr lang="en-US" sz="885" dirty="0"/>
          </a:p>
        </p:txBody>
      </p:sp>
      <p:sp>
        <p:nvSpPr>
          <p:cNvPr id="10" name="Shape 6"/>
          <p:cNvSpPr/>
          <p:nvPr/>
        </p:nvSpPr>
        <p:spPr>
          <a:xfrm>
            <a:off x="428625" y="2567285"/>
            <a:ext cx="8286750" cy="1061517"/>
          </a:xfrm>
          <a:prstGeom prst="rect">
            <a:avLst/>
          </a:prstGeom>
          <a:solidFill>
            <a:srgbClr val="1A237E">
              <a:alpha val="8000"/>
            </a:srgbClr>
          </a:solidFill>
          <a:ln/>
        </p:spPr>
        <p:txBody>
          <a:bodyPr/>
          <a:lstStyle/>
          <a:p>
            <a:endParaRPr lang="en-US"/>
          </a:p>
        </p:txBody>
      </p:sp>
      <p:sp>
        <p:nvSpPr>
          <p:cNvPr id="11" name="Shape 7"/>
          <p:cNvSpPr/>
          <p:nvPr/>
        </p:nvSpPr>
        <p:spPr>
          <a:xfrm>
            <a:off x="428625" y="2567285"/>
            <a:ext cx="35719" cy="1061517"/>
          </a:xfrm>
          <a:prstGeom prst="rect">
            <a:avLst/>
          </a:prstGeom>
          <a:solidFill>
            <a:srgbClr val="388E3C"/>
          </a:solidFill>
          <a:ln/>
        </p:spPr>
        <p:txBody>
          <a:bodyPr/>
          <a:lstStyle/>
          <a:p>
            <a:endParaRPr lang="en-US"/>
          </a:p>
        </p:txBody>
      </p:sp>
      <p:sp>
        <p:nvSpPr>
          <p:cNvPr id="12" name="Text 8"/>
          <p:cNvSpPr/>
          <p:nvPr/>
        </p:nvSpPr>
        <p:spPr>
          <a:xfrm>
            <a:off x="642938" y="2781598"/>
            <a:ext cx="785812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237E"/>
                </a:solidFill>
              </a:rPr>
              <a:t>Next Action</a:t>
            </a:r>
            <a:endParaRPr lang="en-US" sz="683" dirty="0"/>
          </a:p>
        </p:txBody>
      </p:sp>
      <p:sp>
        <p:nvSpPr>
          <p:cNvPr id="13" name="Text 9"/>
          <p:cNvSpPr/>
          <p:nvPr/>
        </p:nvSpPr>
        <p:spPr>
          <a:xfrm>
            <a:off x="642938" y="3003054"/>
            <a:ext cx="7858125" cy="411435"/>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37474F"/>
                </a:solidFill>
              </a:rPr>
              <a:t>Development team to </a:t>
            </a:r>
            <a:r>
              <a:rPr lang="en-US" sz="885" b="1" dirty="0">
                <a:solidFill>
                  <a:srgbClr val="388E3C"/>
                </a:solidFill>
              </a:rPr>
              <a:t>confirm hotfix plan for Critical bugs by end of day</a:t>
            </a:r>
            <a:r>
              <a:rPr lang="en-US" sz="885" b="1" dirty="0">
                <a:solidFill>
                  <a:srgbClr val="37474F"/>
                </a:solidFill>
              </a:rPr>
              <a:t>. All four Critical severity defects must be prioritized for immediate remediation and re-testing.</a:t>
            </a:r>
            <a:endParaRPr lang="en-US" sz="885" dirty="0"/>
          </a:p>
        </p:txBody>
      </p:sp>
      <p:sp>
        <p:nvSpPr>
          <p:cNvPr id="14" name="Shape 10"/>
          <p:cNvSpPr/>
          <p:nvPr/>
        </p:nvSpPr>
        <p:spPr>
          <a:xfrm>
            <a:off x="428625" y="4086225"/>
            <a:ext cx="8286750" cy="771525"/>
          </a:xfrm>
          <a:prstGeom prst="rect">
            <a:avLst/>
          </a:prstGeom>
          <a:solidFill>
            <a:srgbClr val="FFFFFF"/>
          </a:solidFill>
          <a:ln/>
        </p:spPr>
        <p:txBody>
          <a:bodyPr/>
          <a:lstStyle/>
          <a:p>
            <a:endParaRPr lang="en-US"/>
          </a:p>
        </p:txBody>
      </p:sp>
      <p:sp>
        <p:nvSpPr>
          <p:cNvPr id="15" name="Shape 11"/>
          <p:cNvSpPr/>
          <p:nvPr/>
        </p:nvSpPr>
        <p:spPr>
          <a:xfrm>
            <a:off x="428625" y="4086225"/>
            <a:ext cx="8286750" cy="14288"/>
          </a:xfrm>
          <a:prstGeom prst="rect">
            <a:avLst/>
          </a:prstGeom>
          <a:solidFill>
            <a:srgbClr val="E0E0E0"/>
          </a:solidFill>
          <a:ln/>
        </p:spPr>
        <p:txBody>
          <a:bodyPr/>
          <a:lstStyle/>
          <a:p>
            <a:endParaRPr lang="en-US"/>
          </a:p>
        </p:txBody>
      </p:sp>
      <p:sp>
        <p:nvSpPr>
          <p:cNvPr id="16" name="Text 12"/>
          <p:cNvSpPr/>
          <p:nvPr/>
        </p:nvSpPr>
        <p:spPr>
          <a:xfrm>
            <a:off x="642938" y="4314825"/>
            <a:ext cx="392906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90A4AE"/>
                </a:solidFill>
              </a:rPr>
              <a:t>Questions?</a:t>
            </a:r>
            <a:endParaRPr lang="en-US" sz="584" dirty="0"/>
          </a:p>
        </p:txBody>
      </p:sp>
      <p:sp>
        <p:nvSpPr>
          <p:cNvPr id="17" name="Text 13"/>
          <p:cNvSpPr/>
          <p:nvPr/>
        </p:nvSpPr>
        <p:spPr>
          <a:xfrm>
            <a:off x="642938" y="4488061"/>
            <a:ext cx="3929063"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7474F"/>
                </a:solidFill>
              </a:rPr>
              <a:t>QA Team</a:t>
            </a:r>
            <a:endParaRPr lang="en-US" sz="7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57C00">
            <a:alpha val="8000"/>
          </a:srgbClr>
        </a:solidFill>
        <a:ln/>
      </a:spPr>
      <a:bodyP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1769</Words>
  <Application>Microsoft Office PowerPoint</Application>
  <PresentationFormat>On-screen Show (16:9)</PresentationFormat>
  <Paragraphs>150</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WAGEH MOHAMED</cp:lastModifiedBy>
  <cp:revision>2</cp:revision>
  <dcterms:created xsi:type="dcterms:W3CDTF">2025-11-27T19:56:26Z</dcterms:created>
  <dcterms:modified xsi:type="dcterms:W3CDTF">2025-11-27T20:39:02Z</dcterms:modified>
</cp:coreProperties>
</file>